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5"/>
  </p:handoutMasterIdLst>
  <p:sldIdLst>
    <p:sldId id="256" r:id="rId2"/>
    <p:sldId id="257" r:id="rId3"/>
    <p:sldId id="258" r:id="rId4"/>
    <p:sldId id="259" r:id="rId5"/>
    <p:sldId id="260" r:id="rId6"/>
    <p:sldId id="261" r:id="rId7"/>
    <p:sldId id="262" r:id="rId8"/>
    <p:sldId id="263" r:id="rId9"/>
    <p:sldId id="264" r:id="rId10"/>
    <p:sldId id="265" r:id="rId11"/>
    <p:sldId id="280" r:id="rId12"/>
    <p:sldId id="282" r:id="rId13"/>
    <p:sldId id="281"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BEB494-CD5B-7539-FDDF-989683853956}" v="2" dt="2024-12-02T06:38:23.0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69" autoAdjust="0"/>
    <p:restoredTop sz="94660"/>
  </p:normalViewPr>
  <p:slideViewPr>
    <p:cSldViewPr>
      <p:cViewPr varScale="1">
        <p:scale>
          <a:sx n="60" d="100"/>
          <a:sy n="60" d="100"/>
        </p:scale>
        <p:origin x="816" y="44"/>
      </p:cViewPr>
      <p:guideLst>
        <p:guide orient="horz" pos="2160"/>
        <p:guide pos="3840"/>
      </p:guideLst>
    </p:cSldViewPr>
  </p:slideViewPr>
  <p:notesTextViewPr>
    <p:cViewPr>
      <p:scale>
        <a:sx n="100" d="100"/>
        <a:sy n="100" d="100"/>
      </p:scale>
      <p:origin x="0" y="0"/>
    </p:cViewPr>
  </p:notesTextViewPr>
  <p:notesViewPr>
    <p:cSldViewPr>
      <p:cViewPr varScale="1">
        <p:scale>
          <a:sx n="56" d="100"/>
          <a:sy n="56" d="100"/>
        </p:scale>
        <p:origin x="-254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Biswas" userId="S::rbiswas@aiub.edu::d3cdf257-287f-42c3-8da1-84f309a882fd" providerId="AD" clId="Web-{7CC74193-4727-E474-5719-3AE99A4A8630}"/>
    <pc:docChg chg="modSld">
      <pc:chgData name="Rahul Biswas" userId="S::rbiswas@aiub.edu::d3cdf257-287f-42c3-8da1-84f309a882fd" providerId="AD" clId="Web-{7CC74193-4727-E474-5719-3AE99A4A8630}" dt="2024-11-12T15:21:33.687" v="2" actId="20577"/>
      <pc:docMkLst>
        <pc:docMk/>
      </pc:docMkLst>
      <pc:sldChg chg="modSp">
        <pc:chgData name="Rahul Biswas" userId="S::rbiswas@aiub.edu::d3cdf257-287f-42c3-8da1-84f309a882fd" providerId="AD" clId="Web-{7CC74193-4727-E474-5719-3AE99A4A8630}" dt="2024-11-12T15:21:12.420" v="1" actId="20577"/>
        <pc:sldMkLst>
          <pc:docMk/>
          <pc:sldMk cId="0" sldId="257"/>
        </pc:sldMkLst>
        <pc:spChg chg="mod">
          <ac:chgData name="Rahul Biswas" userId="S::rbiswas@aiub.edu::d3cdf257-287f-42c3-8da1-84f309a882fd" providerId="AD" clId="Web-{7CC74193-4727-E474-5719-3AE99A4A8630}" dt="2024-11-12T15:21:12.420" v="1" actId="20577"/>
          <ac:spMkLst>
            <pc:docMk/>
            <pc:sldMk cId="0" sldId="257"/>
            <ac:spMk id="3075" creationId="{515CAD0B-9976-44C4-9901-3F144238C796}"/>
          </ac:spMkLst>
        </pc:spChg>
      </pc:sldChg>
      <pc:sldChg chg="modSp">
        <pc:chgData name="Rahul Biswas" userId="S::rbiswas@aiub.edu::d3cdf257-287f-42c3-8da1-84f309a882fd" providerId="AD" clId="Web-{7CC74193-4727-E474-5719-3AE99A4A8630}" dt="2024-11-12T15:21:33.687" v="2" actId="20577"/>
        <pc:sldMkLst>
          <pc:docMk/>
          <pc:sldMk cId="0" sldId="259"/>
        </pc:sldMkLst>
        <pc:spChg chg="mod">
          <ac:chgData name="Rahul Biswas" userId="S::rbiswas@aiub.edu::d3cdf257-287f-42c3-8da1-84f309a882fd" providerId="AD" clId="Web-{7CC74193-4727-E474-5719-3AE99A4A8630}" dt="2024-11-12T15:21:33.687" v="2" actId="20577"/>
          <ac:spMkLst>
            <pc:docMk/>
            <pc:sldMk cId="0" sldId="259"/>
            <ac:spMk id="3" creationId="{09CF636C-3EF1-47F6-BF9F-BB2753066E47}"/>
          </ac:spMkLst>
        </pc:spChg>
      </pc:sldChg>
    </pc:docChg>
  </pc:docChgLst>
  <pc:docChgLst>
    <pc:chgData name="Tamanna Zaman Bristy" userId="S::tamannabristy@aiub.edu::583dae94-d916-4b3c-934c-eeba7bbeab32" providerId="AD" clId="Web-{80BEB494-CD5B-7539-FDDF-989683853956}"/>
    <pc:docChg chg="modSld">
      <pc:chgData name="Tamanna Zaman Bristy" userId="S::tamannabristy@aiub.edu::583dae94-d916-4b3c-934c-eeba7bbeab32" providerId="AD" clId="Web-{80BEB494-CD5B-7539-FDDF-989683853956}" dt="2024-12-02T06:38:23.091" v="1" actId="1076"/>
      <pc:docMkLst>
        <pc:docMk/>
      </pc:docMkLst>
      <pc:sldChg chg="modSp">
        <pc:chgData name="Tamanna Zaman Bristy" userId="S::tamannabristy@aiub.edu::583dae94-d916-4b3c-934c-eeba7bbeab32" providerId="AD" clId="Web-{80BEB494-CD5B-7539-FDDF-989683853956}" dt="2024-12-02T06:38:23.091" v="1" actId="1076"/>
        <pc:sldMkLst>
          <pc:docMk/>
          <pc:sldMk cId="0" sldId="280"/>
        </pc:sldMkLst>
        <pc:graphicFrameChg chg="mod">
          <ac:chgData name="Tamanna Zaman Bristy" userId="S::tamannabristy@aiub.edu::583dae94-d916-4b3c-934c-eeba7bbeab32" providerId="AD" clId="Web-{80BEB494-CD5B-7539-FDDF-989683853956}" dt="2024-12-02T06:38:23.091" v="1" actId="1076"/>
          <ac:graphicFrameMkLst>
            <pc:docMk/>
            <pc:sldMk cId="0" sldId="280"/>
            <ac:graphicFrameMk id="7" creationId="{D866F379-9CFB-463E-9BFE-DFA0B95EACA5}"/>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D2332A-1D6B-4109-AABF-EAFA9A8CC3C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2C2D8FF3-3893-43EB-83D0-008D170C1B8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6B9AE0E5-DA7B-445F-B670-7E1A5299EE8C}" type="datetimeFigureOut">
              <a:rPr lang="en-US"/>
              <a:pPr>
                <a:defRPr/>
              </a:pPr>
              <a:t>3/11/2025</a:t>
            </a:fld>
            <a:endParaRPr lang="en-US"/>
          </a:p>
        </p:txBody>
      </p:sp>
      <p:sp>
        <p:nvSpPr>
          <p:cNvPr id="4" name="Footer Placeholder 3">
            <a:extLst>
              <a:ext uri="{FF2B5EF4-FFF2-40B4-BE49-F238E27FC236}">
                <a16:creationId xmlns:a16="http://schemas.microsoft.com/office/drawing/2014/main" id="{CEDEAEAE-ACC2-4354-96FD-90EA9EC35FFA}"/>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DBD64A4F-82CE-4AE9-B845-3B15F470AB24}"/>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791C379D-B520-4767-92F3-9EE0083EE122}"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048F523-D967-4FD2-B73E-053EA15C675D}"/>
              </a:ext>
            </a:extLst>
          </p:cNvPr>
          <p:cNvSpPr>
            <a:spLocks noGrp="1"/>
          </p:cNvSpPr>
          <p:nvPr>
            <p:ph type="dt" sz="half" idx="10"/>
          </p:nvPr>
        </p:nvSpPr>
        <p:spPr/>
        <p:txBody>
          <a:bodyPr/>
          <a:lstStyle>
            <a:lvl1pPr>
              <a:defRPr/>
            </a:lvl1pPr>
          </a:lstStyle>
          <a:p>
            <a:pPr>
              <a:defRPr/>
            </a:pPr>
            <a:fld id="{417D6DA1-6AD1-468F-BA62-195F0B605592}" type="datetimeFigureOut">
              <a:rPr lang="en-US"/>
              <a:pPr>
                <a:defRPr/>
              </a:pPr>
              <a:t>3/11/2025</a:t>
            </a:fld>
            <a:endParaRPr lang="en-US"/>
          </a:p>
        </p:txBody>
      </p:sp>
      <p:sp>
        <p:nvSpPr>
          <p:cNvPr id="5" name="Footer Placeholder 4">
            <a:extLst>
              <a:ext uri="{FF2B5EF4-FFF2-40B4-BE49-F238E27FC236}">
                <a16:creationId xmlns:a16="http://schemas.microsoft.com/office/drawing/2014/main" id="{75D1859A-4007-48E1-B283-1F79F0B8172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15404F3-827F-4FAA-ADD9-CCE21520822A}"/>
              </a:ext>
            </a:extLst>
          </p:cNvPr>
          <p:cNvSpPr>
            <a:spLocks noGrp="1"/>
          </p:cNvSpPr>
          <p:nvPr>
            <p:ph type="sldNum" sz="quarter" idx="12"/>
          </p:nvPr>
        </p:nvSpPr>
        <p:spPr/>
        <p:txBody>
          <a:bodyPr/>
          <a:lstStyle>
            <a:lvl1pPr>
              <a:defRPr/>
            </a:lvl1pPr>
          </a:lstStyle>
          <a:p>
            <a:pPr>
              <a:defRPr/>
            </a:pPr>
            <a:fld id="{95B04252-F68D-4FE2-9399-526B3408103A}" type="slidenum">
              <a:rPr lang="en-US"/>
              <a:pPr>
                <a:defRPr/>
              </a:pPr>
              <a:t>‹#›</a:t>
            </a:fld>
            <a:endParaRPr lang="en-US"/>
          </a:p>
        </p:txBody>
      </p:sp>
    </p:spTree>
    <p:extLst>
      <p:ext uri="{BB962C8B-B14F-4D97-AF65-F5344CB8AC3E}">
        <p14:creationId xmlns:p14="http://schemas.microsoft.com/office/powerpoint/2010/main" val="1034887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57AB6E-8862-4BFE-8BD5-744EF6D3D274}"/>
              </a:ext>
            </a:extLst>
          </p:cNvPr>
          <p:cNvSpPr>
            <a:spLocks noGrp="1"/>
          </p:cNvSpPr>
          <p:nvPr>
            <p:ph type="dt" sz="half" idx="10"/>
          </p:nvPr>
        </p:nvSpPr>
        <p:spPr/>
        <p:txBody>
          <a:bodyPr/>
          <a:lstStyle>
            <a:lvl1pPr>
              <a:defRPr/>
            </a:lvl1pPr>
          </a:lstStyle>
          <a:p>
            <a:pPr>
              <a:defRPr/>
            </a:pPr>
            <a:fld id="{A11C718E-BEF9-4649-A842-0575661A4324}" type="datetimeFigureOut">
              <a:rPr lang="en-US"/>
              <a:pPr>
                <a:defRPr/>
              </a:pPr>
              <a:t>3/11/2025</a:t>
            </a:fld>
            <a:endParaRPr lang="en-US"/>
          </a:p>
        </p:txBody>
      </p:sp>
      <p:sp>
        <p:nvSpPr>
          <p:cNvPr id="5" name="Footer Placeholder 4">
            <a:extLst>
              <a:ext uri="{FF2B5EF4-FFF2-40B4-BE49-F238E27FC236}">
                <a16:creationId xmlns:a16="http://schemas.microsoft.com/office/drawing/2014/main" id="{A957413C-35C0-4EDC-92EB-3835F9441C4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74BAD1F-36B6-44A2-8150-E2DB66812F0F}"/>
              </a:ext>
            </a:extLst>
          </p:cNvPr>
          <p:cNvSpPr>
            <a:spLocks noGrp="1"/>
          </p:cNvSpPr>
          <p:nvPr>
            <p:ph type="sldNum" sz="quarter" idx="12"/>
          </p:nvPr>
        </p:nvSpPr>
        <p:spPr/>
        <p:txBody>
          <a:bodyPr/>
          <a:lstStyle>
            <a:lvl1pPr>
              <a:defRPr/>
            </a:lvl1pPr>
          </a:lstStyle>
          <a:p>
            <a:pPr>
              <a:defRPr/>
            </a:pPr>
            <a:fld id="{D74A34EA-B078-483C-BBE4-C89161982B72}" type="slidenum">
              <a:rPr lang="en-US"/>
              <a:pPr>
                <a:defRPr/>
              </a:pPr>
              <a:t>‹#›</a:t>
            </a:fld>
            <a:endParaRPr lang="en-US"/>
          </a:p>
        </p:txBody>
      </p:sp>
    </p:spTree>
    <p:extLst>
      <p:ext uri="{BB962C8B-B14F-4D97-AF65-F5344CB8AC3E}">
        <p14:creationId xmlns:p14="http://schemas.microsoft.com/office/powerpoint/2010/main" val="1350042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5FB917-F74C-4DBE-98BB-5704E40278AA}"/>
              </a:ext>
            </a:extLst>
          </p:cNvPr>
          <p:cNvSpPr>
            <a:spLocks noGrp="1"/>
          </p:cNvSpPr>
          <p:nvPr>
            <p:ph type="dt" sz="half" idx="10"/>
          </p:nvPr>
        </p:nvSpPr>
        <p:spPr/>
        <p:txBody>
          <a:bodyPr/>
          <a:lstStyle>
            <a:lvl1pPr>
              <a:defRPr/>
            </a:lvl1pPr>
          </a:lstStyle>
          <a:p>
            <a:pPr>
              <a:defRPr/>
            </a:pPr>
            <a:fld id="{F93A76FB-2B84-4525-BBC0-F745C882101E}" type="datetimeFigureOut">
              <a:rPr lang="en-US"/>
              <a:pPr>
                <a:defRPr/>
              </a:pPr>
              <a:t>3/11/2025</a:t>
            </a:fld>
            <a:endParaRPr lang="en-US"/>
          </a:p>
        </p:txBody>
      </p:sp>
      <p:sp>
        <p:nvSpPr>
          <p:cNvPr id="5" name="Footer Placeholder 4">
            <a:extLst>
              <a:ext uri="{FF2B5EF4-FFF2-40B4-BE49-F238E27FC236}">
                <a16:creationId xmlns:a16="http://schemas.microsoft.com/office/drawing/2014/main" id="{EC0F44DF-2C99-46B6-BD6D-AFE653EEC35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6C1DE65-3B52-403A-B3B6-C7562C213699}"/>
              </a:ext>
            </a:extLst>
          </p:cNvPr>
          <p:cNvSpPr>
            <a:spLocks noGrp="1"/>
          </p:cNvSpPr>
          <p:nvPr>
            <p:ph type="sldNum" sz="quarter" idx="12"/>
          </p:nvPr>
        </p:nvSpPr>
        <p:spPr/>
        <p:txBody>
          <a:bodyPr/>
          <a:lstStyle>
            <a:lvl1pPr>
              <a:defRPr/>
            </a:lvl1pPr>
          </a:lstStyle>
          <a:p>
            <a:pPr>
              <a:defRPr/>
            </a:pPr>
            <a:fld id="{15D43844-19C1-40E0-8CF2-880BAFCB2FF7}" type="slidenum">
              <a:rPr lang="en-US"/>
              <a:pPr>
                <a:defRPr/>
              </a:pPr>
              <a:t>‹#›</a:t>
            </a:fld>
            <a:endParaRPr lang="en-US"/>
          </a:p>
        </p:txBody>
      </p:sp>
    </p:spTree>
    <p:extLst>
      <p:ext uri="{BB962C8B-B14F-4D97-AF65-F5344CB8AC3E}">
        <p14:creationId xmlns:p14="http://schemas.microsoft.com/office/powerpoint/2010/main" val="3693305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C26D8B3-F62B-41C1-AFD2-7B4549243758}"/>
              </a:ext>
            </a:extLst>
          </p:cNvPr>
          <p:cNvSpPr>
            <a:spLocks noGrp="1"/>
          </p:cNvSpPr>
          <p:nvPr>
            <p:ph type="dt" sz="half" idx="10"/>
          </p:nvPr>
        </p:nvSpPr>
        <p:spPr/>
        <p:txBody>
          <a:bodyPr/>
          <a:lstStyle>
            <a:lvl1pPr>
              <a:defRPr/>
            </a:lvl1pPr>
          </a:lstStyle>
          <a:p>
            <a:pPr>
              <a:defRPr/>
            </a:pPr>
            <a:fld id="{1E52CA9A-6918-4BC0-A62D-8DEFE18A66B3}" type="datetimeFigureOut">
              <a:rPr lang="en-US"/>
              <a:pPr>
                <a:defRPr/>
              </a:pPr>
              <a:t>3/11/2025</a:t>
            </a:fld>
            <a:endParaRPr lang="en-US"/>
          </a:p>
        </p:txBody>
      </p:sp>
      <p:sp>
        <p:nvSpPr>
          <p:cNvPr id="6" name="Footer Placeholder 4">
            <a:extLst>
              <a:ext uri="{FF2B5EF4-FFF2-40B4-BE49-F238E27FC236}">
                <a16:creationId xmlns:a16="http://schemas.microsoft.com/office/drawing/2014/main" id="{B77C0797-BF99-417A-AE6F-1D143BE641B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B8EC316-89A8-4A09-892F-5B95EC0F1C68}"/>
              </a:ext>
            </a:extLst>
          </p:cNvPr>
          <p:cNvSpPr>
            <a:spLocks noGrp="1"/>
          </p:cNvSpPr>
          <p:nvPr>
            <p:ph type="sldNum" sz="quarter" idx="12"/>
          </p:nvPr>
        </p:nvSpPr>
        <p:spPr/>
        <p:txBody>
          <a:bodyPr/>
          <a:lstStyle>
            <a:lvl1pPr>
              <a:defRPr/>
            </a:lvl1pPr>
          </a:lstStyle>
          <a:p>
            <a:pPr>
              <a:defRPr/>
            </a:pPr>
            <a:fld id="{A1884D27-CA9D-4E93-A227-E552847BF0BD}" type="slidenum">
              <a:rPr lang="en-US"/>
              <a:pPr>
                <a:defRPr/>
              </a:pPr>
              <a:t>‹#›</a:t>
            </a:fld>
            <a:endParaRPr lang="en-US"/>
          </a:p>
        </p:txBody>
      </p:sp>
    </p:spTree>
    <p:extLst>
      <p:ext uri="{BB962C8B-B14F-4D97-AF65-F5344CB8AC3E}">
        <p14:creationId xmlns:p14="http://schemas.microsoft.com/office/powerpoint/2010/main" val="3755980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9D2CFC8-9754-48CE-B006-1C5C0075D4EC}"/>
              </a:ext>
            </a:extLst>
          </p:cNvPr>
          <p:cNvSpPr>
            <a:spLocks noGrp="1"/>
          </p:cNvSpPr>
          <p:nvPr>
            <p:ph type="dt" sz="half" idx="10"/>
          </p:nvPr>
        </p:nvSpPr>
        <p:spPr/>
        <p:txBody>
          <a:bodyPr/>
          <a:lstStyle>
            <a:lvl1pPr>
              <a:defRPr/>
            </a:lvl1pPr>
          </a:lstStyle>
          <a:p>
            <a:pPr>
              <a:defRPr/>
            </a:pPr>
            <a:fld id="{2A6ED583-8519-453D-9427-5A518AD1F17E}" type="datetimeFigureOut">
              <a:rPr lang="en-US"/>
              <a:pPr>
                <a:defRPr/>
              </a:pPr>
              <a:t>3/11/2025</a:t>
            </a:fld>
            <a:endParaRPr lang="en-US"/>
          </a:p>
        </p:txBody>
      </p:sp>
      <p:sp>
        <p:nvSpPr>
          <p:cNvPr id="8" name="Footer Placeholder 4">
            <a:extLst>
              <a:ext uri="{FF2B5EF4-FFF2-40B4-BE49-F238E27FC236}">
                <a16:creationId xmlns:a16="http://schemas.microsoft.com/office/drawing/2014/main" id="{72E5D40F-5078-42BC-9644-5719B15792C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5A457DFC-E68A-45B3-97A0-859A56B913DC}"/>
              </a:ext>
            </a:extLst>
          </p:cNvPr>
          <p:cNvSpPr>
            <a:spLocks noGrp="1"/>
          </p:cNvSpPr>
          <p:nvPr>
            <p:ph type="sldNum" sz="quarter" idx="12"/>
          </p:nvPr>
        </p:nvSpPr>
        <p:spPr/>
        <p:txBody>
          <a:bodyPr/>
          <a:lstStyle>
            <a:lvl1pPr>
              <a:defRPr/>
            </a:lvl1pPr>
          </a:lstStyle>
          <a:p>
            <a:pPr>
              <a:defRPr/>
            </a:pPr>
            <a:fld id="{AC899844-F6BA-47E6-8B19-92F47B10F669}" type="slidenum">
              <a:rPr lang="en-US"/>
              <a:pPr>
                <a:defRPr/>
              </a:pPr>
              <a:t>‹#›</a:t>
            </a:fld>
            <a:endParaRPr lang="en-US"/>
          </a:p>
        </p:txBody>
      </p:sp>
    </p:spTree>
    <p:extLst>
      <p:ext uri="{BB962C8B-B14F-4D97-AF65-F5344CB8AC3E}">
        <p14:creationId xmlns:p14="http://schemas.microsoft.com/office/powerpoint/2010/main" val="4134653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26B05A67-D579-4A06-8C43-549F4A848D36}"/>
              </a:ext>
            </a:extLst>
          </p:cNvPr>
          <p:cNvSpPr>
            <a:spLocks noGrp="1"/>
          </p:cNvSpPr>
          <p:nvPr>
            <p:ph type="dt" sz="half" idx="10"/>
          </p:nvPr>
        </p:nvSpPr>
        <p:spPr/>
        <p:txBody>
          <a:bodyPr/>
          <a:lstStyle>
            <a:lvl1pPr>
              <a:defRPr/>
            </a:lvl1pPr>
          </a:lstStyle>
          <a:p>
            <a:pPr>
              <a:defRPr/>
            </a:pPr>
            <a:fld id="{6A8408B1-0F42-4628-82A5-77BDC392E336}" type="datetimeFigureOut">
              <a:rPr lang="en-US"/>
              <a:pPr>
                <a:defRPr/>
              </a:pPr>
              <a:t>3/11/2025</a:t>
            </a:fld>
            <a:endParaRPr lang="en-US"/>
          </a:p>
        </p:txBody>
      </p:sp>
      <p:sp>
        <p:nvSpPr>
          <p:cNvPr id="4" name="Footer Placeholder 4">
            <a:extLst>
              <a:ext uri="{FF2B5EF4-FFF2-40B4-BE49-F238E27FC236}">
                <a16:creationId xmlns:a16="http://schemas.microsoft.com/office/drawing/2014/main" id="{402FFE2D-DB20-4A72-A9ED-831F7F736E0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B722D6B-8989-43C7-A80A-C5B564F1BCA2}"/>
              </a:ext>
            </a:extLst>
          </p:cNvPr>
          <p:cNvSpPr>
            <a:spLocks noGrp="1"/>
          </p:cNvSpPr>
          <p:nvPr>
            <p:ph type="sldNum" sz="quarter" idx="12"/>
          </p:nvPr>
        </p:nvSpPr>
        <p:spPr/>
        <p:txBody>
          <a:bodyPr/>
          <a:lstStyle>
            <a:lvl1pPr>
              <a:defRPr/>
            </a:lvl1pPr>
          </a:lstStyle>
          <a:p>
            <a:pPr>
              <a:defRPr/>
            </a:pPr>
            <a:fld id="{5F46226F-53BB-45F9-8878-8879C667A6B5}" type="slidenum">
              <a:rPr lang="en-US"/>
              <a:pPr>
                <a:defRPr/>
              </a:pPr>
              <a:t>‹#›</a:t>
            </a:fld>
            <a:endParaRPr lang="en-US"/>
          </a:p>
        </p:txBody>
      </p:sp>
    </p:spTree>
    <p:extLst>
      <p:ext uri="{BB962C8B-B14F-4D97-AF65-F5344CB8AC3E}">
        <p14:creationId xmlns:p14="http://schemas.microsoft.com/office/powerpoint/2010/main" val="1640924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1A8BAE0-CC58-48AA-9556-A2F753D56A59}"/>
              </a:ext>
            </a:extLst>
          </p:cNvPr>
          <p:cNvSpPr>
            <a:spLocks noGrp="1"/>
          </p:cNvSpPr>
          <p:nvPr>
            <p:ph type="dt" sz="half" idx="10"/>
          </p:nvPr>
        </p:nvSpPr>
        <p:spPr/>
        <p:txBody>
          <a:bodyPr/>
          <a:lstStyle>
            <a:lvl1pPr>
              <a:defRPr/>
            </a:lvl1pPr>
          </a:lstStyle>
          <a:p>
            <a:pPr>
              <a:defRPr/>
            </a:pPr>
            <a:fld id="{5AE8BA97-ACC2-4BC0-827C-FD62DE42F4F7}" type="datetimeFigureOut">
              <a:rPr lang="en-US"/>
              <a:pPr>
                <a:defRPr/>
              </a:pPr>
              <a:t>3/11/2025</a:t>
            </a:fld>
            <a:endParaRPr lang="en-US"/>
          </a:p>
        </p:txBody>
      </p:sp>
      <p:sp>
        <p:nvSpPr>
          <p:cNvPr id="3" name="Footer Placeholder 4">
            <a:extLst>
              <a:ext uri="{FF2B5EF4-FFF2-40B4-BE49-F238E27FC236}">
                <a16:creationId xmlns:a16="http://schemas.microsoft.com/office/drawing/2014/main" id="{CFBF4DC7-1E3D-4CEE-BB3B-FBB4660683C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3C96A1E-FECB-46F6-86AE-FE6E648F6914}"/>
              </a:ext>
            </a:extLst>
          </p:cNvPr>
          <p:cNvSpPr>
            <a:spLocks noGrp="1"/>
          </p:cNvSpPr>
          <p:nvPr>
            <p:ph type="sldNum" sz="quarter" idx="12"/>
          </p:nvPr>
        </p:nvSpPr>
        <p:spPr/>
        <p:txBody>
          <a:bodyPr/>
          <a:lstStyle>
            <a:lvl1pPr>
              <a:defRPr/>
            </a:lvl1pPr>
          </a:lstStyle>
          <a:p>
            <a:pPr>
              <a:defRPr/>
            </a:pPr>
            <a:fld id="{F8382108-A332-403B-8941-1651271597C8}" type="slidenum">
              <a:rPr lang="en-US"/>
              <a:pPr>
                <a:defRPr/>
              </a:pPr>
              <a:t>‹#›</a:t>
            </a:fld>
            <a:endParaRPr lang="en-US"/>
          </a:p>
        </p:txBody>
      </p:sp>
    </p:spTree>
    <p:extLst>
      <p:ext uri="{BB962C8B-B14F-4D97-AF65-F5344CB8AC3E}">
        <p14:creationId xmlns:p14="http://schemas.microsoft.com/office/powerpoint/2010/main" val="600709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D30761A-F354-4E26-A88C-22CD726280C0}"/>
              </a:ext>
            </a:extLst>
          </p:cNvPr>
          <p:cNvSpPr>
            <a:spLocks noGrp="1"/>
          </p:cNvSpPr>
          <p:nvPr>
            <p:ph type="dt" sz="half" idx="10"/>
          </p:nvPr>
        </p:nvSpPr>
        <p:spPr/>
        <p:txBody>
          <a:bodyPr/>
          <a:lstStyle>
            <a:lvl1pPr>
              <a:defRPr/>
            </a:lvl1pPr>
          </a:lstStyle>
          <a:p>
            <a:pPr>
              <a:defRPr/>
            </a:pPr>
            <a:fld id="{B5B34609-814F-4F5D-8622-855058B68581}" type="datetimeFigureOut">
              <a:rPr lang="en-US"/>
              <a:pPr>
                <a:defRPr/>
              </a:pPr>
              <a:t>3/11/2025</a:t>
            </a:fld>
            <a:endParaRPr lang="en-US"/>
          </a:p>
        </p:txBody>
      </p:sp>
      <p:sp>
        <p:nvSpPr>
          <p:cNvPr id="6" name="Footer Placeholder 4">
            <a:extLst>
              <a:ext uri="{FF2B5EF4-FFF2-40B4-BE49-F238E27FC236}">
                <a16:creationId xmlns:a16="http://schemas.microsoft.com/office/drawing/2014/main" id="{278C9F7B-629A-474D-BCFD-41F865A2144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D6BF828-F9B4-4999-AF10-8483E8808FF5}"/>
              </a:ext>
            </a:extLst>
          </p:cNvPr>
          <p:cNvSpPr>
            <a:spLocks noGrp="1"/>
          </p:cNvSpPr>
          <p:nvPr>
            <p:ph type="sldNum" sz="quarter" idx="12"/>
          </p:nvPr>
        </p:nvSpPr>
        <p:spPr/>
        <p:txBody>
          <a:bodyPr/>
          <a:lstStyle>
            <a:lvl1pPr>
              <a:defRPr/>
            </a:lvl1pPr>
          </a:lstStyle>
          <a:p>
            <a:pPr>
              <a:defRPr/>
            </a:pPr>
            <a:fld id="{C4EA7CBD-AA1F-425A-B3FB-0CD150B2AFF2}" type="slidenum">
              <a:rPr lang="en-US"/>
              <a:pPr>
                <a:defRPr/>
              </a:pPr>
              <a:t>‹#›</a:t>
            </a:fld>
            <a:endParaRPr lang="en-US"/>
          </a:p>
        </p:txBody>
      </p:sp>
    </p:spTree>
    <p:extLst>
      <p:ext uri="{BB962C8B-B14F-4D97-AF65-F5344CB8AC3E}">
        <p14:creationId xmlns:p14="http://schemas.microsoft.com/office/powerpoint/2010/main" val="2758330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5819ACA-2CC9-4052-A5CB-EE1224D19EA3}"/>
              </a:ext>
            </a:extLst>
          </p:cNvPr>
          <p:cNvSpPr>
            <a:spLocks noGrp="1"/>
          </p:cNvSpPr>
          <p:nvPr>
            <p:ph type="dt" sz="half" idx="10"/>
          </p:nvPr>
        </p:nvSpPr>
        <p:spPr/>
        <p:txBody>
          <a:bodyPr/>
          <a:lstStyle>
            <a:lvl1pPr>
              <a:defRPr/>
            </a:lvl1pPr>
          </a:lstStyle>
          <a:p>
            <a:pPr>
              <a:defRPr/>
            </a:pPr>
            <a:fld id="{D601AA30-A7E9-493F-98B6-562DDE68543B}" type="datetimeFigureOut">
              <a:rPr lang="en-US"/>
              <a:pPr>
                <a:defRPr/>
              </a:pPr>
              <a:t>3/11/2025</a:t>
            </a:fld>
            <a:endParaRPr lang="en-US"/>
          </a:p>
        </p:txBody>
      </p:sp>
      <p:sp>
        <p:nvSpPr>
          <p:cNvPr id="6" name="Footer Placeholder 4">
            <a:extLst>
              <a:ext uri="{FF2B5EF4-FFF2-40B4-BE49-F238E27FC236}">
                <a16:creationId xmlns:a16="http://schemas.microsoft.com/office/drawing/2014/main" id="{1AFA8924-E0CE-4BC4-ABD7-A70312CBB9A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AF51DF3-9DEC-4D32-A049-550B2146AEEB}"/>
              </a:ext>
            </a:extLst>
          </p:cNvPr>
          <p:cNvSpPr>
            <a:spLocks noGrp="1"/>
          </p:cNvSpPr>
          <p:nvPr>
            <p:ph type="sldNum" sz="quarter" idx="12"/>
          </p:nvPr>
        </p:nvSpPr>
        <p:spPr/>
        <p:txBody>
          <a:bodyPr/>
          <a:lstStyle>
            <a:lvl1pPr>
              <a:defRPr/>
            </a:lvl1pPr>
          </a:lstStyle>
          <a:p>
            <a:pPr>
              <a:defRPr/>
            </a:pPr>
            <a:fld id="{1E065DB9-6289-468C-AFF3-EE0D73BFCBC7}" type="slidenum">
              <a:rPr lang="en-US"/>
              <a:pPr>
                <a:defRPr/>
              </a:pPr>
              <a:t>‹#›</a:t>
            </a:fld>
            <a:endParaRPr lang="en-US"/>
          </a:p>
        </p:txBody>
      </p:sp>
    </p:spTree>
    <p:extLst>
      <p:ext uri="{BB962C8B-B14F-4D97-AF65-F5344CB8AC3E}">
        <p14:creationId xmlns:p14="http://schemas.microsoft.com/office/powerpoint/2010/main" val="1391247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EC7938-5EC6-4E13-811B-BE65ADAC78E3}"/>
              </a:ext>
            </a:extLst>
          </p:cNvPr>
          <p:cNvSpPr>
            <a:spLocks noGrp="1"/>
          </p:cNvSpPr>
          <p:nvPr>
            <p:ph type="dt" sz="half" idx="10"/>
          </p:nvPr>
        </p:nvSpPr>
        <p:spPr/>
        <p:txBody>
          <a:bodyPr/>
          <a:lstStyle>
            <a:lvl1pPr>
              <a:defRPr/>
            </a:lvl1pPr>
          </a:lstStyle>
          <a:p>
            <a:pPr>
              <a:defRPr/>
            </a:pPr>
            <a:fld id="{9862CD6A-7269-4C77-BD64-D271B53CAD09}" type="datetimeFigureOut">
              <a:rPr lang="en-US"/>
              <a:pPr>
                <a:defRPr/>
              </a:pPr>
              <a:t>3/11/2025</a:t>
            </a:fld>
            <a:endParaRPr lang="en-US"/>
          </a:p>
        </p:txBody>
      </p:sp>
      <p:sp>
        <p:nvSpPr>
          <p:cNvPr id="5" name="Footer Placeholder 4">
            <a:extLst>
              <a:ext uri="{FF2B5EF4-FFF2-40B4-BE49-F238E27FC236}">
                <a16:creationId xmlns:a16="http://schemas.microsoft.com/office/drawing/2014/main" id="{A104EE2A-96C6-400D-BD56-4E011B10DD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D5FD210-543F-4B14-9E69-653BD74439C7}"/>
              </a:ext>
            </a:extLst>
          </p:cNvPr>
          <p:cNvSpPr>
            <a:spLocks noGrp="1"/>
          </p:cNvSpPr>
          <p:nvPr>
            <p:ph type="sldNum" sz="quarter" idx="12"/>
          </p:nvPr>
        </p:nvSpPr>
        <p:spPr/>
        <p:txBody>
          <a:bodyPr/>
          <a:lstStyle>
            <a:lvl1pPr>
              <a:defRPr/>
            </a:lvl1pPr>
          </a:lstStyle>
          <a:p>
            <a:pPr>
              <a:defRPr/>
            </a:pPr>
            <a:fld id="{5043CC81-819A-45C8-913B-2CA03901F9C3}" type="slidenum">
              <a:rPr lang="en-US"/>
              <a:pPr>
                <a:defRPr/>
              </a:pPr>
              <a:t>‹#›</a:t>
            </a:fld>
            <a:endParaRPr lang="en-US"/>
          </a:p>
        </p:txBody>
      </p:sp>
    </p:spTree>
    <p:extLst>
      <p:ext uri="{BB962C8B-B14F-4D97-AF65-F5344CB8AC3E}">
        <p14:creationId xmlns:p14="http://schemas.microsoft.com/office/powerpoint/2010/main" val="2857320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DA88C-30E1-43AD-99D2-CB74CF402879}"/>
              </a:ext>
            </a:extLst>
          </p:cNvPr>
          <p:cNvSpPr>
            <a:spLocks noGrp="1"/>
          </p:cNvSpPr>
          <p:nvPr>
            <p:ph type="dt" sz="half" idx="10"/>
          </p:nvPr>
        </p:nvSpPr>
        <p:spPr/>
        <p:txBody>
          <a:bodyPr/>
          <a:lstStyle>
            <a:lvl1pPr>
              <a:defRPr/>
            </a:lvl1pPr>
          </a:lstStyle>
          <a:p>
            <a:pPr>
              <a:defRPr/>
            </a:pPr>
            <a:fld id="{7779CD61-2646-4599-85F0-A8EC3949A066}" type="datetimeFigureOut">
              <a:rPr lang="en-US"/>
              <a:pPr>
                <a:defRPr/>
              </a:pPr>
              <a:t>3/11/2025</a:t>
            </a:fld>
            <a:endParaRPr lang="en-US"/>
          </a:p>
        </p:txBody>
      </p:sp>
      <p:sp>
        <p:nvSpPr>
          <p:cNvPr id="5" name="Footer Placeholder 4">
            <a:extLst>
              <a:ext uri="{FF2B5EF4-FFF2-40B4-BE49-F238E27FC236}">
                <a16:creationId xmlns:a16="http://schemas.microsoft.com/office/drawing/2014/main" id="{7BD144F2-F7CB-44A4-8E79-960DCE39A4B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33E23D3-308E-4639-8479-AAC69949DD12}"/>
              </a:ext>
            </a:extLst>
          </p:cNvPr>
          <p:cNvSpPr>
            <a:spLocks noGrp="1"/>
          </p:cNvSpPr>
          <p:nvPr>
            <p:ph type="sldNum" sz="quarter" idx="12"/>
          </p:nvPr>
        </p:nvSpPr>
        <p:spPr/>
        <p:txBody>
          <a:bodyPr/>
          <a:lstStyle>
            <a:lvl1pPr>
              <a:defRPr/>
            </a:lvl1pPr>
          </a:lstStyle>
          <a:p>
            <a:pPr>
              <a:defRPr/>
            </a:pPr>
            <a:fld id="{2C31EC91-810D-4BCE-9E47-549C7B28B731}" type="slidenum">
              <a:rPr lang="en-US"/>
              <a:pPr>
                <a:defRPr/>
              </a:pPr>
              <a:t>‹#›</a:t>
            </a:fld>
            <a:endParaRPr lang="en-US"/>
          </a:p>
        </p:txBody>
      </p:sp>
    </p:spTree>
    <p:extLst>
      <p:ext uri="{BB962C8B-B14F-4D97-AF65-F5344CB8AC3E}">
        <p14:creationId xmlns:p14="http://schemas.microsoft.com/office/powerpoint/2010/main" val="937771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87781D2B-76C4-4E2F-9FCA-E850743969BF}"/>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E59E9495-A1F2-4D3C-9C6C-89C452761072}"/>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38B7064-EC46-4095-B157-03EF70B8BBDA}"/>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8270B609-F938-4020-9EAA-E38E58E80647}" type="datetimeFigureOut">
              <a:rPr lang="en-US"/>
              <a:pPr>
                <a:defRPr/>
              </a:pPr>
              <a:t>3/11/2025</a:t>
            </a:fld>
            <a:endParaRPr lang="en-US"/>
          </a:p>
        </p:txBody>
      </p:sp>
      <p:sp>
        <p:nvSpPr>
          <p:cNvPr id="5" name="Footer Placeholder 4">
            <a:extLst>
              <a:ext uri="{FF2B5EF4-FFF2-40B4-BE49-F238E27FC236}">
                <a16:creationId xmlns:a16="http://schemas.microsoft.com/office/drawing/2014/main" id="{4ECA5ED4-A1FE-4F08-B603-3850F5DA5E2E}"/>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483D617C-2C58-48CB-80F1-FF811E61AD1D}"/>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598E45C0-C4CD-40AA-A714-86DEC56BEA9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1"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CE753B16-3D99-4D0E-9C61-D944A8797843}"/>
              </a:ext>
            </a:extLst>
          </p:cNvPr>
          <p:cNvSpPr>
            <a:spLocks noGrp="1"/>
          </p:cNvSpPr>
          <p:nvPr>
            <p:ph type="ctrTitle"/>
          </p:nvPr>
        </p:nvSpPr>
        <p:spPr/>
        <p:txBody>
          <a:bodyPr/>
          <a:lstStyle/>
          <a:p>
            <a:pPr eaLnBrk="1" hangingPunct="1"/>
            <a:r>
              <a:rPr lang="en-US" altLang="en-US"/>
              <a:t>Lecture 4</a:t>
            </a:r>
            <a:br>
              <a:rPr lang="en-US" altLang="en-US"/>
            </a:br>
            <a:r>
              <a:rPr lang="en-US" altLang="en-US"/>
              <a:t>Class Diagram</a:t>
            </a:r>
          </a:p>
        </p:txBody>
      </p:sp>
      <p:sp>
        <p:nvSpPr>
          <p:cNvPr id="3" name="Subtitle 2">
            <a:extLst>
              <a:ext uri="{FF2B5EF4-FFF2-40B4-BE49-F238E27FC236}">
                <a16:creationId xmlns:a16="http://schemas.microsoft.com/office/drawing/2014/main" id="{35FFBC6C-38B4-443F-8E45-20FB22D6A4AC}"/>
              </a:ext>
            </a:extLst>
          </p:cNvPr>
          <p:cNvSpPr>
            <a:spLocks noGrp="1"/>
          </p:cNvSpPr>
          <p:nvPr>
            <p:ph type="subTitle" idx="1"/>
          </p:nvPr>
        </p:nvSpPr>
        <p:spPr/>
        <p:txBody>
          <a:bodyPr rtlCol="0">
            <a:normAutofit fontScale="40000" lnSpcReduction="20000"/>
          </a:bodyPr>
          <a:lstStyle/>
          <a:p>
            <a:pPr eaLnBrk="1" fontAlgn="auto" hangingPunct="1">
              <a:spcAft>
                <a:spcPts val="0"/>
              </a:spcAft>
              <a:defRPr/>
            </a:pPr>
            <a:r>
              <a:rPr lang="en-US" b="1" dirty="0"/>
              <a:t>Chapter 4, 5 &amp; 8</a:t>
            </a:r>
          </a:p>
          <a:p>
            <a:pPr eaLnBrk="1" fontAlgn="auto" hangingPunct="1">
              <a:spcAft>
                <a:spcPts val="0"/>
              </a:spcAft>
              <a:defRPr/>
            </a:pPr>
            <a:r>
              <a:rPr lang="en-US" dirty="0"/>
              <a:t>The Unified Modeling Language User Guide </a:t>
            </a:r>
          </a:p>
          <a:p>
            <a:pPr eaLnBrk="1" fontAlgn="auto" hangingPunct="1">
              <a:spcAft>
                <a:spcPts val="0"/>
              </a:spcAft>
              <a:defRPr/>
            </a:pPr>
            <a:r>
              <a:rPr lang="en-US" dirty="0"/>
              <a:t>SECOND EDITION </a:t>
            </a:r>
          </a:p>
          <a:p>
            <a:pPr eaLnBrk="1" fontAlgn="auto" hangingPunct="1">
              <a:spcAft>
                <a:spcPts val="0"/>
              </a:spcAft>
              <a:defRPr/>
            </a:pPr>
            <a:r>
              <a:rPr lang="en-US" dirty="0"/>
              <a:t>By Grady </a:t>
            </a:r>
            <a:r>
              <a:rPr lang="en-US" dirty="0" err="1"/>
              <a:t>Booch</a:t>
            </a:r>
            <a:r>
              <a:rPr lang="en-US" dirty="0"/>
              <a:t>, James </a:t>
            </a:r>
            <a:r>
              <a:rPr lang="en-US" dirty="0" err="1"/>
              <a:t>Rumbaugh</a:t>
            </a:r>
            <a:r>
              <a:rPr lang="en-US" dirty="0"/>
              <a:t>, </a:t>
            </a:r>
            <a:r>
              <a:rPr lang="en-US" dirty="0" err="1"/>
              <a:t>Ivar</a:t>
            </a:r>
            <a:r>
              <a:rPr lang="en-US" dirty="0"/>
              <a:t> Jacobson </a:t>
            </a:r>
          </a:p>
          <a:p>
            <a:pPr eaLnBrk="1" fontAlgn="auto" hangingPunct="1">
              <a:spcAft>
                <a:spcPts val="0"/>
              </a:spcAft>
              <a:defRPr/>
            </a:pPr>
            <a:endParaRPr lang="en-US" dirty="0"/>
          </a:p>
          <a:p>
            <a:pPr eaLnBrk="1" fontAlgn="auto" hangingPunct="1">
              <a:spcAft>
                <a:spcPts val="0"/>
              </a:spcAft>
              <a:defRPr/>
            </a:pPr>
            <a:r>
              <a:rPr lang="en-US" b="1" dirty="0"/>
              <a:t>Session 9, 10, 11 &amp; 12</a:t>
            </a:r>
          </a:p>
          <a:p>
            <a:pPr eaLnBrk="1" fontAlgn="auto" hangingPunct="1">
              <a:spcAft>
                <a:spcPts val="0"/>
              </a:spcAft>
              <a:defRPr/>
            </a:pPr>
            <a:r>
              <a:rPr lang="en-US" dirty="0"/>
              <a:t>UML Weekend Crash Course</a:t>
            </a:r>
          </a:p>
          <a:p>
            <a:pPr eaLnBrk="1" fontAlgn="auto" hangingPunct="1">
              <a:spcAft>
                <a:spcPts val="0"/>
              </a:spcAft>
              <a:defRPr/>
            </a:pPr>
            <a:r>
              <a:rPr lang="en-US" dirty="0"/>
              <a:t>Thomas A. Pender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6CBAA692-3DB6-4526-A9F9-DDB91255F9D4}"/>
              </a:ext>
            </a:extLst>
          </p:cNvPr>
          <p:cNvSpPr>
            <a:spLocks noGrp="1"/>
          </p:cNvSpPr>
          <p:nvPr>
            <p:ph type="title"/>
          </p:nvPr>
        </p:nvSpPr>
        <p:spPr/>
        <p:txBody>
          <a:bodyPr/>
          <a:lstStyle/>
          <a:p>
            <a:pPr eaLnBrk="1" hangingPunct="1"/>
            <a:r>
              <a:rPr lang="en-US" altLang="en-US">
                <a:cs typeface="Times New Roman" panose="02020603050405020304" pitchFamily="18" charset="0"/>
              </a:rPr>
              <a:t>Introduction</a:t>
            </a:r>
            <a:endParaRPr lang="en-US" altLang="en-US"/>
          </a:p>
        </p:txBody>
      </p:sp>
      <p:sp>
        <p:nvSpPr>
          <p:cNvPr id="3075" name="Content Placeholder 2">
            <a:extLst>
              <a:ext uri="{FF2B5EF4-FFF2-40B4-BE49-F238E27FC236}">
                <a16:creationId xmlns:a16="http://schemas.microsoft.com/office/drawing/2014/main" id="{515CAD0B-9976-44C4-9901-3F144238C796}"/>
              </a:ext>
            </a:extLst>
          </p:cNvPr>
          <p:cNvSpPr>
            <a:spLocks noGrp="1"/>
          </p:cNvSpPr>
          <p:nvPr>
            <p:ph idx="1"/>
          </p:nvPr>
        </p:nvSpPr>
        <p:spPr>
          <a:xfrm>
            <a:off x="609600" y="1646237"/>
            <a:ext cx="10972800" cy="4525963"/>
          </a:xfrm>
        </p:spPr>
        <p:txBody>
          <a:bodyPr>
            <a:normAutofit/>
          </a:bodyPr>
          <a:lstStyle/>
          <a:p>
            <a:pPr eaLnBrk="1" hangingPunct="1">
              <a:buFont typeface="Arial" charset="0"/>
              <a:buChar char="•"/>
              <a:defRPr/>
            </a:pPr>
            <a:r>
              <a:rPr lang="en-US" dirty="0"/>
              <a:t>A class diagram shows a set of classes, interfaces, and collaborations and their relationships. </a:t>
            </a:r>
            <a:endParaRPr lang="en-US" dirty="0">
              <a:ea typeface="Calibri"/>
              <a:cs typeface="Calibri"/>
            </a:endParaRPr>
          </a:p>
          <a:p>
            <a:pPr eaLnBrk="1" hangingPunct="1">
              <a:buFont typeface="Arial" charset="0"/>
              <a:buChar char="•"/>
              <a:defRPr/>
            </a:pPr>
            <a:r>
              <a:rPr lang="en-US" dirty="0"/>
              <a:t>These diagrams are the most common diagram found in modeling object-oriented systems. </a:t>
            </a:r>
          </a:p>
          <a:p>
            <a:pPr eaLnBrk="1" hangingPunct="1">
              <a:buFont typeface="Arial" charset="0"/>
              <a:buChar char="•"/>
              <a:defRPr/>
            </a:pPr>
            <a:r>
              <a:rPr lang="en-US" dirty="0"/>
              <a:t>Class diagrams address the static design view of a system. </a:t>
            </a:r>
            <a:endParaRPr lang="en-US" dirty="0">
              <a:ea typeface="Calibri"/>
              <a:cs typeface="Calibri"/>
            </a:endParaRPr>
          </a:p>
          <a:p>
            <a:pPr eaLnBrk="1" hangingPunct="1">
              <a:buFont typeface="Arial" charset="0"/>
              <a:buChar char="•"/>
              <a:defRPr/>
            </a:pPr>
            <a:r>
              <a:rPr lang="en-US" dirty="0"/>
              <a:t>Class diagrams that include active classes address the static process view of a system. </a:t>
            </a:r>
          </a:p>
          <a:p>
            <a:pPr eaLnBrk="1" hangingPunct="1">
              <a:buFont typeface="Arial" charset="0"/>
              <a:buChar char="•"/>
              <a:defRPr/>
            </a:pPr>
            <a:r>
              <a:rPr lang="en-US" dirty="0"/>
              <a:t>Component diagrams are variants of class diagrams.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288FE1DA-5172-4BF6-A9DC-72848D38307A}"/>
              </a:ext>
            </a:extLst>
          </p:cNvPr>
          <p:cNvSpPr>
            <a:spLocks noGrp="1"/>
          </p:cNvSpPr>
          <p:nvPr>
            <p:ph type="title"/>
          </p:nvPr>
        </p:nvSpPr>
        <p:spPr/>
        <p:txBody>
          <a:bodyPr/>
          <a:lstStyle/>
          <a:p>
            <a:r>
              <a:rPr lang="en-US" altLang="en-US"/>
              <a:t>Class Diagram - Elements</a:t>
            </a:r>
          </a:p>
        </p:txBody>
      </p:sp>
      <p:sp>
        <p:nvSpPr>
          <p:cNvPr id="5123" name="Content Placeholder 2">
            <a:extLst>
              <a:ext uri="{FF2B5EF4-FFF2-40B4-BE49-F238E27FC236}">
                <a16:creationId xmlns:a16="http://schemas.microsoft.com/office/drawing/2014/main" id="{9BD24CEC-E449-4462-83C2-5F8F4CE4C620}"/>
              </a:ext>
            </a:extLst>
          </p:cNvPr>
          <p:cNvSpPr>
            <a:spLocks noGrp="1"/>
          </p:cNvSpPr>
          <p:nvPr>
            <p:ph idx="1"/>
          </p:nvPr>
        </p:nvSpPr>
        <p:spPr/>
        <p:txBody>
          <a:bodyPr/>
          <a:lstStyle/>
          <a:p>
            <a:r>
              <a:rPr lang="en-US" altLang="en-US" dirty="0"/>
              <a:t>The Class diagram represents classes, </a:t>
            </a:r>
          </a:p>
          <a:p>
            <a:r>
              <a:rPr lang="en-US" altLang="en-US" dirty="0"/>
              <a:t>Their component parts, and </a:t>
            </a:r>
          </a:p>
          <a:p>
            <a:r>
              <a:rPr lang="en-US" altLang="en-US" dirty="0"/>
              <a:t>the way in which classes are related to one another.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9D3B1DDF-DBE9-4422-ACE0-6BCA853A13B5}"/>
              </a:ext>
            </a:extLst>
          </p:cNvPr>
          <p:cNvSpPr>
            <a:spLocks noGrp="1"/>
          </p:cNvSpPr>
          <p:nvPr>
            <p:ph type="title"/>
          </p:nvPr>
        </p:nvSpPr>
        <p:spPr/>
        <p:txBody>
          <a:bodyPr/>
          <a:lstStyle/>
          <a:p>
            <a:r>
              <a:rPr lang="en-US" altLang="en-US"/>
              <a:t>Class</a:t>
            </a:r>
          </a:p>
        </p:txBody>
      </p:sp>
      <p:sp>
        <p:nvSpPr>
          <p:cNvPr id="3" name="Content Placeholder 2">
            <a:extLst>
              <a:ext uri="{FF2B5EF4-FFF2-40B4-BE49-F238E27FC236}">
                <a16:creationId xmlns:a16="http://schemas.microsoft.com/office/drawing/2014/main" id="{09CF636C-3EF1-47F6-BF9F-BB2753066E47}"/>
              </a:ext>
            </a:extLst>
          </p:cNvPr>
          <p:cNvSpPr>
            <a:spLocks noGrp="1"/>
          </p:cNvSpPr>
          <p:nvPr>
            <p:ph idx="1"/>
          </p:nvPr>
        </p:nvSpPr>
        <p:spPr/>
        <p:txBody>
          <a:bodyPr>
            <a:normAutofit lnSpcReduction="10000"/>
          </a:bodyPr>
          <a:lstStyle/>
          <a:p>
            <a:pPr>
              <a:defRPr/>
            </a:pPr>
            <a:r>
              <a:rPr lang="en-US" dirty="0"/>
              <a:t>A class is a definition for a </a:t>
            </a:r>
            <a:r>
              <a:rPr lang="en-US" i="1" dirty="0"/>
              <a:t>type of object.</a:t>
            </a:r>
            <a:endParaRPr lang="en-US" i="1" dirty="0">
              <a:ea typeface="Calibri"/>
              <a:cs typeface="Calibri"/>
            </a:endParaRPr>
          </a:p>
          <a:p>
            <a:pPr>
              <a:defRPr/>
            </a:pPr>
            <a:r>
              <a:rPr lang="en-US" dirty="0"/>
              <a:t>A class is a template</a:t>
            </a:r>
            <a:r>
              <a:rPr lang="en-US" i="1" dirty="0"/>
              <a:t> of similar types of objects.</a:t>
            </a:r>
          </a:p>
          <a:p>
            <a:pPr>
              <a:defRPr/>
            </a:pPr>
            <a:r>
              <a:rPr lang="en-US" dirty="0"/>
              <a:t>The class defines the </a:t>
            </a:r>
            <a:r>
              <a:rPr lang="en-US" i="1" dirty="0"/>
              <a:t>rules; </a:t>
            </a:r>
            <a:r>
              <a:rPr lang="en-US" dirty="0"/>
              <a:t>the objects express the </a:t>
            </a:r>
            <a:r>
              <a:rPr lang="en-US" i="1" dirty="0"/>
              <a:t>facts.</a:t>
            </a:r>
          </a:p>
          <a:p>
            <a:pPr>
              <a:defRPr/>
            </a:pPr>
            <a:r>
              <a:rPr lang="en-US" dirty="0"/>
              <a:t>The class defines what </a:t>
            </a:r>
            <a:r>
              <a:rPr lang="en-US" i="1" dirty="0"/>
              <a:t>can be; </a:t>
            </a:r>
            <a:r>
              <a:rPr lang="en-US" dirty="0"/>
              <a:t>the object describes </a:t>
            </a:r>
            <a:r>
              <a:rPr lang="en-US" i="1" dirty="0"/>
              <a:t>what is.</a:t>
            </a:r>
          </a:p>
          <a:p>
            <a:pPr>
              <a:defRPr/>
            </a:pPr>
            <a:r>
              <a:rPr lang="en-US" i="1" dirty="0"/>
              <a:t>Classes can be abstract</a:t>
            </a:r>
          </a:p>
          <a:p>
            <a:pPr>
              <a:defRPr/>
            </a:pPr>
            <a:r>
              <a:rPr lang="en-US" i="1" dirty="0"/>
              <a:t>Example: </a:t>
            </a:r>
          </a:p>
          <a:p>
            <a:pPr lvl="1">
              <a:defRPr/>
            </a:pPr>
            <a:r>
              <a:rPr lang="en-US" i="1" dirty="0"/>
              <a:t>If Student is a class; </a:t>
            </a:r>
          </a:p>
          <a:p>
            <a:pPr lvl="1">
              <a:defRPr/>
            </a:pPr>
            <a:r>
              <a:rPr lang="en-US" i="1" dirty="0"/>
              <a:t>student ID: 12-34567-1 is an instance object of that class</a:t>
            </a:r>
          </a:p>
          <a:p>
            <a:pPr>
              <a:defRPr/>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0D2780FD-7FF7-41B5-BCB2-3B23CEFA120E}"/>
              </a:ext>
            </a:extLst>
          </p:cNvPr>
          <p:cNvSpPr>
            <a:spLocks noGrp="1"/>
          </p:cNvSpPr>
          <p:nvPr>
            <p:ph type="title"/>
          </p:nvPr>
        </p:nvSpPr>
        <p:spPr/>
        <p:txBody>
          <a:bodyPr/>
          <a:lstStyle/>
          <a:p>
            <a:r>
              <a:rPr lang="en-US" altLang="en-US"/>
              <a:t>Elements of a Class in Class Diagram</a:t>
            </a:r>
          </a:p>
        </p:txBody>
      </p:sp>
      <p:sp>
        <p:nvSpPr>
          <p:cNvPr id="3" name="Content Placeholder 2">
            <a:extLst>
              <a:ext uri="{FF2B5EF4-FFF2-40B4-BE49-F238E27FC236}">
                <a16:creationId xmlns:a16="http://schemas.microsoft.com/office/drawing/2014/main" id="{B0275F31-9791-4FD7-AC98-765F13CC643C}"/>
              </a:ext>
            </a:extLst>
          </p:cNvPr>
          <p:cNvSpPr>
            <a:spLocks noGrp="1"/>
          </p:cNvSpPr>
          <p:nvPr>
            <p:ph idx="1"/>
          </p:nvPr>
        </p:nvSpPr>
        <p:spPr/>
        <p:txBody>
          <a:bodyPr>
            <a:normAutofit fontScale="85000" lnSpcReduction="20000"/>
          </a:bodyPr>
          <a:lstStyle/>
          <a:p>
            <a:pPr>
              <a:defRPr/>
            </a:pPr>
            <a:r>
              <a:rPr lang="en-US" b="1" dirty="0"/>
              <a:t>Attributes </a:t>
            </a:r>
            <a:r>
              <a:rPr lang="en-US" dirty="0"/>
              <a:t>describe the appearance and knowledge of a class of objects.</a:t>
            </a:r>
          </a:p>
          <a:p>
            <a:pPr>
              <a:defRPr/>
            </a:pPr>
            <a:r>
              <a:rPr lang="en-US" b="1" dirty="0"/>
              <a:t>Operations </a:t>
            </a:r>
            <a:r>
              <a:rPr lang="en-US" dirty="0"/>
              <a:t>define the behavior that a class of objects can manifest.</a:t>
            </a:r>
          </a:p>
          <a:p>
            <a:pPr>
              <a:defRPr/>
            </a:pPr>
            <a:r>
              <a:rPr lang="en-US" b="1" dirty="0"/>
              <a:t>Stereotypes </a:t>
            </a:r>
            <a:r>
              <a:rPr lang="en-US" dirty="0"/>
              <a:t>help you understand this type of object in the context of other classes of objects with similar roles within the system’s design.</a:t>
            </a:r>
          </a:p>
          <a:p>
            <a:pPr>
              <a:defRPr/>
            </a:pPr>
            <a:r>
              <a:rPr lang="en-US" b="1" dirty="0"/>
              <a:t>Properties </a:t>
            </a:r>
            <a:r>
              <a:rPr lang="en-US" dirty="0"/>
              <a:t>provide a way to track the maintenance and status of the class definition.</a:t>
            </a:r>
          </a:p>
          <a:p>
            <a:pPr>
              <a:defRPr/>
            </a:pPr>
            <a:r>
              <a:rPr lang="en-US" b="1" dirty="0"/>
              <a:t>Association </a:t>
            </a:r>
            <a:r>
              <a:rPr lang="en-US" dirty="0"/>
              <a:t>is just a formal term for a type of relationship that this type of object may participate in. Associations may come in many variations, including simple, aggregate and composite, qualified, and reflexive.</a:t>
            </a:r>
          </a:p>
          <a:p>
            <a:pPr>
              <a:defRPr/>
            </a:pPr>
            <a:r>
              <a:rPr lang="en-US" b="1" dirty="0"/>
              <a:t>Inheritance </a:t>
            </a:r>
            <a:r>
              <a:rPr lang="en-US" dirty="0"/>
              <a:t>allows you to organize the class definitions to simplify and facilitate their implementation.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D20A43DB-2930-4FFB-848B-D865B5E3E94E}"/>
              </a:ext>
            </a:extLst>
          </p:cNvPr>
          <p:cNvSpPr>
            <a:spLocks noGrp="1"/>
          </p:cNvSpPr>
          <p:nvPr>
            <p:ph type="title"/>
          </p:nvPr>
        </p:nvSpPr>
        <p:spPr/>
        <p:txBody>
          <a:bodyPr/>
          <a:lstStyle/>
          <a:p>
            <a:r>
              <a:rPr lang="en-US" altLang="en-US"/>
              <a:t>Elements of a Class Definition</a:t>
            </a:r>
          </a:p>
        </p:txBody>
      </p:sp>
      <p:sp>
        <p:nvSpPr>
          <p:cNvPr id="3" name="Content Placeholder 2">
            <a:extLst>
              <a:ext uri="{FF2B5EF4-FFF2-40B4-BE49-F238E27FC236}">
                <a16:creationId xmlns:a16="http://schemas.microsoft.com/office/drawing/2014/main" id="{0D39760E-C9EA-49F6-8482-334F00AA6E5C}"/>
              </a:ext>
            </a:extLst>
          </p:cNvPr>
          <p:cNvSpPr>
            <a:spLocks noGrp="1"/>
          </p:cNvSpPr>
          <p:nvPr>
            <p:ph idx="1"/>
          </p:nvPr>
        </p:nvSpPr>
        <p:spPr>
          <a:xfrm>
            <a:off x="838200" y="1600200"/>
            <a:ext cx="10744200" cy="2209800"/>
          </a:xfrm>
        </p:spPr>
        <p:txBody>
          <a:bodyPr>
            <a:normAutofit fontScale="77500" lnSpcReduction="20000"/>
          </a:bodyPr>
          <a:lstStyle/>
          <a:p>
            <a:pPr>
              <a:defRPr/>
            </a:pPr>
            <a:r>
              <a:rPr lang="en-US" dirty="0"/>
              <a:t>The </a:t>
            </a:r>
            <a:r>
              <a:rPr lang="en-US" b="1" i="1" dirty="0"/>
              <a:t>name compartment </a:t>
            </a:r>
            <a:r>
              <a:rPr lang="en-US" dirty="0"/>
              <a:t>uniquely defines a class (a type of object) within a package. Consequently, classes may have the same name if they reside in different packages.</a:t>
            </a:r>
          </a:p>
          <a:p>
            <a:pPr>
              <a:defRPr/>
            </a:pPr>
            <a:r>
              <a:rPr lang="en-US" dirty="0"/>
              <a:t>The </a:t>
            </a:r>
            <a:r>
              <a:rPr lang="en-US" b="1" i="1" dirty="0"/>
              <a:t>attribute compartment </a:t>
            </a:r>
            <a:r>
              <a:rPr lang="en-US" dirty="0"/>
              <a:t>contains all the data definitions.</a:t>
            </a:r>
          </a:p>
          <a:p>
            <a:pPr>
              <a:defRPr/>
            </a:pPr>
            <a:r>
              <a:rPr lang="en-US" dirty="0"/>
              <a:t>The </a:t>
            </a:r>
            <a:r>
              <a:rPr lang="en-US" b="1" i="1" dirty="0"/>
              <a:t>operations compartment </a:t>
            </a:r>
            <a:r>
              <a:rPr lang="en-US" dirty="0"/>
              <a:t>contains a definition for each behavior supported by this type of object.</a:t>
            </a:r>
          </a:p>
        </p:txBody>
      </p:sp>
      <p:pic>
        <p:nvPicPr>
          <p:cNvPr id="8196" name="Picture 3">
            <a:extLst>
              <a:ext uri="{FF2B5EF4-FFF2-40B4-BE49-F238E27FC236}">
                <a16:creationId xmlns:a16="http://schemas.microsoft.com/office/drawing/2014/main" id="{E3BE93F1-6F7C-43D5-9B1C-607F546E0F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8600" y="3797300"/>
            <a:ext cx="1574800" cy="2570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262FA45-2ABF-418B-9B37-55DE49F0833B}"/>
              </a:ext>
            </a:extLst>
          </p:cNvPr>
          <p:cNvSpPr>
            <a:spLocks noGrp="1"/>
          </p:cNvSpPr>
          <p:nvPr>
            <p:ph type="title"/>
          </p:nvPr>
        </p:nvSpPr>
        <p:spPr/>
        <p:txBody>
          <a:bodyPr/>
          <a:lstStyle/>
          <a:p>
            <a:r>
              <a:rPr lang="en-US" altLang="en-US" i="1" dirty="0"/>
              <a:t>Attribute/ Operation visibility</a:t>
            </a:r>
            <a:endParaRPr lang="en-US" altLang="en-US" dirty="0"/>
          </a:p>
        </p:txBody>
      </p:sp>
      <p:sp>
        <p:nvSpPr>
          <p:cNvPr id="3" name="Content Placeholder 2">
            <a:extLst>
              <a:ext uri="{FF2B5EF4-FFF2-40B4-BE49-F238E27FC236}">
                <a16:creationId xmlns:a16="http://schemas.microsoft.com/office/drawing/2014/main" id="{68FC763B-973A-4353-957E-25C6E31D1B38}"/>
              </a:ext>
            </a:extLst>
          </p:cNvPr>
          <p:cNvSpPr>
            <a:spLocks noGrp="1"/>
          </p:cNvSpPr>
          <p:nvPr>
            <p:ph idx="1"/>
          </p:nvPr>
        </p:nvSpPr>
        <p:spPr/>
        <p:txBody>
          <a:bodyPr>
            <a:normAutofit fontScale="92500" lnSpcReduction="10000"/>
          </a:bodyPr>
          <a:lstStyle/>
          <a:p>
            <a:pPr>
              <a:defRPr/>
            </a:pPr>
            <a:r>
              <a:rPr lang="en-US" b="1" dirty="0"/>
              <a:t>Public (+) </a:t>
            </a:r>
            <a:r>
              <a:rPr lang="en-US" dirty="0"/>
              <a:t>visibility allows access to objects of all other classes.</a:t>
            </a:r>
          </a:p>
          <a:p>
            <a:pPr>
              <a:defRPr/>
            </a:pPr>
            <a:r>
              <a:rPr lang="en-US" b="1" dirty="0"/>
              <a:t>Private (-) </a:t>
            </a:r>
            <a:r>
              <a:rPr lang="en-US" dirty="0"/>
              <a:t>visibility limits access to within the class itself. For example, only operations of the class have access to a private attribute.</a:t>
            </a:r>
          </a:p>
          <a:p>
            <a:pPr>
              <a:defRPr/>
            </a:pPr>
            <a:r>
              <a:rPr lang="en-US" b="1" dirty="0"/>
              <a:t>Protected (#) </a:t>
            </a:r>
            <a:r>
              <a:rPr lang="en-US" dirty="0"/>
              <a:t>visibility allows access by subclasses. In the case of </a:t>
            </a:r>
            <a:r>
              <a:rPr lang="en-US" i="1" dirty="0"/>
              <a:t>generalizations </a:t>
            </a:r>
            <a:r>
              <a:rPr lang="en-US" dirty="0"/>
              <a:t>(inheritance), subclasses must have access to the attributes and operations of the superclass, or they cannot be inherited.</a:t>
            </a:r>
          </a:p>
          <a:p>
            <a:pPr>
              <a:defRPr/>
            </a:pPr>
            <a:r>
              <a:rPr lang="en-US" b="1" dirty="0"/>
              <a:t>Package (~) </a:t>
            </a:r>
            <a:r>
              <a:rPr lang="en-US" dirty="0"/>
              <a:t>visibility allows access to other objects in the same package.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9E6B39CF-7D49-404A-A9C7-DC4AAA62C4FF}"/>
              </a:ext>
            </a:extLst>
          </p:cNvPr>
          <p:cNvSpPr>
            <a:spLocks noGrp="1"/>
          </p:cNvSpPr>
          <p:nvPr>
            <p:ph type="title"/>
          </p:nvPr>
        </p:nvSpPr>
        <p:spPr/>
        <p:txBody>
          <a:bodyPr/>
          <a:lstStyle/>
          <a:p>
            <a:r>
              <a:rPr lang="en-US" altLang="en-US"/>
              <a:t>Modeling an Attribute</a:t>
            </a:r>
          </a:p>
        </p:txBody>
      </p:sp>
      <p:sp>
        <p:nvSpPr>
          <p:cNvPr id="3" name="Content Placeholder 2">
            <a:extLst>
              <a:ext uri="{FF2B5EF4-FFF2-40B4-BE49-F238E27FC236}">
                <a16:creationId xmlns:a16="http://schemas.microsoft.com/office/drawing/2014/main" id="{FA618C67-18E4-4174-A21B-7ACD5C143E9E}"/>
              </a:ext>
            </a:extLst>
          </p:cNvPr>
          <p:cNvSpPr>
            <a:spLocks noGrp="1"/>
          </p:cNvSpPr>
          <p:nvPr>
            <p:ph idx="1"/>
          </p:nvPr>
        </p:nvSpPr>
        <p:spPr>
          <a:xfrm>
            <a:off x="609600" y="1600200"/>
            <a:ext cx="10972800" cy="4800600"/>
          </a:xfrm>
        </p:spPr>
        <p:txBody>
          <a:bodyPr>
            <a:normAutofit lnSpcReduction="10000"/>
          </a:bodyPr>
          <a:lstStyle/>
          <a:p>
            <a:pPr marL="0" indent="0" algn="ctr">
              <a:buNone/>
              <a:defRPr/>
            </a:pPr>
            <a:r>
              <a:rPr lang="en-US" sz="2400" b="1" u="sng" dirty="0"/>
              <a:t>visibility / attribute name : data type = default value {constraints}</a:t>
            </a:r>
            <a:endParaRPr lang="en-US" sz="2400" u="sng" dirty="0"/>
          </a:p>
          <a:p>
            <a:pPr marL="0" indent="0">
              <a:buNone/>
              <a:defRPr/>
            </a:pPr>
            <a:endParaRPr lang="en-US" sz="2000" b="1" u="sng" dirty="0"/>
          </a:p>
          <a:p>
            <a:pPr>
              <a:defRPr/>
            </a:pPr>
            <a:r>
              <a:rPr lang="en-US" sz="2000" b="1" dirty="0"/>
              <a:t>Visibility (+, -, #, ~): </a:t>
            </a:r>
            <a:r>
              <a:rPr lang="en-US" sz="2000" dirty="0"/>
              <a:t>Required before code generation</a:t>
            </a:r>
          </a:p>
          <a:p>
            <a:pPr>
              <a:defRPr/>
            </a:pPr>
            <a:r>
              <a:rPr lang="en-US" sz="2000" b="1" dirty="0"/>
              <a:t>Slash (/): </a:t>
            </a:r>
            <a:r>
              <a:rPr lang="en-US" sz="2000" dirty="0"/>
              <a:t>The derived attribute indicator is optional. Derived values may be computed or figured out using other data and a set of rules or formulas.</a:t>
            </a:r>
          </a:p>
          <a:p>
            <a:pPr>
              <a:defRPr/>
            </a:pPr>
            <a:r>
              <a:rPr lang="en-US" sz="2000" b="1" dirty="0"/>
              <a:t>Attribute name: </a:t>
            </a:r>
            <a:r>
              <a:rPr lang="en-US" sz="2000" dirty="0"/>
              <a:t>Required. Must be unique within the class.</a:t>
            </a:r>
          </a:p>
          <a:p>
            <a:pPr>
              <a:defRPr/>
            </a:pPr>
            <a:r>
              <a:rPr lang="en-US" sz="2000" b="1" dirty="0"/>
              <a:t>Data type: </a:t>
            </a:r>
            <a:r>
              <a:rPr lang="en-US" sz="2000" dirty="0"/>
              <a:t>Required. This is a big subject. During analysis, the data type should reflect how the client sees the data. You could think of this as the external view.</a:t>
            </a:r>
          </a:p>
          <a:p>
            <a:pPr>
              <a:defRPr/>
            </a:pPr>
            <a:r>
              <a:rPr lang="en-US" sz="2000" b="1" dirty="0"/>
              <a:t>Assignment operator and default value: </a:t>
            </a:r>
            <a:r>
              <a:rPr lang="en-US" sz="2000" dirty="0"/>
              <a:t>Optional. Default values serve two valuable purposes. First, default values can provide significant ease-of-use improvements for the client. Second and more importantly, they protect the integrity of the system from being corrupted by missing or invalid values.</a:t>
            </a:r>
          </a:p>
          <a:p>
            <a:pPr>
              <a:defRPr/>
            </a:pPr>
            <a:r>
              <a:rPr lang="en-US" sz="2000" b="1" dirty="0"/>
              <a:t>Constraints: </a:t>
            </a:r>
            <a:r>
              <a:rPr lang="en-US" sz="2000" dirty="0"/>
              <a:t>Constraints express all the rules required to be fulfilled to access this attribute.</a:t>
            </a:r>
          </a:p>
          <a:p>
            <a:pPr>
              <a:defRPr/>
            </a:pPr>
            <a:r>
              <a:rPr lang="en-US" sz="2000" b="1" dirty="0"/>
              <a:t>Class level attribute (underlined attribute declaration): </a:t>
            </a:r>
            <a:r>
              <a:rPr lang="en-US" sz="2000" dirty="0"/>
              <a:t>Optional. Denotes that all objects of the class share a single value for the attribute. (This is called a </a:t>
            </a:r>
            <a:r>
              <a:rPr lang="en-US" sz="2000" i="1" dirty="0"/>
              <a:t>static </a:t>
            </a:r>
            <a:r>
              <a:rPr lang="en-US" sz="2000" dirty="0"/>
              <a:t>value in Java.)</a:t>
            </a:r>
            <a:endParaRPr lang="en-US" sz="2000" b="1" u="sng"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6C0B6ED1-F525-483E-BD7D-A697E366D596}"/>
              </a:ext>
            </a:extLst>
          </p:cNvPr>
          <p:cNvSpPr>
            <a:spLocks noGrp="1"/>
          </p:cNvSpPr>
          <p:nvPr>
            <p:ph type="title"/>
          </p:nvPr>
        </p:nvSpPr>
        <p:spPr/>
        <p:txBody>
          <a:bodyPr/>
          <a:lstStyle/>
          <a:p>
            <a:r>
              <a:rPr lang="en-US" altLang="en-US"/>
              <a:t>Modeling an Operation</a:t>
            </a:r>
          </a:p>
        </p:txBody>
      </p:sp>
      <p:sp>
        <p:nvSpPr>
          <p:cNvPr id="3" name="Content Placeholder 2">
            <a:extLst>
              <a:ext uri="{FF2B5EF4-FFF2-40B4-BE49-F238E27FC236}">
                <a16:creationId xmlns:a16="http://schemas.microsoft.com/office/drawing/2014/main" id="{A4FB4FAA-F6C7-40D8-9351-595010330C5C}"/>
              </a:ext>
            </a:extLst>
          </p:cNvPr>
          <p:cNvSpPr>
            <a:spLocks noGrp="1"/>
          </p:cNvSpPr>
          <p:nvPr>
            <p:ph idx="1"/>
          </p:nvPr>
        </p:nvSpPr>
        <p:spPr>
          <a:xfrm>
            <a:off x="609600" y="1600200"/>
            <a:ext cx="10972800" cy="4876800"/>
          </a:xfrm>
        </p:spPr>
        <p:txBody>
          <a:bodyPr>
            <a:normAutofit fontScale="70000" lnSpcReduction="20000"/>
          </a:bodyPr>
          <a:lstStyle/>
          <a:p>
            <a:pPr marL="0" indent="0" algn="ctr">
              <a:buNone/>
              <a:defRPr/>
            </a:pPr>
            <a:r>
              <a:rPr lang="en-US" sz="3600" b="1" u="sng" dirty="0"/>
              <a:t>visibility </a:t>
            </a:r>
            <a:r>
              <a:rPr lang="en-US" sz="3600" b="1" u="sng" dirty="0" err="1"/>
              <a:t>operationName</a:t>
            </a:r>
            <a:r>
              <a:rPr lang="en-US" sz="3600" b="1" u="sng" dirty="0"/>
              <a:t> (</a:t>
            </a:r>
            <a:r>
              <a:rPr lang="en-US" sz="3600" b="1" u="sng" dirty="0" err="1"/>
              <a:t>argname</a:t>
            </a:r>
            <a:r>
              <a:rPr lang="en-US" sz="3600" b="1" u="sng" dirty="0"/>
              <a:t> : data type {constraints}, . . .) :</a:t>
            </a:r>
          </a:p>
          <a:p>
            <a:pPr marL="0" indent="0" algn="ctr">
              <a:buNone/>
              <a:defRPr/>
            </a:pPr>
            <a:r>
              <a:rPr lang="en-US" sz="3600" b="1" u="sng" dirty="0"/>
              <a:t>return data type {constraints}</a:t>
            </a:r>
            <a:endParaRPr lang="en-US" sz="5100" u="sng" dirty="0"/>
          </a:p>
          <a:p>
            <a:pPr>
              <a:defRPr/>
            </a:pPr>
            <a:r>
              <a:rPr lang="en-US" b="1" dirty="0"/>
              <a:t>Operation name: </a:t>
            </a:r>
            <a:r>
              <a:rPr lang="en-US" dirty="0"/>
              <a:t>Required.</a:t>
            </a:r>
          </a:p>
          <a:p>
            <a:pPr>
              <a:defRPr/>
            </a:pPr>
            <a:r>
              <a:rPr lang="en-US" b="1" dirty="0"/>
              <a:t>Arguments/parameters: </a:t>
            </a:r>
            <a:r>
              <a:rPr lang="en-US" dirty="0"/>
              <a:t>Any number of arguments is allowed. Each argument requires an identifier and a data type.</a:t>
            </a:r>
          </a:p>
          <a:p>
            <a:pPr>
              <a:defRPr/>
            </a:pPr>
            <a:r>
              <a:rPr lang="en-US" b="1" dirty="0"/>
              <a:t>Return data type: </a:t>
            </a:r>
            <a:r>
              <a:rPr lang="en-US" dirty="0"/>
              <a:t>Required for a return value, but return values are optional.</a:t>
            </a:r>
          </a:p>
          <a:p>
            <a:pPr>
              <a:defRPr/>
            </a:pPr>
            <a:r>
              <a:rPr lang="en-US" b="1" dirty="0"/>
              <a:t>Visibility (+, -, #, ~): </a:t>
            </a:r>
            <a:r>
              <a:rPr lang="en-US" dirty="0"/>
              <a:t>Required before code generation.</a:t>
            </a:r>
          </a:p>
          <a:p>
            <a:pPr>
              <a:defRPr/>
            </a:pPr>
            <a:r>
              <a:rPr lang="en-US" b="1" dirty="0"/>
              <a:t>Class level operation (underlined operation declaration): </a:t>
            </a:r>
            <a:r>
              <a:rPr lang="en-US" dirty="0"/>
              <a:t>Optional. Denoted as an operation accessible at the class level;</a:t>
            </a:r>
          </a:p>
          <a:p>
            <a:pPr>
              <a:defRPr/>
            </a:pPr>
            <a:r>
              <a:rPr lang="en-US" b="1" dirty="0"/>
              <a:t>Argument name: </a:t>
            </a:r>
            <a:r>
              <a:rPr lang="en-US" dirty="0"/>
              <a:t>Required for each parameter, but parameters are optional. Any number of arguments is allowed.</a:t>
            </a:r>
          </a:p>
          <a:p>
            <a:pPr>
              <a:defRPr/>
            </a:pPr>
            <a:r>
              <a:rPr lang="en-US" b="1" dirty="0"/>
              <a:t>Argument data type: </a:t>
            </a:r>
            <a:r>
              <a:rPr lang="en-US" dirty="0"/>
              <a:t>Required for each parameter, but parameters are optional.</a:t>
            </a:r>
          </a:p>
          <a:p>
            <a:pPr>
              <a:defRPr/>
            </a:pPr>
            <a:r>
              <a:rPr lang="en-US" b="1" dirty="0"/>
              <a:t>Constraints: </a:t>
            </a:r>
            <a:r>
              <a:rPr lang="en-US" dirty="0"/>
              <a:t>Optional. In general, constraints express rules that must be enforced in the execution of the operation.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7CE49E9E-A531-4399-9DE5-12C7EA2AB7CF}"/>
              </a:ext>
            </a:extLst>
          </p:cNvPr>
          <p:cNvSpPr>
            <a:spLocks noGrp="1"/>
          </p:cNvSpPr>
          <p:nvPr>
            <p:ph type="title"/>
          </p:nvPr>
        </p:nvSpPr>
        <p:spPr/>
        <p:txBody>
          <a:bodyPr/>
          <a:lstStyle/>
          <a:p>
            <a:r>
              <a:rPr lang="en-US" altLang="en-US"/>
              <a:t>Example</a:t>
            </a:r>
          </a:p>
        </p:txBody>
      </p:sp>
      <p:pic>
        <p:nvPicPr>
          <p:cNvPr id="12291" name="Picture 3">
            <a:extLst>
              <a:ext uri="{FF2B5EF4-FFF2-40B4-BE49-F238E27FC236}">
                <a16:creationId xmlns:a16="http://schemas.microsoft.com/office/drawing/2014/main" id="{5C4F34BB-A76C-45F7-BC90-E87DCC288D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633539"/>
            <a:ext cx="6330950" cy="445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2014CAE6-0550-4C2D-A5AE-03311CEC0FBE}"/>
              </a:ext>
            </a:extLst>
          </p:cNvPr>
          <p:cNvSpPr>
            <a:spLocks noGrp="1"/>
          </p:cNvSpPr>
          <p:nvPr>
            <p:ph type="title"/>
          </p:nvPr>
        </p:nvSpPr>
        <p:spPr/>
        <p:txBody>
          <a:bodyPr/>
          <a:lstStyle/>
          <a:p>
            <a:r>
              <a:rPr lang="en-US" altLang="en-US" dirty="0"/>
              <a:t>Class Design – Case Study 1</a:t>
            </a:r>
          </a:p>
        </p:txBody>
      </p:sp>
      <p:graphicFrame>
        <p:nvGraphicFramePr>
          <p:cNvPr id="7" name="Content Placeholder 6">
            <a:extLst>
              <a:ext uri="{FF2B5EF4-FFF2-40B4-BE49-F238E27FC236}">
                <a16:creationId xmlns:a16="http://schemas.microsoft.com/office/drawing/2014/main" id="{D866F379-9CFB-463E-9BFE-DFA0B95EACA5}"/>
              </a:ext>
            </a:extLst>
          </p:cNvPr>
          <p:cNvGraphicFramePr>
            <a:graphicFrameLocks noGrp="1"/>
          </p:cNvGraphicFramePr>
          <p:nvPr>
            <p:ph idx="1"/>
          </p:nvPr>
        </p:nvGraphicFramePr>
        <p:xfrm>
          <a:off x="2544764" y="2193925"/>
          <a:ext cx="6224587" cy="1463676"/>
        </p:xfrm>
        <a:graphic>
          <a:graphicData uri="http://schemas.openxmlformats.org/drawingml/2006/table">
            <a:tbl>
              <a:tblPr firstRow="1" firstCol="1" bandRow="1">
                <a:tableStyleId>{616DA210-FB5B-4158-B5E0-FEB733F419BA}</a:tableStyleId>
              </a:tblPr>
              <a:tblGrid>
                <a:gridCol w="1475020">
                  <a:extLst>
                    <a:ext uri="{9D8B030D-6E8A-4147-A177-3AD203B41FA5}">
                      <a16:colId xmlns:a16="http://schemas.microsoft.com/office/drawing/2014/main" val="2205110552"/>
                    </a:ext>
                  </a:extLst>
                </a:gridCol>
                <a:gridCol w="980574">
                  <a:extLst>
                    <a:ext uri="{9D8B030D-6E8A-4147-A177-3AD203B41FA5}">
                      <a16:colId xmlns:a16="http://schemas.microsoft.com/office/drawing/2014/main" val="4069167778"/>
                    </a:ext>
                  </a:extLst>
                </a:gridCol>
                <a:gridCol w="1200235">
                  <a:extLst>
                    <a:ext uri="{9D8B030D-6E8A-4147-A177-3AD203B41FA5}">
                      <a16:colId xmlns:a16="http://schemas.microsoft.com/office/drawing/2014/main" val="2146891154"/>
                    </a:ext>
                  </a:extLst>
                </a:gridCol>
                <a:gridCol w="2568758">
                  <a:extLst>
                    <a:ext uri="{9D8B030D-6E8A-4147-A177-3AD203B41FA5}">
                      <a16:colId xmlns:a16="http://schemas.microsoft.com/office/drawing/2014/main" val="1378696570"/>
                    </a:ext>
                  </a:extLst>
                </a:gridCol>
              </a:tblGrid>
              <a:tr h="243946">
                <a:tc>
                  <a:txBody>
                    <a:bodyPr/>
                    <a:lstStyle/>
                    <a:p>
                      <a:pPr marL="0" marR="0">
                        <a:spcBef>
                          <a:spcPts val="0"/>
                        </a:spcBef>
                        <a:spcAft>
                          <a:spcPts val="0"/>
                        </a:spcAft>
                      </a:pPr>
                      <a:r>
                        <a:rPr lang="en-US" sz="1600" dirty="0">
                          <a:effectLst/>
                        </a:rPr>
                        <a:t>Name</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Data type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dirty="0">
                          <a:effectLst/>
                        </a:rPr>
                        <a:t>Visibility</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Remarks</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extLst>
                  <a:ext uri="{0D108BD9-81ED-4DB2-BD59-A6C34878D82A}">
                    <a16:rowId xmlns:a16="http://schemas.microsoft.com/office/drawing/2014/main" val="103144743"/>
                  </a:ext>
                </a:extLst>
              </a:tr>
              <a:tr h="243946">
                <a:tc>
                  <a:txBody>
                    <a:bodyPr/>
                    <a:lstStyle/>
                    <a:p>
                      <a:pPr marL="0" marR="0">
                        <a:spcBef>
                          <a:spcPts val="0"/>
                        </a:spcBef>
                        <a:spcAft>
                          <a:spcPts val="0"/>
                        </a:spcAft>
                      </a:pPr>
                      <a:r>
                        <a:rPr lang="en-US" sz="1600">
                          <a:effectLst/>
                        </a:rPr>
                        <a:t>studentID</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Integer</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Private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Assigned by system</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extLst>
                  <a:ext uri="{0D108BD9-81ED-4DB2-BD59-A6C34878D82A}">
                    <a16:rowId xmlns:a16="http://schemas.microsoft.com/office/drawing/2014/main" val="1126696308"/>
                  </a:ext>
                </a:extLst>
              </a:tr>
              <a:tr h="243946">
                <a:tc>
                  <a:txBody>
                    <a:bodyPr/>
                    <a:lstStyle/>
                    <a:p>
                      <a:pPr marL="0" marR="0">
                        <a:spcBef>
                          <a:spcPts val="0"/>
                        </a:spcBef>
                        <a:spcAft>
                          <a:spcPts val="0"/>
                        </a:spcAft>
                      </a:pPr>
                      <a:r>
                        <a:rPr lang="en-US" sz="1600">
                          <a:effectLst/>
                        </a:rPr>
                        <a:t>studentName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String</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Private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dirty="0">
                          <a:effectLst/>
                        </a:rPr>
                        <a:t>Maximum 30 characters long</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extLst>
                  <a:ext uri="{0D108BD9-81ED-4DB2-BD59-A6C34878D82A}">
                    <a16:rowId xmlns:a16="http://schemas.microsoft.com/office/drawing/2014/main" val="3380004119"/>
                  </a:ext>
                </a:extLst>
              </a:tr>
              <a:tr h="243946">
                <a:tc>
                  <a:txBody>
                    <a:bodyPr/>
                    <a:lstStyle/>
                    <a:p>
                      <a:pPr marL="0" marR="0">
                        <a:spcBef>
                          <a:spcPts val="0"/>
                        </a:spcBef>
                        <a:spcAft>
                          <a:spcPts val="0"/>
                        </a:spcAft>
                      </a:pPr>
                      <a:r>
                        <a:rPr lang="en-US" sz="1600">
                          <a:effectLst/>
                        </a:rPr>
                        <a:t>studentAddress</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dirty="0">
                          <a:effectLst/>
                        </a:rPr>
                        <a:t>String</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Private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extLst>
                  <a:ext uri="{0D108BD9-81ED-4DB2-BD59-A6C34878D82A}">
                    <a16:rowId xmlns:a16="http://schemas.microsoft.com/office/drawing/2014/main" val="4040994510"/>
                  </a:ext>
                </a:extLst>
              </a:tr>
              <a:tr h="243946">
                <a:tc>
                  <a:txBody>
                    <a:bodyPr/>
                    <a:lstStyle/>
                    <a:p>
                      <a:pPr marL="0" marR="0">
                        <a:spcBef>
                          <a:spcPts val="0"/>
                        </a:spcBef>
                        <a:spcAft>
                          <a:spcPts val="0"/>
                        </a:spcAft>
                      </a:pPr>
                      <a:r>
                        <a:rPr lang="en-US" sz="1600">
                          <a:effectLst/>
                        </a:rPr>
                        <a:t>CGPA</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Real</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Private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Calculated from grades</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extLst>
                  <a:ext uri="{0D108BD9-81ED-4DB2-BD59-A6C34878D82A}">
                    <a16:rowId xmlns:a16="http://schemas.microsoft.com/office/drawing/2014/main" val="1541808740"/>
                  </a:ext>
                </a:extLst>
              </a:tr>
              <a:tr h="243946">
                <a:tc>
                  <a:txBody>
                    <a:bodyPr/>
                    <a:lstStyle/>
                    <a:p>
                      <a:pPr marL="0" marR="0">
                        <a:spcBef>
                          <a:spcPts val="0"/>
                        </a:spcBef>
                        <a:spcAft>
                          <a:spcPts val="0"/>
                        </a:spcAft>
                      </a:pPr>
                      <a:r>
                        <a:rPr lang="en-US" sz="1600" dirty="0">
                          <a:effectLst/>
                        </a:rPr>
                        <a:t>Notice</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String</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dirty="0">
                          <a:effectLst/>
                        </a:rPr>
                        <a:t>Private</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dirty="0">
                          <a:effectLst/>
                        </a:rPr>
                        <a:t>Static</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extLst>
                  <a:ext uri="{0D108BD9-81ED-4DB2-BD59-A6C34878D82A}">
                    <a16:rowId xmlns:a16="http://schemas.microsoft.com/office/drawing/2014/main" val="3963370360"/>
                  </a:ext>
                </a:extLst>
              </a:tr>
            </a:tbl>
          </a:graphicData>
        </a:graphic>
      </p:graphicFrame>
      <p:graphicFrame>
        <p:nvGraphicFramePr>
          <p:cNvPr id="8" name="Table 7">
            <a:extLst>
              <a:ext uri="{FF2B5EF4-FFF2-40B4-BE49-F238E27FC236}">
                <a16:creationId xmlns:a16="http://schemas.microsoft.com/office/drawing/2014/main" id="{062E36C4-A7FA-437A-8254-6B2888B848B1}"/>
              </a:ext>
            </a:extLst>
          </p:cNvPr>
          <p:cNvGraphicFramePr>
            <a:graphicFrameLocks noGrp="1"/>
          </p:cNvGraphicFramePr>
          <p:nvPr/>
        </p:nvGraphicFramePr>
        <p:xfrm>
          <a:off x="2560639" y="4286250"/>
          <a:ext cx="7394575" cy="1463676"/>
        </p:xfrm>
        <a:graphic>
          <a:graphicData uri="http://schemas.openxmlformats.org/drawingml/2006/table">
            <a:tbl>
              <a:tblPr firstRow="1" firstCol="1" bandRow="1">
                <a:tableStyleId>{616DA210-FB5B-4158-B5E0-FEB733F419BA}</a:tableStyleId>
              </a:tblPr>
              <a:tblGrid>
                <a:gridCol w="1753739">
                  <a:extLst>
                    <a:ext uri="{9D8B030D-6E8A-4147-A177-3AD203B41FA5}">
                      <a16:colId xmlns:a16="http://schemas.microsoft.com/office/drawing/2014/main" val="1170231056"/>
                    </a:ext>
                  </a:extLst>
                </a:gridCol>
                <a:gridCol w="2227812">
                  <a:extLst>
                    <a:ext uri="{9D8B030D-6E8A-4147-A177-3AD203B41FA5}">
                      <a16:colId xmlns:a16="http://schemas.microsoft.com/office/drawing/2014/main" val="792448190"/>
                    </a:ext>
                  </a:extLst>
                </a:gridCol>
                <a:gridCol w="851502">
                  <a:extLst>
                    <a:ext uri="{9D8B030D-6E8A-4147-A177-3AD203B41FA5}">
                      <a16:colId xmlns:a16="http://schemas.microsoft.com/office/drawing/2014/main" val="3793672382"/>
                    </a:ext>
                  </a:extLst>
                </a:gridCol>
                <a:gridCol w="1554103">
                  <a:extLst>
                    <a:ext uri="{9D8B030D-6E8A-4147-A177-3AD203B41FA5}">
                      <a16:colId xmlns:a16="http://schemas.microsoft.com/office/drawing/2014/main" val="3014481753"/>
                    </a:ext>
                  </a:extLst>
                </a:gridCol>
                <a:gridCol w="1007419">
                  <a:extLst>
                    <a:ext uri="{9D8B030D-6E8A-4147-A177-3AD203B41FA5}">
                      <a16:colId xmlns:a16="http://schemas.microsoft.com/office/drawing/2014/main" val="2463778013"/>
                    </a:ext>
                  </a:extLst>
                </a:gridCol>
              </a:tblGrid>
              <a:tr h="243946">
                <a:tc>
                  <a:txBody>
                    <a:bodyPr/>
                    <a:lstStyle/>
                    <a:p>
                      <a:pPr marL="0" marR="0">
                        <a:spcBef>
                          <a:spcPts val="0"/>
                        </a:spcBef>
                        <a:spcAft>
                          <a:spcPts val="0"/>
                        </a:spcAft>
                      </a:pPr>
                      <a:r>
                        <a:rPr lang="en-US" sz="1600" dirty="0">
                          <a:effectLst/>
                        </a:rPr>
                        <a:t>Name</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Arguments</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visibility</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Return datatype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dirty="0">
                          <a:effectLst/>
                        </a:rPr>
                        <a:t>Remarks</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extLst>
                  <a:ext uri="{0D108BD9-81ED-4DB2-BD59-A6C34878D82A}">
                    <a16:rowId xmlns:a16="http://schemas.microsoft.com/office/drawing/2014/main" val="1357621993"/>
                  </a:ext>
                </a:extLst>
              </a:tr>
              <a:tr h="243946">
                <a:tc>
                  <a:txBody>
                    <a:bodyPr/>
                    <a:lstStyle/>
                    <a:p>
                      <a:pPr marL="0" marR="0">
                        <a:spcBef>
                          <a:spcPts val="0"/>
                        </a:spcBef>
                        <a:spcAft>
                          <a:spcPts val="0"/>
                        </a:spcAft>
                      </a:pPr>
                      <a:r>
                        <a:rPr lang="en-US" sz="1600">
                          <a:effectLst/>
                        </a:rPr>
                        <a:t>getStudentID</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Public</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Integer</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extLst>
                  <a:ext uri="{0D108BD9-81ED-4DB2-BD59-A6C34878D82A}">
                    <a16:rowId xmlns:a16="http://schemas.microsoft.com/office/drawing/2014/main" val="1494002958"/>
                  </a:ext>
                </a:extLst>
              </a:tr>
              <a:tr h="243946">
                <a:tc>
                  <a:txBody>
                    <a:bodyPr/>
                    <a:lstStyle/>
                    <a:p>
                      <a:pPr marL="0" marR="0">
                        <a:spcBef>
                          <a:spcPts val="0"/>
                        </a:spcBef>
                        <a:spcAft>
                          <a:spcPts val="0"/>
                        </a:spcAft>
                      </a:pPr>
                      <a:r>
                        <a:rPr lang="en-US" sz="1600">
                          <a:effectLst/>
                        </a:rPr>
                        <a:t>setStudentName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Name (Data Type: string)</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Public</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extLst>
                  <a:ext uri="{0D108BD9-81ED-4DB2-BD59-A6C34878D82A}">
                    <a16:rowId xmlns:a16="http://schemas.microsoft.com/office/drawing/2014/main" val="2870256772"/>
                  </a:ext>
                </a:extLst>
              </a:tr>
              <a:tr h="243946">
                <a:tc>
                  <a:txBody>
                    <a:bodyPr/>
                    <a:lstStyle/>
                    <a:p>
                      <a:pPr marL="0" marR="0">
                        <a:spcBef>
                          <a:spcPts val="0"/>
                        </a:spcBef>
                        <a:spcAft>
                          <a:spcPts val="0"/>
                        </a:spcAft>
                      </a:pPr>
                      <a:r>
                        <a:rPr lang="en-US" sz="1600">
                          <a:effectLst/>
                        </a:rPr>
                        <a:t>getStudentAddress</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Public</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String</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extLst>
                  <a:ext uri="{0D108BD9-81ED-4DB2-BD59-A6C34878D82A}">
                    <a16:rowId xmlns:a16="http://schemas.microsoft.com/office/drawing/2014/main" val="2096599667"/>
                  </a:ext>
                </a:extLst>
              </a:tr>
              <a:tr h="243946">
                <a:tc>
                  <a:txBody>
                    <a:bodyPr/>
                    <a:lstStyle/>
                    <a:p>
                      <a:pPr marL="0" marR="0">
                        <a:spcBef>
                          <a:spcPts val="0"/>
                        </a:spcBef>
                        <a:spcAft>
                          <a:spcPts val="0"/>
                        </a:spcAft>
                      </a:pPr>
                      <a:r>
                        <a:rPr lang="en-US" sz="1600">
                          <a:effectLst/>
                        </a:rPr>
                        <a:t>getCGPA</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Public</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Real</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extLst>
                  <a:ext uri="{0D108BD9-81ED-4DB2-BD59-A6C34878D82A}">
                    <a16:rowId xmlns:a16="http://schemas.microsoft.com/office/drawing/2014/main" val="831055593"/>
                  </a:ext>
                </a:extLst>
              </a:tr>
              <a:tr h="243946">
                <a:tc>
                  <a:txBody>
                    <a:bodyPr/>
                    <a:lstStyle/>
                    <a:p>
                      <a:pPr marL="0" marR="0">
                        <a:spcBef>
                          <a:spcPts val="0"/>
                        </a:spcBef>
                        <a:spcAft>
                          <a:spcPts val="0"/>
                        </a:spcAft>
                      </a:pPr>
                      <a:r>
                        <a:rPr lang="en-US" sz="1600">
                          <a:effectLst/>
                        </a:rPr>
                        <a:t>setNotice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Note (Data Type: String)</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Public</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extLst>
                  <a:ext uri="{0D108BD9-81ED-4DB2-BD59-A6C34878D82A}">
                    <a16:rowId xmlns:a16="http://schemas.microsoft.com/office/drawing/2014/main" val="3010336592"/>
                  </a:ext>
                </a:extLst>
              </a:tr>
            </a:tbl>
          </a:graphicData>
        </a:graphic>
      </p:graphicFrame>
      <p:sp>
        <p:nvSpPr>
          <p:cNvPr id="13396" name="Rectangle 2">
            <a:extLst>
              <a:ext uri="{FF2B5EF4-FFF2-40B4-BE49-F238E27FC236}">
                <a16:creationId xmlns:a16="http://schemas.microsoft.com/office/drawing/2014/main" id="{0C7DDE42-81E4-42E9-9556-A1BEA86972A4}"/>
              </a:ext>
            </a:extLst>
          </p:cNvPr>
          <p:cNvSpPr>
            <a:spLocks noChangeArrowheads="1"/>
          </p:cNvSpPr>
          <p:nvPr/>
        </p:nvSpPr>
        <p:spPr bwMode="auto">
          <a:xfrm>
            <a:off x="2514600" y="1428750"/>
            <a:ext cx="30353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ea typeface="Calibri" panose="020F0502020204030204" pitchFamily="34" charset="0"/>
                <a:cs typeface="Vrinda" panose="020B0502040204020203" pitchFamily="34" charset="0"/>
              </a:rPr>
              <a:t>Name of the class: Student</a:t>
            </a:r>
            <a:endParaRPr lang="en-US" altLang="en-US" sz="2000" b="1">
              <a:latin typeface="Arial" panose="020B0604020202020204" pitchFamily="34" charset="0"/>
              <a:ea typeface="Calibri" panose="020F0502020204030204" pitchFamily="34" charset="0"/>
              <a:cs typeface="Vrinda" panose="020B0502040204020203" pitchFamily="34" charset="0"/>
            </a:endParaRPr>
          </a:p>
        </p:txBody>
      </p:sp>
      <p:sp>
        <p:nvSpPr>
          <p:cNvPr id="13397" name="Rectangle 2">
            <a:extLst>
              <a:ext uri="{FF2B5EF4-FFF2-40B4-BE49-F238E27FC236}">
                <a16:creationId xmlns:a16="http://schemas.microsoft.com/office/drawing/2014/main" id="{C4EDCCFC-711D-430F-8A24-43A04991C169}"/>
              </a:ext>
            </a:extLst>
          </p:cNvPr>
          <p:cNvSpPr>
            <a:spLocks noChangeArrowheads="1"/>
          </p:cNvSpPr>
          <p:nvPr/>
        </p:nvSpPr>
        <p:spPr bwMode="auto">
          <a:xfrm>
            <a:off x="2514600" y="1828800"/>
            <a:ext cx="12525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ea typeface="Calibri" panose="020F0502020204030204" pitchFamily="34" charset="0"/>
                <a:cs typeface="Vrinda" panose="020B0502040204020203" pitchFamily="34" charset="0"/>
              </a:rPr>
              <a:t>Attributes</a:t>
            </a:r>
            <a:endParaRPr lang="en-US" altLang="en-US" sz="2000" b="1">
              <a:latin typeface="Arial" panose="020B0604020202020204" pitchFamily="34" charset="0"/>
              <a:ea typeface="Calibri" panose="020F0502020204030204" pitchFamily="34" charset="0"/>
              <a:cs typeface="Vrinda" panose="020B0502040204020203" pitchFamily="34" charset="0"/>
            </a:endParaRPr>
          </a:p>
        </p:txBody>
      </p:sp>
      <p:sp>
        <p:nvSpPr>
          <p:cNvPr id="13398" name="Rectangle 2">
            <a:extLst>
              <a:ext uri="{FF2B5EF4-FFF2-40B4-BE49-F238E27FC236}">
                <a16:creationId xmlns:a16="http://schemas.microsoft.com/office/drawing/2014/main" id="{62C561BC-F776-41DE-86FA-9CD0C70A9960}"/>
              </a:ext>
            </a:extLst>
          </p:cNvPr>
          <p:cNvSpPr>
            <a:spLocks noChangeArrowheads="1"/>
          </p:cNvSpPr>
          <p:nvPr/>
        </p:nvSpPr>
        <p:spPr bwMode="auto">
          <a:xfrm>
            <a:off x="2514600" y="3886200"/>
            <a:ext cx="13652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ea typeface="Calibri" panose="020F0502020204030204" pitchFamily="34" charset="0"/>
                <a:cs typeface="Vrinda" panose="020B0502040204020203" pitchFamily="34" charset="0"/>
              </a:rPr>
              <a:t>Operations</a:t>
            </a:r>
            <a:endParaRPr lang="en-US" altLang="en-US" sz="2000" b="1">
              <a:latin typeface="Arial" panose="020B0604020202020204" pitchFamily="34" charset="0"/>
              <a:ea typeface="Calibri" panose="020F0502020204030204" pitchFamily="34" charset="0"/>
              <a:cs typeface="Vrinda" panose="020B05020402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5B80B-7605-4A05-B9DD-BACA429DAC24}"/>
              </a:ext>
            </a:extLst>
          </p:cNvPr>
          <p:cNvSpPr>
            <a:spLocks noGrp="1"/>
          </p:cNvSpPr>
          <p:nvPr>
            <p:ph type="title"/>
          </p:nvPr>
        </p:nvSpPr>
        <p:spPr/>
        <p:txBody>
          <a:bodyPr/>
          <a:lstStyle/>
          <a:p>
            <a:r>
              <a:rPr lang="en-US" altLang="en-US" sz="3600" dirty="0"/>
              <a:t>Class Design – Case Study 1: Solution</a:t>
            </a:r>
            <a:endParaRPr lang="en-US" sz="3600" dirty="0"/>
          </a:p>
        </p:txBody>
      </p:sp>
      <p:sp>
        <p:nvSpPr>
          <p:cNvPr id="4" name="Rectangle 3">
            <a:extLst>
              <a:ext uri="{FF2B5EF4-FFF2-40B4-BE49-F238E27FC236}">
                <a16:creationId xmlns:a16="http://schemas.microsoft.com/office/drawing/2014/main" id="{C2F601B5-79F8-4A98-B915-8BB1154D4BF9}"/>
              </a:ext>
            </a:extLst>
          </p:cNvPr>
          <p:cNvSpPr/>
          <p:nvPr/>
        </p:nvSpPr>
        <p:spPr>
          <a:xfrm>
            <a:off x="3581402" y="1828800"/>
            <a:ext cx="5181599" cy="6945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Student</a:t>
            </a:r>
          </a:p>
        </p:txBody>
      </p:sp>
      <p:sp>
        <p:nvSpPr>
          <p:cNvPr id="5" name="Rectangle 4">
            <a:extLst>
              <a:ext uri="{FF2B5EF4-FFF2-40B4-BE49-F238E27FC236}">
                <a16:creationId xmlns:a16="http://schemas.microsoft.com/office/drawing/2014/main" id="{F9D7DDDC-9F5F-4322-889A-A95D6048F672}"/>
              </a:ext>
            </a:extLst>
          </p:cNvPr>
          <p:cNvSpPr/>
          <p:nvPr/>
        </p:nvSpPr>
        <p:spPr>
          <a:xfrm>
            <a:off x="3581402" y="2514600"/>
            <a:ext cx="5181599" cy="1676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 </a:t>
            </a:r>
            <a:r>
              <a:rPr lang="en-US" sz="2000" dirty="0" err="1">
                <a:solidFill>
                  <a:schemeClr val="tx1"/>
                </a:solidFill>
              </a:rPr>
              <a:t>studentID</a:t>
            </a:r>
            <a:r>
              <a:rPr lang="en-US" sz="2000" dirty="0">
                <a:solidFill>
                  <a:schemeClr val="tx1"/>
                </a:solidFill>
              </a:rPr>
              <a:t>: integer {assigned by system}</a:t>
            </a:r>
          </a:p>
          <a:p>
            <a:r>
              <a:rPr lang="en-US" sz="2000" dirty="0">
                <a:solidFill>
                  <a:schemeClr val="tx1"/>
                </a:solidFill>
              </a:rPr>
              <a:t>- </a:t>
            </a:r>
            <a:r>
              <a:rPr lang="en-US" sz="2000" dirty="0" err="1">
                <a:solidFill>
                  <a:schemeClr val="tx1"/>
                </a:solidFill>
              </a:rPr>
              <a:t>studentName</a:t>
            </a:r>
            <a:r>
              <a:rPr lang="en-US" sz="2000" dirty="0">
                <a:solidFill>
                  <a:schemeClr val="tx1"/>
                </a:solidFill>
              </a:rPr>
              <a:t>: String {Maximum 30 characters}</a:t>
            </a:r>
          </a:p>
          <a:p>
            <a:r>
              <a:rPr lang="en-US" sz="2000" dirty="0">
                <a:solidFill>
                  <a:schemeClr val="tx1"/>
                </a:solidFill>
              </a:rPr>
              <a:t>- </a:t>
            </a:r>
            <a:r>
              <a:rPr lang="en-US" sz="2000" dirty="0" err="1">
                <a:solidFill>
                  <a:schemeClr val="tx1"/>
                </a:solidFill>
              </a:rPr>
              <a:t>studentAddress</a:t>
            </a:r>
            <a:r>
              <a:rPr lang="en-US" sz="2000" dirty="0">
                <a:solidFill>
                  <a:schemeClr val="tx1"/>
                </a:solidFill>
              </a:rPr>
              <a:t>: String</a:t>
            </a:r>
          </a:p>
          <a:p>
            <a:r>
              <a:rPr lang="en-US" sz="2000" dirty="0">
                <a:solidFill>
                  <a:schemeClr val="tx1"/>
                </a:solidFill>
              </a:rPr>
              <a:t>- /CGPA: Real</a:t>
            </a:r>
          </a:p>
          <a:p>
            <a:r>
              <a:rPr lang="en-US" sz="2000" u="sng" dirty="0">
                <a:solidFill>
                  <a:schemeClr val="tx1"/>
                </a:solidFill>
              </a:rPr>
              <a:t>- Notice: String</a:t>
            </a:r>
          </a:p>
        </p:txBody>
      </p:sp>
      <p:sp>
        <p:nvSpPr>
          <p:cNvPr id="6" name="Rectangle 5">
            <a:extLst>
              <a:ext uri="{FF2B5EF4-FFF2-40B4-BE49-F238E27FC236}">
                <a16:creationId xmlns:a16="http://schemas.microsoft.com/office/drawing/2014/main" id="{1E5E2822-7885-4BE2-8355-133CE0C0EA19}"/>
              </a:ext>
            </a:extLst>
          </p:cNvPr>
          <p:cNvSpPr/>
          <p:nvPr/>
        </p:nvSpPr>
        <p:spPr>
          <a:xfrm>
            <a:off x="3581401" y="4191000"/>
            <a:ext cx="5181599" cy="1676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 </a:t>
            </a:r>
            <a:r>
              <a:rPr lang="en-US" sz="2000" dirty="0" err="1">
                <a:solidFill>
                  <a:schemeClr val="tx1"/>
                </a:solidFill>
              </a:rPr>
              <a:t>getStudentID</a:t>
            </a:r>
            <a:r>
              <a:rPr lang="en-US" sz="2000" dirty="0">
                <a:solidFill>
                  <a:schemeClr val="tx1"/>
                </a:solidFill>
              </a:rPr>
              <a:t> ( ): integer</a:t>
            </a:r>
          </a:p>
          <a:p>
            <a:r>
              <a:rPr lang="en-US" sz="2000" dirty="0">
                <a:solidFill>
                  <a:schemeClr val="tx1"/>
                </a:solidFill>
              </a:rPr>
              <a:t>+ </a:t>
            </a:r>
            <a:r>
              <a:rPr lang="en-US" sz="2000" dirty="0" err="1">
                <a:solidFill>
                  <a:schemeClr val="tx1"/>
                </a:solidFill>
              </a:rPr>
              <a:t>setStudentName</a:t>
            </a:r>
            <a:r>
              <a:rPr lang="en-US" sz="2000" dirty="0">
                <a:solidFill>
                  <a:schemeClr val="tx1"/>
                </a:solidFill>
              </a:rPr>
              <a:t> (Name : String)</a:t>
            </a:r>
          </a:p>
          <a:p>
            <a:r>
              <a:rPr lang="en-US" sz="2000" dirty="0">
                <a:solidFill>
                  <a:schemeClr val="tx1"/>
                </a:solidFill>
              </a:rPr>
              <a:t>+ </a:t>
            </a:r>
            <a:r>
              <a:rPr lang="en-US" sz="2000" dirty="0" err="1">
                <a:solidFill>
                  <a:schemeClr val="tx1"/>
                </a:solidFill>
              </a:rPr>
              <a:t>getStudentAddress</a:t>
            </a:r>
            <a:r>
              <a:rPr lang="en-US" sz="2000" dirty="0">
                <a:solidFill>
                  <a:schemeClr val="tx1"/>
                </a:solidFill>
              </a:rPr>
              <a:t> ( ): String</a:t>
            </a:r>
          </a:p>
          <a:p>
            <a:r>
              <a:rPr lang="en-US" sz="2000" dirty="0">
                <a:solidFill>
                  <a:schemeClr val="tx1"/>
                </a:solidFill>
              </a:rPr>
              <a:t>+ </a:t>
            </a:r>
            <a:r>
              <a:rPr lang="en-US" sz="2000" dirty="0" err="1">
                <a:solidFill>
                  <a:schemeClr val="tx1"/>
                </a:solidFill>
              </a:rPr>
              <a:t>getCGPA</a:t>
            </a:r>
            <a:r>
              <a:rPr lang="en-US" sz="2000" dirty="0">
                <a:solidFill>
                  <a:schemeClr val="tx1"/>
                </a:solidFill>
              </a:rPr>
              <a:t> ( ): Real</a:t>
            </a:r>
          </a:p>
          <a:p>
            <a:r>
              <a:rPr lang="en-US" sz="2000" dirty="0">
                <a:solidFill>
                  <a:schemeClr val="tx1"/>
                </a:solidFill>
              </a:rPr>
              <a:t>+ </a:t>
            </a:r>
            <a:r>
              <a:rPr lang="en-US" sz="2000" dirty="0" err="1">
                <a:solidFill>
                  <a:schemeClr val="tx1"/>
                </a:solidFill>
              </a:rPr>
              <a:t>setNotice</a:t>
            </a:r>
            <a:r>
              <a:rPr lang="en-US" sz="2000" dirty="0">
                <a:solidFill>
                  <a:schemeClr val="tx1"/>
                </a:solidFill>
              </a:rPr>
              <a:t> (Note: String)</a:t>
            </a:r>
          </a:p>
        </p:txBody>
      </p:sp>
    </p:spTree>
    <p:extLst>
      <p:ext uri="{BB962C8B-B14F-4D97-AF65-F5344CB8AC3E}">
        <p14:creationId xmlns:p14="http://schemas.microsoft.com/office/powerpoint/2010/main" val="1567511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2014CAE6-0550-4C2D-A5AE-03311CEC0FBE}"/>
              </a:ext>
            </a:extLst>
          </p:cNvPr>
          <p:cNvSpPr>
            <a:spLocks noGrp="1"/>
          </p:cNvSpPr>
          <p:nvPr>
            <p:ph type="title"/>
          </p:nvPr>
        </p:nvSpPr>
        <p:spPr/>
        <p:txBody>
          <a:bodyPr/>
          <a:lstStyle/>
          <a:p>
            <a:r>
              <a:rPr lang="en-US" altLang="en-US" sz="3600" dirty="0"/>
              <a:t>Class Design – Case Study 2: Practice</a:t>
            </a:r>
          </a:p>
        </p:txBody>
      </p:sp>
      <p:graphicFrame>
        <p:nvGraphicFramePr>
          <p:cNvPr id="7" name="Content Placeholder 6">
            <a:extLst>
              <a:ext uri="{FF2B5EF4-FFF2-40B4-BE49-F238E27FC236}">
                <a16:creationId xmlns:a16="http://schemas.microsoft.com/office/drawing/2014/main" id="{D866F379-9CFB-463E-9BFE-DFA0B95EACA5}"/>
              </a:ext>
            </a:extLst>
          </p:cNvPr>
          <p:cNvGraphicFramePr>
            <a:graphicFrameLocks noGrp="1"/>
          </p:cNvGraphicFramePr>
          <p:nvPr>
            <p:ph idx="1"/>
          </p:nvPr>
        </p:nvGraphicFramePr>
        <p:xfrm>
          <a:off x="2544764" y="2517669"/>
          <a:ext cx="6224587" cy="1511300"/>
        </p:xfrm>
        <a:graphic>
          <a:graphicData uri="http://schemas.openxmlformats.org/drawingml/2006/table">
            <a:tbl>
              <a:tblPr firstRow="1" firstCol="1" bandRow="1">
                <a:tableStyleId>{616DA210-FB5B-4158-B5E0-FEB733F419BA}</a:tableStyleId>
              </a:tblPr>
              <a:tblGrid>
                <a:gridCol w="1475020">
                  <a:extLst>
                    <a:ext uri="{9D8B030D-6E8A-4147-A177-3AD203B41FA5}">
                      <a16:colId xmlns:a16="http://schemas.microsoft.com/office/drawing/2014/main" val="2205110552"/>
                    </a:ext>
                  </a:extLst>
                </a:gridCol>
                <a:gridCol w="980574">
                  <a:extLst>
                    <a:ext uri="{9D8B030D-6E8A-4147-A177-3AD203B41FA5}">
                      <a16:colId xmlns:a16="http://schemas.microsoft.com/office/drawing/2014/main" val="4069167778"/>
                    </a:ext>
                  </a:extLst>
                </a:gridCol>
                <a:gridCol w="1200235">
                  <a:extLst>
                    <a:ext uri="{9D8B030D-6E8A-4147-A177-3AD203B41FA5}">
                      <a16:colId xmlns:a16="http://schemas.microsoft.com/office/drawing/2014/main" val="2146891154"/>
                    </a:ext>
                  </a:extLst>
                </a:gridCol>
                <a:gridCol w="2568758">
                  <a:extLst>
                    <a:ext uri="{9D8B030D-6E8A-4147-A177-3AD203B41FA5}">
                      <a16:colId xmlns:a16="http://schemas.microsoft.com/office/drawing/2014/main" val="1378696570"/>
                    </a:ext>
                  </a:extLst>
                </a:gridCol>
              </a:tblGrid>
              <a:tr h="244475">
                <a:tc>
                  <a:txBody>
                    <a:bodyPr/>
                    <a:lstStyle/>
                    <a:p>
                      <a:pPr marL="0" marR="0">
                        <a:spcBef>
                          <a:spcPts val="0"/>
                        </a:spcBef>
                        <a:spcAft>
                          <a:spcPts val="0"/>
                        </a:spcAft>
                      </a:pPr>
                      <a:r>
                        <a:rPr lang="en-US" sz="1600" dirty="0">
                          <a:effectLst/>
                        </a:rPr>
                        <a:t>Name</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a:effectLst/>
                        </a:rPr>
                        <a:t>Data type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dirty="0">
                          <a:effectLst/>
                        </a:rPr>
                        <a:t>Visibility</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tc>
                  <a:txBody>
                    <a:bodyPr/>
                    <a:lstStyle/>
                    <a:p>
                      <a:pPr marL="0" marR="0">
                        <a:spcBef>
                          <a:spcPts val="0"/>
                        </a:spcBef>
                        <a:spcAft>
                          <a:spcPts val="0"/>
                        </a:spcAft>
                      </a:pPr>
                      <a:r>
                        <a:rPr lang="en-US" sz="1600" dirty="0">
                          <a:effectLst/>
                        </a:rPr>
                        <a:t>Remarks</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5" marR="68585" marT="0" marB="0"/>
                </a:tc>
                <a:extLst>
                  <a:ext uri="{0D108BD9-81ED-4DB2-BD59-A6C34878D82A}">
                    <a16:rowId xmlns:a16="http://schemas.microsoft.com/office/drawing/2014/main" val="103144743"/>
                  </a:ext>
                </a:extLst>
              </a:tr>
              <a:tr h="243946">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Emp</a:t>
                      </a: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ID</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Integer</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Private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endParaRPr lang="en-US" sz="1600">
                        <a:effectLst/>
                        <a:latin typeface="Calibri" panose="020F0502020204030204" pitchFamily="34" charset="0"/>
                        <a:cs typeface="Vrinda" panose="020B0502040204020203" pitchFamily="34" charset="0"/>
                      </a:endParaRPr>
                    </a:p>
                  </a:txBody>
                  <a:tcPr marL="68580" marR="68580" marT="9525" marB="0"/>
                </a:tc>
                <a:extLst>
                  <a:ext uri="{0D108BD9-81ED-4DB2-BD59-A6C34878D82A}">
                    <a16:rowId xmlns:a16="http://schemas.microsoft.com/office/drawing/2014/main" val="1126696308"/>
                  </a:ext>
                </a:extLst>
              </a:tr>
              <a:tr h="243946">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EmpName</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String</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Private</a:t>
                      </a:r>
                    </a:p>
                  </a:txBody>
                  <a:tcPr marL="68580" marR="68580" marT="9525" marB="0"/>
                </a:tc>
                <a:tc>
                  <a:txBody>
                    <a:bodyPr/>
                    <a:lstStyle/>
                    <a:p>
                      <a:endParaRPr lang="en-US" sz="1600">
                        <a:effectLst/>
                        <a:latin typeface="Calibri" panose="020F0502020204030204" pitchFamily="34" charset="0"/>
                        <a:cs typeface="Vrinda" panose="020B0502040204020203" pitchFamily="34" charset="0"/>
                      </a:endParaRPr>
                    </a:p>
                  </a:txBody>
                  <a:tcPr marL="68580" marR="68580" marT="9525" marB="0"/>
                </a:tc>
                <a:extLst>
                  <a:ext uri="{0D108BD9-81ED-4DB2-BD59-A6C34878D82A}">
                    <a16:rowId xmlns:a16="http://schemas.microsoft.com/office/drawing/2014/main" val="3380004119"/>
                  </a:ext>
                </a:extLst>
              </a:tr>
              <a:tr h="243946">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EmpSalary</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Integer</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Private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Derived from Grade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extLst>
                  <a:ext uri="{0D108BD9-81ED-4DB2-BD59-A6C34878D82A}">
                    <a16:rowId xmlns:a16="http://schemas.microsoft.com/office/drawing/2014/main" val="4040994510"/>
                  </a:ext>
                </a:extLst>
              </a:tr>
              <a:tr h="243946">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EmpDOB</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Date</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Private</a:t>
                      </a:r>
                    </a:p>
                  </a:txBody>
                  <a:tcPr marL="68580" marR="68580" marT="9525" marB="0"/>
                </a:tc>
                <a:tc>
                  <a:txBody>
                    <a:bodyPr/>
                    <a:lstStyle/>
                    <a:p>
                      <a:endParaRPr lang="en-US" sz="1600">
                        <a:effectLst/>
                        <a:latin typeface="Calibri" panose="020F0502020204030204" pitchFamily="34" charset="0"/>
                        <a:cs typeface="Vrinda" panose="020B0502040204020203" pitchFamily="34" charset="0"/>
                      </a:endParaRPr>
                    </a:p>
                  </a:txBody>
                  <a:tcPr marL="68580" marR="68580" marT="9525" marB="0"/>
                </a:tc>
                <a:extLst>
                  <a:ext uri="{0D108BD9-81ED-4DB2-BD59-A6C34878D82A}">
                    <a16:rowId xmlns:a16="http://schemas.microsoft.com/office/drawing/2014/main" val="1541808740"/>
                  </a:ext>
                </a:extLst>
              </a:tr>
              <a:tr h="243946">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Note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String</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Private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dirty="0">
                          <a:solidFill>
                            <a:srgbClr val="000000"/>
                          </a:solidFill>
                          <a:effectLst/>
                          <a:latin typeface="Calibri" panose="020F0502020204030204" pitchFamily="34" charset="0"/>
                          <a:ea typeface="Calibri" panose="020F0502020204030204" pitchFamily="34" charset="0"/>
                          <a:cs typeface="Vrinda" panose="020B0502040204020203" pitchFamily="34" charset="0"/>
                        </a:rPr>
                        <a:t>Static</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extLst>
                  <a:ext uri="{0D108BD9-81ED-4DB2-BD59-A6C34878D82A}">
                    <a16:rowId xmlns:a16="http://schemas.microsoft.com/office/drawing/2014/main" val="3963370360"/>
                  </a:ext>
                </a:extLst>
              </a:tr>
            </a:tbl>
          </a:graphicData>
        </a:graphic>
      </p:graphicFrame>
      <p:graphicFrame>
        <p:nvGraphicFramePr>
          <p:cNvPr id="8" name="Table 7">
            <a:extLst>
              <a:ext uri="{FF2B5EF4-FFF2-40B4-BE49-F238E27FC236}">
                <a16:creationId xmlns:a16="http://schemas.microsoft.com/office/drawing/2014/main" id="{062E36C4-A7FA-437A-8254-6B2888B848B1}"/>
              </a:ext>
            </a:extLst>
          </p:cNvPr>
          <p:cNvGraphicFramePr>
            <a:graphicFrameLocks noGrp="1"/>
          </p:cNvGraphicFramePr>
          <p:nvPr/>
        </p:nvGraphicFramePr>
        <p:xfrm>
          <a:off x="2560639" y="4609994"/>
          <a:ext cx="7394575" cy="1257406"/>
        </p:xfrm>
        <a:graphic>
          <a:graphicData uri="http://schemas.openxmlformats.org/drawingml/2006/table">
            <a:tbl>
              <a:tblPr firstRow="1" firstCol="1" bandRow="1">
                <a:tableStyleId>{616DA210-FB5B-4158-B5E0-FEB733F419BA}</a:tableStyleId>
              </a:tblPr>
              <a:tblGrid>
                <a:gridCol w="1173162">
                  <a:extLst>
                    <a:ext uri="{9D8B030D-6E8A-4147-A177-3AD203B41FA5}">
                      <a16:colId xmlns:a16="http://schemas.microsoft.com/office/drawing/2014/main" val="1170231056"/>
                    </a:ext>
                  </a:extLst>
                </a:gridCol>
                <a:gridCol w="2808389">
                  <a:extLst>
                    <a:ext uri="{9D8B030D-6E8A-4147-A177-3AD203B41FA5}">
                      <a16:colId xmlns:a16="http://schemas.microsoft.com/office/drawing/2014/main" val="792448190"/>
                    </a:ext>
                  </a:extLst>
                </a:gridCol>
                <a:gridCol w="851502">
                  <a:extLst>
                    <a:ext uri="{9D8B030D-6E8A-4147-A177-3AD203B41FA5}">
                      <a16:colId xmlns:a16="http://schemas.microsoft.com/office/drawing/2014/main" val="3793672382"/>
                    </a:ext>
                  </a:extLst>
                </a:gridCol>
                <a:gridCol w="1554103">
                  <a:extLst>
                    <a:ext uri="{9D8B030D-6E8A-4147-A177-3AD203B41FA5}">
                      <a16:colId xmlns:a16="http://schemas.microsoft.com/office/drawing/2014/main" val="3014481753"/>
                    </a:ext>
                  </a:extLst>
                </a:gridCol>
                <a:gridCol w="1007419">
                  <a:extLst>
                    <a:ext uri="{9D8B030D-6E8A-4147-A177-3AD203B41FA5}">
                      <a16:colId xmlns:a16="http://schemas.microsoft.com/office/drawing/2014/main" val="2463778013"/>
                    </a:ext>
                  </a:extLst>
                </a:gridCol>
              </a:tblGrid>
              <a:tr h="243946">
                <a:tc>
                  <a:txBody>
                    <a:bodyPr/>
                    <a:lstStyle/>
                    <a:p>
                      <a:pPr marL="0" marR="0">
                        <a:spcBef>
                          <a:spcPts val="0"/>
                        </a:spcBef>
                        <a:spcAft>
                          <a:spcPts val="0"/>
                        </a:spcAft>
                      </a:pPr>
                      <a:r>
                        <a:rPr lang="en-US" sz="1600" dirty="0">
                          <a:effectLst/>
                        </a:rPr>
                        <a:t>Name</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Arguments</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visibility</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a:effectLst/>
                        </a:rPr>
                        <a:t>Return datatype</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tc>
                  <a:txBody>
                    <a:bodyPr/>
                    <a:lstStyle/>
                    <a:p>
                      <a:pPr marL="0" marR="0">
                        <a:spcBef>
                          <a:spcPts val="0"/>
                        </a:spcBef>
                        <a:spcAft>
                          <a:spcPts val="0"/>
                        </a:spcAft>
                      </a:pPr>
                      <a:r>
                        <a:rPr lang="en-US" sz="1600" dirty="0">
                          <a:effectLst/>
                        </a:rPr>
                        <a:t>Remarks</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77" marR="68577" marT="0" marB="0"/>
                </a:tc>
                <a:extLst>
                  <a:ext uri="{0D108BD9-81ED-4DB2-BD59-A6C34878D82A}">
                    <a16:rowId xmlns:a16="http://schemas.microsoft.com/office/drawing/2014/main" val="1357621993"/>
                  </a:ext>
                </a:extLst>
              </a:tr>
              <a:tr h="243946">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getID</a:t>
                      </a: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Public</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Integer</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extLst>
                  <a:ext uri="{0D108BD9-81ED-4DB2-BD59-A6C34878D82A}">
                    <a16:rowId xmlns:a16="http://schemas.microsoft.com/office/drawing/2014/main" val="1494002958"/>
                  </a:ext>
                </a:extLst>
              </a:tr>
              <a:tr h="243946">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setName</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EmpName (Data Type: String)</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Public</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 </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 </a:t>
                      </a:r>
                    </a:p>
                  </a:txBody>
                  <a:tcPr marL="68580" marR="68580" marT="9525" marB="0"/>
                </a:tc>
                <a:extLst>
                  <a:ext uri="{0D108BD9-81ED-4DB2-BD59-A6C34878D82A}">
                    <a16:rowId xmlns:a16="http://schemas.microsoft.com/office/drawing/2014/main" val="2870256772"/>
                  </a:ext>
                </a:extLst>
              </a:tr>
              <a:tr h="243946">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setID</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EmpID (Data Type: Integer)</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Public</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 </a:t>
                      </a:r>
                    </a:p>
                  </a:txBody>
                  <a:tcPr marL="68580" marR="68580" marT="9525" marB="0"/>
                </a:tc>
                <a:tc>
                  <a:txBody>
                    <a:bodyPr/>
                    <a:lstStyle/>
                    <a:p>
                      <a:pPr marL="0" marR="0">
                        <a:spcBef>
                          <a:spcPts val="0"/>
                        </a:spcBef>
                        <a:spcAft>
                          <a:spcPts val="0"/>
                        </a:spcAft>
                      </a:pPr>
                      <a:r>
                        <a:rPr lang="en-US" sz="1600">
                          <a:solidFill>
                            <a:srgbClr val="000000"/>
                          </a:solidFill>
                          <a:effectLst/>
                          <a:latin typeface="Calibri" panose="020F0502020204030204" pitchFamily="34" charset="0"/>
                          <a:ea typeface="Calibri" panose="020F0502020204030204" pitchFamily="34" charset="0"/>
                          <a:cs typeface="Vrinda" panose="020B0502040204020203" pitchFamily="34" charset="0"/>
                        </a:rPr>
                        <a:t> </a:t>
                      </a:r>
                      <a:endParaRPr lang="en-US" sz="160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extLst>
                  <a:ext uri="{0D108BD9-81ED-4DB2-BD59-A6C34878D82A}">
                    <a16:rowId xmlns:a16="http://schemas.microsoft.com/office/drawing/2014/main" val="2096599667"/>
                  </a:ext>
                </a:extLst>
              </a:tr>
              <a:tr h="243946">
                <a:tc>
                  <a:txBody>
                    <a:bodyPr/>
                    <a:lstStyle/>
                    <a:p>
                      <a:pPr marL="0" marR="0">
                        <a:spcBef>
                          <a:spcPts val="0"/>
                        </a:spcBef>
                        <a:spcAft>
                          <a:spcPts val="0"/>
                        </a:spcAft>
                      </a:pPr>
                      <a:r>
                        <a:rPr lang="en-US" sz="1600" dirty="0" err="1">
                          <a:effectLst/>
                          <a:latin typeface="Calibri" panose="020F0502020204030204" pitchFamily="34" charset="0"/>
                          <a:ea typeface="Calibri" panose="020F0502020204030204" pitchFamily="34" charset="0"/>
                          <a:cs typeface="Vrinda" panose="020B0502040204020203" pitchFamily="34" charset="0"/>
                        </a:rPr>
                        <a:t>setNote</a:t>
                      </a:r>
                      <a:endParaRPr lang="en-US" sz="1600" dirty="0">
                        <a:effectLst/>
                        <a:latin typeface="Calibri" panose="020F0502020204030204" pitchFamily="34" charset="0"/>
                        <a:ea typeface="Calibri" panose="020F0502020204030204" pitchFamily="34" charset="0"/>
                        <a:cs typeface="Vrinda" panose="020B0502040204020203" pitchFamily="34" charset="0"/>
                      </a:endParaRP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Note (Data Type: String)</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Public</a:t>
                      </a:r>
                    </a:p>
                  </a:txBody>
                  <a:tcPr marL="68580" marR="68580" marT="9525" marB="0"/>
                </a:tc>
                <a:tc>
                  <a:txBody>
                    <a:bodyPr/>
                    <a:lstStyle/>
                    <a:p>
                      <a:pPr marL="0" marR="0">
                        <a:spcBef>
                          <a:spcPts val="0"/>
                        </a:spcBef>
                        <a:spcAft>
                          <a:spcPts val="0"/>
                        </a:spcAft>
                      </a:pPr>
                      <a:r>
                        <a:rPr lang="en-US" sz="1600">
                          <a:effectLst/>
                          <a:latin typeface="Calibri" panose="020F0502020204030204" pitchFamily="34" charset="0"/>
                          <a:ea typeface="Calibri" panose="020F0502020204030204" pitchFamily="34" charset="0"/>
                          <a:cs typeface="Vrinda" panose="020B0502040204020203" pitchFamily="34" charset="0"/>
                        </a:rPr>
                        <a:t> </a:t>
                      </a:r>
                    </a:p>
                  </a:txBody>
                  <a:tcPr marL="68580" marR="68580" marT="9525" marB="0"/>
                </a:tc>
                <a:tc>
                  <a:txBody>
                    <a:bodyPr/>
                    <a:lstStyle/>
                    <a:p>
                      <a:pPr marL="0" marR="0">
                        <a:spcBef>
                          <a:spcPts val="0"/>
                        </a:spcBef>
                        <a:spcAft>
                          <a:spcPts val="0"/>
                        </a:spcAft>
                      </a:pPr>
                      <a:r>
                        <a:rPr lang="en-US" sz="1600" dirty="0">
                          <a:effectLst/>
                          <a:latin typeface="Calibri" panose="020F0502020204030204" pitchFamily="34" charset="0"/>
                          <a:ea typeface="Calibri" panose="020F0502020204030204" pitchFamily="34" charset="0"/>
                          <a:cs typeface="Vrinda" panose="020B0502040204020203" pitchFamily="34" charset="0"/>
                        </a:rPr>
                        <a:t>Static</a:t>
                      </a:r>
                    </a:p>
                  </a:txBody>
                  <a:tcPr marL="68580" marR="68580" marT="9525" marB="0"/>
                </a:tc>
                <a:extLst>
                  <a:ext uri="{0D108BD9-81ED-4DB2-BD59-A6C34878D82A}">
                    <a16:rowId xmlns:a16="http://schemas.microsoft.com/office/drawing/2014/main" val="831055593"/>
                  </a:ext>
                </a:extLst>
              </a:tr>
            </a:tbl>
          </a:graphicData>
        </a:graphic>
      </p:graphicFrame>
      <p:sp>
        <p:nvSpPr>
          <p:cNvPr id="13396" name="Rectangle 2">
            <a:extLst>
              <a:ext uri="{FF2B5EF4-FFF2-40B4-BE49-F238E27FC236}">
                <a16:creationId xmlns:a16="http://schemas.microsoft.com/office/drawing/2014/main" id="{0C7DDE42-81E4-42E9-9556-A1BEA86972A4}"/>
              </a:ext>
            </a:extLst>
          </p:cNvPr>
          <p:cNvSpPr>
            <a:spLocks noChangeArrowheads="1"/>
          </p:cNvSpPr>
          <p:nvPr/>
        </p:nvSpPr>
        <p:spPr bwMode="auto">
          <a:xfrm>
            <a:off x="2514601" y="1274832"/>
            <a:ext cx="324524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dirty="0">
                <a:latin typeface="+mj-lt"/>
                <a:ea typeface="Calibri" panose="020F0502020204030204" pitchFamily="34" charset="0"/>
                <a:cs typeface="Vrinda" panose="020B0502040204020203" pitchFamily="34" charset="0"/>
              </a:rPr>
              <a:t>Name of the class: Employee</a:t>
            </a:r>
          </a:p>
          <a:p>
            <a:pPr>
              <a:spcBef>
                <a:spcPct val="0"/>
              </a:spcBef>
              <a:buFontTx/>
              <a:buNone/>
            </a:pPr>
            <a:r>
              <a:rPr lang="en-US" altLang="en-US" sz="2000" b="1" dirty="0">
                <a:latin typeface="+mj-lt"/>
                <a:ea typeface="Calibri" panose="020F0502020204030204" pitchFamily="34" charset="0"/>
                <a:cs typeface="Vrinda" panose="020B0502040204020203" pitchFamily="34" charset="0"/>
              </a:rPr>
              <a:t>Type of the Class: User</a:t>
            </a:r>
          </a:p>
        </p:txBody>
      </p:sp>
      <p:sp>
        <p:nvSpPr>
          <p:cNvPr id="13397" name="Rectangle 2">
            <a:extLst>
              <a:ext uri="{FF2B5EF4-FFF2-40B4-BE49-F238E27FC236}">
                <a16:creationId xmlns:a16="http://schemas.microsoft.com/office/drawing/2014/main" id="{C4EDCCFC-711D-430F-8A24-43A04991C169}"/>
              </a:ext>
            </a:extLst>
          </p:cNvPr>
          <p:cNvSpPr>
            <a:spLocks noChangeArrowheads="1"/>
          </p:cNvSpPr>
          <p:nvPr/>
        </p:nvSpPr>
        <p:spPr bwMode="auto">
          <a:xfrm>
            <a:off x="2514600" y="2152544"/>
            <a:ext cx="12525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ea typeface="Calibri" panose="020F0502020204030204" pitchFamily="34" charset="0"/>
                <a:cs typeface="Vrinda" panose="020B0502040204020203" pitchFamily="34" charset="0"/>
              </a:rPr>
              <a:t>Attributes</a:t>
            </a:r>
            <a:endParaRPr lang="en-US" altLang="en-US" sz="2000" b="1">
              <a:latin typeface="Arial" panose="020B0604020202020204" pitchFamily="34" charset="0"/>
              <a:ea typeface="Calibri" panose="020F0502020204030204" pitchFamily="34" charset="0"/>
              <a:cs typeface="Vrinda" panose="020B0502040204020203" pitchFamily="34" charset="0"/>
            </a:endParaRPr>
          </a:p>
        </p:txBody>
      </p:sp>
      <p:sp>
        <p:nvSpPr>
          <p:cNvPr id="13398" name="Rectangle 2">
            <a:extLst>
              <a:ext uri="{FF2B5EF4-FFF2-40B4-BE49-F238E27FC236}">
                <a16:creationId xmlns:a16="http://schemas.microsoft.com/office/drawing/2014/main" id="{62C561BC-F776-41DE-86FA-9CD0C70A9960}"/>
              </a:ext>
            </a:extLst>
          </p:cNvPr>
          <p:cNvSpPr>
            <a:spLocks noChangeArrowheads="1"/>
          </p:cNvSpPr>
          <p:nvPr/>
        </p:nvSpPr>
        <p:spPr bwMode="auto">
          <a:xfrm>
            <a:off x="2514600" y="4209944"/>
            <a:ext cx="13652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ea typeface="Calibri" panose="020F0502020204030204" pitchFamily="34" charset="0"/>
                <a:cs typeface="Vrinda" panose="020B0502040204020203" pitchFamily="34" charset="0"/>
              </a:rPr>
              <a:t>Operations</a:t>
            </a:r>
            <a:endParaRPr lang="en-US" altLang="en-US" sz="2000" b="1">
              <a:latin typeface="Arial" panose="020B060402020202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3816706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425A7433-5D27-4F72-AABE-67250DBB9673}"/>
              </a:ext>
            </a:extLst>
          </p:cNvPr>
          <p:cNvSpPr>
            <a:spLocks noGrp="1"/>
          </p:cNvSpPr>
          <p:nvPr>
            <p:ph type="title"/>
          </p:nvPr>
        </p:nvSpPr>
        <p:spPr/>
        <p:txBody>
          <a:bodyPr/>
          <a:lstStyle/>
          <a:p>
            <a:r>
              <a:rPr lang="en-US" altLang="en-US"/>
              <a:t>Relationship - Association</a:t>
            </a:r>
          </a:p>
        </p:txBody>
      </p:sp>
      <p:sp>
        <p:nvSpPr>
          <p:cNvPr id="14339" name="Content Placeholder 2">
            <a:extLst>
              <a:ext uri="{FF2B5EF4-FFF2-40B4-BE49-F238E27FC236}">
                <a16:creationId xmlns:a16="http://schemas.microsoft.com/office/drawing/2014/main" id="{7A11E523-2590-42F6-8EA7-AA080D40A2E5}"/>
              </a:ext>
            </a:extLst>
          </p:cNvPr>
          <p:cNvSpPr>
            <a:spLocks noGrp="1"/>
          </p:cNvSpPr>
          <p:nvPr>
            <p:ph idx="1"/>
          </p:nvPr>
        </p:nvSpPr>
        <p:spPr>
          <a:xfrm>
            <a:off x="609600" y="1417639"/>
            <a:ext cx="10972800" cy="4708526"/>
          </a:xfrm>
        </p:spPr>
        <p:txBody>
          <a:bodyPr/>
          <a:lstStyle/>
          <a:p>
            <a:r>
              <a:rPr lang="en-US" altLang="en-US" b="1" i="1" dirty="0"/>
              <a:t>Association name: </a:t>
            </a:r>
            <a:r>
              <a:rPr lang="en-US" altLang="en-US" dirty="0"/>
              <a:t>The purpose of the association can be expressed in a </a:t>
            </a:r>
            <a:r>
              <a:rPr lang="en-US" altLang="en-US" i="1" dirty="0"/>
              <a:t>name, </a:t>
            </a:r>
            <a:r>
              <a:rPr lang="en-US" altLang="en-US" dirty="0"/>
              <a:t>a verb or verb phrase that describes how objects of one type (class) relate to objects of another type (class).</a:t>
            </a:r>
          </a:p>
        </p:txBody>
      </p:sp>
      <p:pic>
        <p:nvPicPr>
          <p:cNvPr id="14340" name="Picture 2">
            <a:extLst>
              <a:ext uri="{FF2B5EF4-FFF2-40B4-BE49-F238E27FC236}">
                <a16:creationId xmlns:a16="http://schemas.microsoft.com/office/drawing/2014/main" id="{4477B8D9-6C58-4590-BBBF-A8129D3DAC7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3429000"/>
            <a:ext cx="4648200" cy="2971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47BF5BCB-1525-492E-BC88-561EA25D0914}"/>
              </a:ext>
            </a:extLst>
          </p:cNvPr>
          <p:cNvSpPr>
            <a:spLocks noGrp="1"/>
          </p:cNvSpPr>
          <p:nvPr>
            <p:ph type="title"/>
          </p:nvPr>
        </p:nvSpPr>
        <p:spPr/>
        <p:txBody>
          <a:bodyPr/>
          <a:lstStyle/>
          <a:p>
            <a:r>
              <a:rPr lang="en-US" altLang="en-US"/>
              <a:t>Relationship - Association</a:t>
            </a:r>
          </a:p>
        </p:txBody>
      </p:sp>
      <p:sp>
        <p:nvSpPr>
          <p:cNvPr id="15363" name="Content Placeholder 2">
            <a:extLst>
              <a:ext uri="{FF2B5EF4-FFF2-40B4-BE49-F238E27FC236}">
                <a16:creationId xmlns:a16="http://schemas.microsoft.com/office/drawing/2014/main" id="{04D60E22-5848-4CF8-97AF-1C5628D617E9}"/>
              </a:ext>
            </a:extLst>
          </p:cNvPr>
          <p:cNvSpPr>
            <a:spLocks noGrp="1"/>
          </p:cNvSpPr>
          <p:nvPr>
            <p:ph idx="1"/>
          </p:nvPr>
        </p:nvSpPr>
        <p:spPr/>
        <p:txBody>
          <a:bodyPr/>
          <a:lstStyle/>
          <a:p>
            <a:r>
              <a:rPr lang="en-US" altLang="en-US" sz="2400" b="1" i="1"/>
              <a:t>Association multiplicity: </a:t>
            </a:r>
            <a:r>
              <a:rPr lang="en-US" altLang="en-US" sz="2400" i="1"/>
              <a:t>Multiplicity </a:t>
            </a:r>
            <a:r>
              <a:rPr lang="en-US" altLang="en-US" sz="2400"/>
              <a:t>is the UML term for the rule that defines the number of participating objects.</a:t>
            </a:r>
          </a:p>
          <a:p>
            <a:r>
              <a:rPr lang="en-US" altLang="en-US" sz="2400"/>
              <a:t>Most common is a range defining the minimum number of objects allowed and the maximum number of objects allowed in the format </a:t>
            </a:r>
            <a:r>
              <a:rPr lang="en-US" altLang="en-US" sz="2400" b="1"/>
              <a:t>Minimum . . Maximum</a:t>
            </a:r>
          </a:p>
          <a:p>
            <a:r>
              <a:rPr lang="en-US" altLang="en-US" sz="2400" b="1" i="1"/>
              <a:t>Association roles:			 Association multiplicity: </a:t>
            </a:r>
            <a:endParaRPr lang="en-US" altLang="en-US" sz="2400"/>
          </a:p>
        </p:txBody>
      </p:sp>
      <p:pic>
        <p:nvPicPr>
          <p:cNvPr id="15364" name="Picture 3">
            <a:extLst>
              <a:ext uri="{FF2B5EF4-FFF2-40B4-BE49-F238E27FC236}">
                <a16:creationId xmlns:a16="http://schemas.microsoft.com/office/drawing/2014/main" id="{068F6213-9743-4764-8E6F-0D779A7A591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4343401"/>
            <a:ext cx="3124200"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4">
            <a:extLst>
              <a:ext uri="{FF2B5EF4-FFF2-40B4-BE49-F238E27FC236}">
                <a16:creationId xmlns:a16="http://schemas.microsoft.com/office/drawing/2014/main" id="{3F0A8D41-FC63-4E27-9A29-16E45BA336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164014"/>
            <a:ext cx="3657600"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DF04DA4-9A96-4106-A014-2EE8F960478A}"/>
              </a:ext>
            </a:extLst>
          </p:cNvPr>
          <p:cNvSpPr>
            <a:spLocks noGrp="1"/>
          </p:cNvSpPr>
          <p:nvPr>
            <p:ph type="title"/>
          </p:nvPr>
        </p:nvSpPr>
        <p:spPr/>
        <p:txBody>
          <a:bodyPr/>
          <a:lstStyle/>
          <a:p>
            <a:r>
              <a:rPr lang="en-US" altLang="en-US"/>
              <a:t>Relationship - Association</a:t>
            </a:r>
          </a:p>
        </p:txBody>
      </p:sp>
      <p:sp>
        <p:nvSpPr>
          <p:cNvPr id="16387" name="Content Placeholder 2">
            <a:extLst>
              <a:ext uri="{FF2B5EF4-FFF2-40B4-BE49-F238E27FC236}">
                <a16:creationId xmlns:a16="http://schemas.microsoft.com/office/drawing/2014/main" id="{D31AE288-65A9-4D63-BB71-118E5ACFC0C3}"/>
              </a:ext>
            </a:extLst>
          </p:cNvPr>
          <p:cNvSpPr>
            <a:spLocks noGrp="1"/>
          </p:cNvSpPr>
          <p:nvPr>
            <p:ph idx="1"/>
          </p:nvPr>
        </p:nvSpPr>
        <p:spPr/>
        <p:txBody>
          <a:bodyPr/>
          <a:lstStyle/>
          <a:p>
            <a:r>
              <a:rPr lang="en-US" altLang="en-US" b="1" i="1"/>
              <a:t>Association constraints: </a:t>
            </a:r>
          </a:p>
          <a:p>
            <a:endParaRPr lang="en-US" altLang="en-US" b="1" i="1"/>
          </a:p>
          <a:p>
            <a:endParaRPr lang="en-US" altLang="en-US" b="1" i="1"/>
          </a:p>
          <a:p>
            <a:r>
              <a:rPr lang="en-US" altLang="en-US" b="1" i="1"/>
              <a:t>Association Class: </a:t>
            </a:r>
            <a:endParaRPr lang="en-US" altLang="en-US"/>
          </a:p>
          <a:p>
            <a:endParaRPr lang="en-US" altLang="en-US"/>
          </a:p>
        </p:txBody>
      </p:sp>
      <p:pic>
        <p:nvPicPr>
          <p:cNvPr id="16388" name="Picture 3">
            <a:extLst>
              <a:ext uri="{FF2B5EF4-FFF2-40B4-BE49-F238E27FC236}">
                <a16:creationId xmlns:a16="http://schemas.microsoft.com/office/drawing/2014/main" id="{859A63E5-C464-49AB-AE2F-D91F55F679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70351" y="2133601"/>
            <a:ext cx="4183063"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4">
            <a:extLst>
              <a:ext uri="{FF2B5EF4-FFF2-40B4-BE49-F238E27FC236}">
                <a16:creationId xmlns:a16="http://schemas.microsoft.com/office/drawing/2014/main" id="{DEF8AAE5-AD6B-4955-BBFF-DE12A9375CA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70351" y="4114800"/>
            <a:ext cx="42640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8DCCF220-9DF7-4EC7-BC99-DC5D1F6ECE5A}"/>
              </a:ext>
            </a:extLst>
          </p:cNvPr>
          <p:cNvSpPr>
            <a:spLocks noGrp="1"/>
          </p:cNvSpPr>
          <p:nvPr>
            <p:ph type="title"/>
          </p:nvPr>
        </p:nvSpPr>
        <p:spPr/>
        <p:txBody>
          <a:bodyPr/>
          <a:lstStyle/>
          <a:p>
            <a:r>
              <a:rPr lang="en-US" altLang="en-US"/>
              <a:t>Relationship - Association</a:t>
            </a:r>
          </a:p>
        </p:txBody>
      </p:sp>
      <p:sp>
        <p:nvSpPr>
          <p:cNvPr id="17411" name="Content Placeholder 2">
            <a:extLst>
              <a:ext uri="{FF2B5EF4-FFF2-40B4-BE49-F238E27FC236}">
                <a16:creationId xmlns:a16="http://schemas.microsoft.com/office/drawing/2014/main" id="{EB8CE256-07CF-4BD4-8A85-E6593DFB963E}"/>
              </a:ext>
            </a:extLst>
          </p:cNvPr>
          <p:cNvSpPr>
            <a:spLocks noGrp="1"/>
          </p:cNvSpPr>
          <p:nvPr>
            <p:ph idx="1"/>
          </p:nvPr>
        </p:nvSpPr>
        <p:spPr/>
        <p:txBody>
          <a:bodyPr/>
          <a:lstStyle/>
          <a:p>
            <a:r>
              <a:rPr lang="en-US" altLang="en-US" b="1" i="1"/>
              <a:t>Reflexive association</a:t>
            </a:r>
          </a:p>
          <a:p>
            <a:endParaRPr lang="en-US" altLang="en-US" b="1" i="1"/>
          </a:p>
          <a:p>
            <a:endParaRPr lang="en-US" altLang="en-US" b="1" i="1"/>
          </a:p>
          <a:p>
            <a:endParaRPr lang="en-US" altLang="en-US" b="1" i="1"/>
          </a:p>
          <a:p>
            <a:r>
              <a:rPr lang="en-US" altLang="en-US" b="1" i="1"/>
              <a:t>Qualified association</a:t>
            </a:r>
            <a:endParaRPr lang="en-US" altLang="en-US"/>
          </a:p>
          <a:p>
            <a:endParaRPr lang="en-US" altLang="en-US"/>
          </a:p>
        </p:txBody>
      </p:sp>
      <p:pic>
        <p:nvPicPr>
          <p:cNvPr id="17412" name="Picture 3">
            <a:extLst>
              <a:ext uri="{FF2B5EF4-FFF2-40B4-BE49-F238E27FC236}">
                <a16:creationId xmlns:a16="http://schemas.microsoft.com/office/drawing/2014/main" id="{F21A5765-7F4D-4B91-99C6-DF0AE4F06E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81450" y="2209801"/>
            <a:ext cx="4229100"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4">
            <a:extLst>
              <a:ext uri="{FF2B5EF4-FFF2-40B4-BE49-F238E27FC236}">
                <a16:creationId xmlns:a16="http://schemas.microsoft.com/office/drawing/2014/main" id="{3CD21EB8-2644-44E4-BE66-68BB90C8961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81451" y="4495801"/>
            <a:ext cx="4233863" cy="19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689F5CDD-8BB9-4137-9159-C80D9D47FB5D}"/>
              </a:ext>
            </a:extLst>
          </p:cNvPr>
          <p:cNvSpPr>
            <a:spLocks noGrp="1"/>
          </p:cNvSpPr>
          <p:nvPr>
            <p:ph type="title"/>
          </p:nvPr>
        </p:nvSpPr>
        <p:spPr/>
        <p:txBody>
          <a:bodyPr/>
          <a:lstStyle/>
          <a:p>
            <a:r>
              <a:rPr lang="en-US" altLang="en-US" sz="3200"/>
              <a:t>Relationship – Association</a:t>
            </a:r>
            <a:br>
              <a:rPr lang="en-US" altLang="en-US"/>
            </a:br>
            <a:r>
              <a:rPr lang="en-US" altLang="en-US"/>
              <a:t>Aggregation &amp; Composition</a:t>
            </a:r>
          </a:p>
        </p:txBody>
      </p:sp>
      <p:pic>
        <p:nvPicPr>
          <p:cNvPr id="18435" name="Picture 3">
            <a:extLst>
              <a:ext uri="{FF2B5EF4-FFF2-40B4-BE49-F238E27FC236}">
                <a16:creationId xmlns:a16="http://schemas.microsoft.com/office/drawing/2014/main" id="{243D00FD-FAFB-4909-81E7-2B5F5433E0C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057400"/>
            <a:ext cx="9202291"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9303F185-A297-43F8-95F1-E61F197E0A8D}"/>
              </a:ext>
            </a:extLst>
          </p:cNvPr>
          <p:cNvSpPr>
            <a:spLocks noGrp="1"/>
          </p:cNvSpPr>
          <p:nvPr>
            <p:ph type="title"/>
          </p:nvPr>
        </p:nvSpPr>
        <p:spPr/>
        <p:txBody>
          <a:bodyPr/>
          <a:lstStyle/>
          <a:p>
            <a:r>
              <a:rPr lang="en-US" altLang="en-US"/>
              <a:t>Aggregation</a:t>
            </a:r>
          </a:p>
        </p:txBody>
      </p:sp>
      <p:sp>
        <p:nvSpPr>
          <p:cNvPr id="19459" name="Content Placeholder 2">
            <a:extLst>
              <a:ext uri="{FF2B5EF4-FFF2-40B4-BE49-F238E27FC236}">
                <a16:creationId xmlns:a16="http://schemas.microsoft.com/office/drawing/2014/main" id="{208830B3-1037-46EC-84D4-DA5D5B299F25}"/>
              </a:ext>
            </a:extLst>
          </p:cNvPr>
          <p:cNvSpPr>
            <a:spLocks noGrp="1"/>
          </p:cNvSpPr>
          <p:nvPr>
            <p:ph idx="1"/>
          </p:nvPr>
        </p:nvSpPr>
        <p:spPr/>
        <p:txBody>
          <a:bodyPr/>
          <a:lstStyle/>
          <a:p>
            <a:r>
              <a:rPr lang="en-US" altLang="en-US" sz="2400" b="1" i="1"/>
              <a:t>Aggregation</a:t>
            </a:r>
            <a:r>
              <a:rPr lang="en-US" altLang="en-US" sz="2400" i="1"/>
              <a:t> </a:t>
            </a:r>
            <a:r>
              <a:rPr lang="en-US" altLang="en-US" sz="2400"/>
              <a:t>is a special type of association used to indicate that the participating objects are not just independent objects that know about each other. </a:t>
            </a:r>
          </a:p>
          <a:p>
            <a:r>
              <a:rPr lang="en-US" altLang="en-US" sz="2400"/>
              <a:t>Instead, they are </a:t>
            </a:r>
            <a:r>
              <a:rPr lang="en-US" altLang="en-US" sz="2400" i="1"/>
              <a:t>assembled </a:t>
            </a:r>
            <a:r>
              <a:rPr lang="en-US" altLang="en-US" sz="2400"/>
              <a:t>or </a:t>
            </a:r>
            <a:r>
              <a:rPr lang="en-US" altLang="en-US" sz="2400" i="1"/>
              <a:t>configured </a:t>
            </a:r>
            <a:r>
              <a:rPr lang="en-US" altLang="en-US" sz="2400"/>
              <a:t>together to create a new, more complex object.</a:t>
            </a:r>
          </a:p>
          <a:p>
            <a:r>
              <a:rPr lang="en-US" altLang="en-US" sz="2400" b="1"/>
              <a:t>Whole-part relationship</a:t>
            </a:r>
          </a:p>
        </p:txBody>
      </p:sp>
      <p:pic>
        <p:nvPicPr>
          <p:cNvPr id="19460" name="Picture 3">
            <a:extLst>
              <a:ext uri="{FF2B5EF4-FFF2-40B4-BE49-F238E27FC236}">
                <a16:creationId xmlns:a16="http://schemas.microsoft.com/office/drawing/2014/main" id="{BA39D522-BF4B-4F25-B0EB-76768E5B242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65539" y="4191000"/>
            <a:ext cx="4860925" cy="131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B7EA91A2-29B7-4FA3-84DD-25615C53F92F}"/>
              </a:ext>
            </a:extLst>
          </p:cNvPr>
          <p:cNvSpPr>
            <a:spLocks noGrp="1"/>
          </p:cNvSpPr>
          <p:nvPr>
            <p:ph type="title"/>
          </p:nvPr>
        </p:nvSpPr>
        <p:spPr/>
        <p:txBody>
          <a:bodyPr/>
          <a:lstStyle/>
          <a:p>
            <a:r>
              <a:rPr lang="en-US" altLang="en-US"/>
              <a:t>Composition</a:t>
            </a:r>
          </a:p>
        </p:txBody>
      </p:sp>
      <p:sp>
        <p:nvSpPr>
          <p:cNvPr id="20483" name="Content Placeholder 2">
            <a:extLst>
              <a:ext uri="{FF2B5EF4-FFF2-40B4-BE49-F238E27FC236}">
                <a16:creationId xmlns:a16="http://schemas.microsoft.com/office/drawing/2014/main" id="{D1138D27-810D-4248-939C-6C72C8798E8E}"/>
              </a:ext>
            </a:extLst>
          </p:cNvPr>
          <p:cNvSpPr>
            <a:spLocks noGrp="1"/>
          </p:cNvSpPr>
          <p:nvPr>
            <p:ph idx="1"/>
          </p:nvPr>
        </p:nvSpPr>
        <p:spPr/>
        <p:txBody>
          <a:bodyPr/>
          <a:lstStyle/>
          <a:p>
            <a:r>
              <a:rPr lang="en-US" altLang="en-US" b="1" i="1"/>
              <a:t>Composition</a:t>
            </a:r>
            <a:r>
              <a:rPr lang="en-US" altLang="en-US" i="1"/>
              <a:t> </a:t>
            </a:r>
            <a:r>
              <a:rPr lang="en-US" altLang="en-US"/>
              <a:t>is used for aggregations where the life span of the part depends on the life span of the aggregate.</a:t>
            </a:r>
          </a:p>
        </p:txBody>
      </p:sp>
      <p:pic>
        <p:nvPicPr>
          <p:cNvPr id="20484" name="Picture 3">
            <a:extLst>
              <a:ext uri="{FF2B5EF4-FFF2-40B4-BE49-F238E27FC236}">
                <a16:creationId xmlns:a16="http://schemas.microsoft.com/office/drawing/2014/main" id="{5326B22B-221B-4721-9A75-43E998A6FC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3581401"/>
            <a:ext cx="4419600"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025663FA-53C6-4EEC-8CD8-1A1837046928}"/>
              </a:ext>
            </a:extLst>
          </p:cNvPr>
          <p:cNvSpPr>
            <a:spLocks noGrp="1"/>
          </p:cNvSpPr>
          <p:nvPr>
            <p:ph type="title"/>
          </p:nvPr>
        </p:nvSpPr>
        <p:spPr/>
        <p:txBody>
          <a:bodyPr/>
          <a:lstStyle/>
          <a:p>
            <a:r>
              <a:rPr lang="en-US" altLang="en-US"/>
              <a:t>Example</a:t>
            </a:r>
          </a:p>
        </p:txBody>
      </p:sp>
      <p:sp>
        <p:nvSpPr>
          <p:cNvPr id="21507" name="Content Placeholder 2">
            <a:extLst>
              <a:ext uri="{FF2B5EF4-FFF2-40B4-BE49-F238E27FC236}">
                <a16:creationId xmlns:a16="http://schemas.microsoft.com/office/drawing/2014/main" id="{422FD703-B69A-4ED7-A44E-0F79D8A23057}"/>
              </a:ext>
            </a:extLst>
          </p:cNvPr>
          <p:cNvSpPr>
            <a:spLocks noGrp="1"/>
          </p:cNvSpPr>
          <p:nvPr>
            <p:ph idx="1"/>
          </p:nvPr>
        </p:nvSpPr>
        <p:spPr/>
        <p:txBody>
          <a:bodyPr/>
          <a:lstStyle/>
          <a:p>
            <a:pPr marL="0" indent="0">
              <a:buNone/>
            </a:pPr>
            <a:r>
              <a:rPr lang="en-US" altLang="en-US" sz="1800" b="1" dirty="0"/>
              <a:t>Problem statement: </a:t>
            </a:r>
            <a:r>
              <a:rPr lang="en-US" altLang="en-US" sz="1800" dirty="0"/>
              <a:t>“Our Company maintains a group of race cars. Our cars use some of our new 8-cylinder engines and new transmissions. Once the engines are assembled, the pistons, carburetor, and plugs cannot be swapped between engines due to changes caused by the high temperatures.</a:t>
            </a:r>
          </a:p>
          <a:p>
            <a:pPr marL="0" indent="0">
              <a:buNone/>
            </a:pPr>
            <a:r>
              <a:rPr lang="en-US" altLang="en-US" sz="1800" dirty="0"/>
              <a:t>“We want to keep records of the performance achieved by each engine in each car and each transmission in combination with each engine. Our drivers evaluate each car to give us their assessment of the handling. We need a system to track the configurations and the drivers’ assessments.”</a:t>
            </a:r>
          </a:p>
        </p:txBody>
      </p:sp>
      <p:pic>
        <p:nvPicPr>
          <p:cNvPr id="21508" name="Picture 3">
            <a:extLst>
              <a:ext uri="{FF2B5EF4-FFF2-40B4-BE49-F238E27FC236}">
                <a16:creationId xmlns:a16="http://schemas.microsoft.com/office/drawing/2014/main" id="{7BA7DFB2-8D3B-49FD-8D25-65F48D6DA23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6250" y="3962400"/>
            <a:ext cx="3619500"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5156AE5-AABA-4498-A4D8-8FB5FAC87466}"/>
              </a:ext>
            </a:extLst>
          </p:cNvPr>
          <p:cNvSpPr>
            <a:spLocks noGrp="1"/>
          </p:cNvSpPr>
          <p:nvPr>
            <p:ph type="title"/>
          </p:nvPr>
        </p:nvSpPr>
        <p:spPr/>
        <p:txBody>
          <a:bodyPr/>
          <a:lstStyle/>
          <a:p>
            <a:r>
              <a:rPr lang="en-US" altLang="en-US"/>
              <a:t>Generalization</a:t>
            </a:r>
          </a:p>
        </p:txBody>
      </p:sp>
      <p:sp>
        <p:nvSpPr>
          <p:cNvPr id="22531" name="Content Placeholder 2">
            <a:extLst>
              <a:ext uri="{FF2B5EF4-FFF2-40B4-BE49-F238E27FC236}">
                <a16:creationId xmlns:a16="http://schemas.microsoft.com/office/drawing/2014/main" id="{ABF4B47E-E5CD-49D8-8F93-B4584C2F963A}"/>
              </a:ext>
            </a:extLst>
          </p:cNvPr>
          <p:cNvSpPr>
            <a:spLocks noGrp="1"/>
          </p:cNvSpPr>
          <p:nvPr>
            <p:ph idx="1"/>
          </p:nvPr>
        </p:nvSpPr>
        <p:spPr/>
        <p:txBody>
          <a:bodyPr/>
          <a:lstStyle/>
          <a:p>
            <a:r>
              <a:rPr lang="en-US" altLang="en-US" sz="2400" b="1" i="1"/>
              <a:t>Generalization</a:t>
            </a:r>
            <a:r>
              <a:rPr lang="en-US" altLang="en-US" sz="2400" i="1"/>
              <a:t> </a:t>
            </a:r>
            <a:r>
              <a:rPr lang="en-US" altLang="en-US" sz="2400"/>
              <a:t>and </a:t>
            </a:r>
            <a:r>
              <a:rPr lang="en-US" altLang="en-US" sz="2400" b="1" i="1"/>
              <a:t>Inheritance</a:t>
            </a:r>
            <a:r>
              <a:rPr lang="en-US" altLang="en-US" sz="2400" i="1"/>
              <a:t> </a:t>
            </a:r>
            <a:r>
              <a:rPr lang="en-US" altLang="en-US" sz="2400"/>
              <a:t>are used synonymously</a:t>
            </a:r>
          </a:p>
          <a:p>
            <a:r>
              <a:rPr lang="en-US" altLang="en-US" sz="2400"/>
              <a:t>A generalization is </a:t>
            </a:r>
            <a:r>
              <a:rPr lang="en-US" altLang="en-US" sz="2400" b="1" i="1"/>
              <a:t>not</a:t>
            </a:r>
            <a:r>
              <a:rPr lang="en-US" altLang="en-US" sz="2400" i="1"/>
              <a:t> </a:t>
            </a:r>
            <a:r>
              <a:rPr lang="en-US" altLang="en-US" sz="2400"/>
              <a:t>an association</a:t>
            </a:r>
          </a:p>
          <a:p>
            <a:r>
              <a:rPr lang="en-US" altLang="en-US" sz="2400" b="1" i="1"/>
              <a:t>Generalization </a:t>
            </a:r>
            <a:r>
              <a:rPr lang="en-US" altLang="en-US" sz="2400" i="1"/>
              <a:t>and </a:t>
            </a:r>
            <a:r>
              <a:rPr lang="en-US" altLang="en-US" sz="2400" b="1" i="1"/>
              <a:t>Specialization</a:t>
            </a:r>
          </a:p>
          <a:p>
            <a:r>
              <a:rPr lang="en-US" altLang="en-US" sz="2400" b="1" i="1"/>
              <a:t>Generalization is bottom-up </a:t>
            </a:r>
            <a:r>
              <a:rPr lang="en-US" altLang="en-US" sz="2400" i="1"/>
              <a:t>and </a:t>
            </a:r>
            <a:r>
              <a:rPr lang="en-US" altLang="en-US" sz="2400" b="1" i="1"/>
              <a:t>Specialization is top-down</a:t>
            </a:r>
            <a:endParaRPr lang="en-US" altLang="en-US" sz="2400"/>
          </a:p>
        </p:txBody>
      </p:sp>
      <p:pic>
        <p:nvPicPr>
          <p:cNvPr id="22532" name="Picture 3">
            <a:extLst>
              <a:ext uri="{FF2B5EF4-FFF2-40B4-BE49-F238E27FC236}">
                <a16:creationId xmlns:a16="http://schemas.microsoft.com/office/drawing/2014/main" id="{FEE2057B-D9A9-47F2-BECF-5B8B8B31BA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549651"/>
            <a:ext cx="4114800"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CC50AED5-DDB3-445F-8C04-1B40EFC797FF}"/>
              </a:ext>
            </a:extLst>
          </p:cNvPr>
          <p:cNvSpPr>
            <a:spLocks noGrp="1"/>
          </p:cNvSpPr>
          <p:nvPr>
            <p:ph type="title"/>
          </p:nvPr>
        </p:nvSpPr>
        <p:spPr>
          <a:xfrm>
            <a:off x="1981200" y="274638"/>
            <a:ext cx="8229600" cy="487362"/>
          </a:xfrm>
        </p:spPr>
        <p:txBody>
          <a:bodyPr/>
          <a:lstStyle/>
          <a:p>
            <a:r>
              <a:rPr lang="en-US" altLang="en-US"/>
              <a:t>Example</a:t>
            </a:r>
          </a:p>
        </p:txBody>
      </p:sp>
      <p:sp>
        <p:nvSpPr>
          <p:cNvPr id="23555" name="Content Placeholder 2">
            <a:extLst>
              <a:ext uri="{FF2B5EF4-FFF2-40B4-BE49-F238E27FC236}">
                <a16:creationId xmlns:a16="http://schemas.microsoft.com/office/drawing/2014/main" id="{E004C5EB-60F0-4A9D-93EF-6369228C252E}"/>
              </a:ext>
            </a:extLst>
          </p:cNvPr>
          <p:cNvSpPr>
            <a:spLocks noGrp="1"/>
          </p:cNvSpPr>
          <p:nvPr>
            <p:ph idx="1"/>
          </p:nvPr>
        </p:nvSpPr>
        <p:spPr>
          <a:xfrm>
            <a:off x="533400" y="838201"/>
            <a:ext cx="10972800" cy="4906963"/>
          </a:xfrm>
        </p:spPr>
        <p:txBody>
          <a:bodyPr>
            <a:normAutofit/>
          </a:bodyPr>
          <a:lstStyle/>
          <a:p>
            <a:r>
              <a:rPr lang="en-US" altLang="en-US" sz="1400" dirty="0"/>
              <a:t>“Our system is designed to inventory and ship uniquely identified products. These products may be purchased directly from vendors and resold as is, or we can package vendor products together to make our own custom product. Customers place orders for one or more items, but we acknowledge interested customers in the system whether they have purchased yet or not. Each item corresponds to a product. We identify each product using a unique serial number. The Customer may inquire on the status of his Orders using the order number.”</a:t>
            </a:r>
          </a:p>
          <a:p>
            <a:r>
              <a:rPr lang="en-US" altLang="en-US" sz="1400" dirty="0"/>
              <a:t>“Shipments of products from vendors are received and placed into inventory. Each product is assigned to a location so that we can easily find it later when filling orders. Each location has a unique location identifier. Customer orders are shipped as the products become available, so there may be more than one shipment to satisfy a single customer order. But a single shipment may contain products from multiple orders. Any items that have not been shipped are placed on a backorder with a reference to the original order.”</a:t>
            </a:r>
          </a:p>
        </p:txBody>
      </p:sp>
      <p:pic>
        <p:nvPicPr>
          <p:cNvPr id="23556" name="Picture 3">
            <a:extLst>
              <a:ext uri="{FF2B5EF4-FFF2-40B4-BE49-F238E27FC236}">
                <a16:creationId xmlns:a16="http://schemas.microsoft.com/office/drawing/2014/main" id="{73640BA7-FDA8-4F09-999E-18A51F8CA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819401"/>
            <a:ext cx="5932488" cy="403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1013</TotalTime>
  <Words>1596</Words>
  <Application>Microsoft Office PowerPoint</Application>
  <PresentationFormat>Widescreen</PresentationFormat>
  <Paragraphs>222</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Lecture 4 Class Diagram</vt:lpstr>
      <vt:lpstr>Introduction</vt:lpstr>
      <vt:lpstr>Class Diagram - Elements</vt:lpstr>
      <vt:lpstr>Class</vt:lpstr>
      <vt:lpstr>Elements of a Class in Class Diagram</vt:lpstr>
      <vt:lpstr>Elements of a Class Definition</vt:lpstr>
      <vt:lpstr>Attribute/ Operation visibility</vt:lpstr>
      <vt:lpstr>Modeling an Attribute</vt:lpstr>
      <vt:lpstr>Modeling an Operation</vt:lpstr>
      <vt:lpstr>Example</vt:lpstr>
      <vt:lpstr>Class Design – Case Study 1</vt:lpstr>
      <vt:lpstr>Class Design – Case Study 1: Solution</vt:lpstr>
      <vt:lpstr>Class Design – Case Study 2: Practice</vt:lpstr>
      <vt:lpstr>Relationship - Association</vt:lpstr>
      <vt:lpstr>Relationship - Association</vt:lpstr>
      <vt:lpstr>Relationship - Association</vt:lpstr>
      <vt:lpstr>Relationship - Association</vt:lpstr>
      <vt:lpstr>Relationship – Association Aggregation &amp; Composition</vt:lpstr>
      <vt:lpstr>Aggregation</vt:lpstr>
      <vt:lpstr>Composition</vt:lpstr>
      <vt:lpstr>Example</vt:lpstr>
      <vt:lpstr>Generalization</vt:lpstr>
      <vt:lpstr>Example</vt:lpstr>
    </vt:vector>
  </TitlesOfParts>
  <Company>AIUB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Introducing the UML</dc:title>
  <dc:creator>Manzur</dc:creator>
  <cp:lastModifiedBy>Mohaimen-Bin-Noor</cp:lastModifiedBy>
  <cp:revision>99</cp:revision>
  <dcterms:created xsi:type="dcterms:W3CDTF">2010-05-25T07:05:39Z</dcterms:created>
  <dcterms:modified xsi:type="dcterms:W3CDTF">2025-03-11T15:58:04Z</dcterms:modified>
</cp:coreProperties>
</file>