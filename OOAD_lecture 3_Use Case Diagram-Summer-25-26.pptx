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4"/>
  </p:handoutMasterIdLst>
  <p:sldIdLst>
    <p:sldId id="256" r:id="rId2"/>
    <p:sldId id="257" r:id="rId3"/>
    <p:sldId id="258" r:id="rId4"/>
    <p:sldId id="259" r:id="rId5"/>
    <p:sldId id="303" r:id="rId6"/>
    <p:sldId id="260" r:id="rId7"/>
    <p:sldId id="261" r:id="rId8"/>
    <p:sldId id="302" r:id="rId9"/>
    <p:sldId id="305" r:id="rId10"/>
    <p:sldId id="306" r:id="rId11"/>
    <p:sldId id="307" r:id="rId12"/>
    <p:sldId id="309" r:id="rId1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16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5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2B2FB1-6946-432F-AFC1-1DDE5234F31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E4398A-2D38-460C-A02A-551B3AAC9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2107718-1A44-4975-99FF-C9648BED560C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14D42-347B-473E-9C88-9BE02A66D3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9793B-AD1D-4B70-A44A-C16D6F9A47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A8E647E-F546-4C62-940C-5BB5BE759F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134D3-1A45-4D2E-9654-38CA45A8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6864AE-A332-41DE-9FE6-44C6BF75F4F0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EB5F4-F044-4200-8E78-508AEC23F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31A0E-FB4F-4C2A-A90C-7EABE6FD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4AA82-116C-43B2-B79A-A191F6FA3C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3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59B64-69C0-4EEE-88DB-6F94213EA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7A8EB-ACAC-4960-A2A4-04135CC05DA8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A15EF-E446-4A95-94A6-92F5F708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B3D12-5C3F-4806-A599-BD854884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54FAA-A776-42E5-9BBC-8C30511E92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3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32D1A-B5C8-42A7-B197-32B89546A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ED70D-2B7A-44BC-A0DB-A69DBE61D2A3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C7B2F-3F67-441C-87D5-D5AF989F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3C046-88C1-4354-9921-109A6723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E1518-F124-4F2C-A59E-6992A567A1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1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294CBB4-6B9B-46C5-85F1-C489001FB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645471-C7AE-42CE-A355-6C817465AC32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387C71-75B9-420E-A3D1-4BF09689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5D2A04-C4CB-4B02-A213-17243501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A7197D-6B99-4642-912C-B91F54A746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89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7427CF-EC02-4971-A599-F6F0E1D51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B5901-863B-4C44-B025-E1811B162191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F2D836F-84F0-423F-9507-AF65DB0E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9D9C6B-5FA3-43F9-BB1D-055751B65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152A6-DB7A-42C8-8A28-9E043578EA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3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20781A6-4EBE-42ED-9B50-751E7D5A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171A91-0599-4B11-A6CC-1E65B9121C39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3B6666A-9C10-4F0E-B8D4-50C8B87DB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DD7E8E0-3BB4-481C-B704-C454CAFDC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37DC0-BFEC-481B-81CC-14663CF01B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3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39717EF-9D50-47B0-BD50-5F5D4C81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A12CB-5429-4AD0-B4C7-D1AF1B3EAD88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743D9AA-CE48-4914-8E89-93265A8A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3B2E3AA-4F38-46C6-B27E-A94B4BC58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10D85-AD16-463B-B6C8-AE843EBBE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5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49329FC-C1A3-434B-BFE3-AE6AFFAC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228C7-D83A-4977-9880-4AA8B19DA365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60CD10-A555-49C9-B0AE-0245ACC93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4E35BCB-46C6-4560-B89C-32CBEB026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ED7CE-F3E0-439F-9A21-2000A94719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6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E6B3EF-2D69-4393-86BC-7B2860FF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E9D1B2-C8B6-496E-9581-CD09E780DFF6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016133-B21C-40A1-92BF-BF30E051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63F367-77F1-4069-8433-352C42D05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7F01E-2BE0-4D87-9116-5A265E9583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1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E0E1E-C01D-4363-855A-FB9F98DF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A4811-A1CF-48FC-8ACB-A6BFCB10AF3C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843D3-927A-4C32-AD13-1FA7D4D90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9DC5A-8F50-4FF8-BED5-98F3917E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58A6C-B782-4D1D-979A-BD86748F0C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2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974E7-597B-4C8A-9BB8-5E07BC95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392614-65B8-4C2E-BF19-1940892F3E30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704E3-D859-41AD-9D1E-B895119D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7238F-01DE-495C-A5AF-E4940B0F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50D55-3356-4569-AE55-F171B5840B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7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FBA0A37-4A4D-439D-875E-263580715B4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6F6A6F9-DE0F-4463-A637-36B370F1C0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B0553-F998-471C-B1E0-F20909EA9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02121F1-C355-4AC8-853E-03E25BF189A3}" type="datetimeFigureOut">
              <a:rPr lang="en-US"/>
              <a:pPr>
                <a:defRPr/>
              </a:pPr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D6265-8276-43A1-B310-70E44AE3F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1EBE5-77C0-472A-A342-B41472BED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1BB8A3F-35D4-4956-B65C-38CA1A7009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E0733BE8-A435-4B6D-B5AE-4B95B5912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Lecture 3</a:t>
            </a:r>
            <a:br>
              <a:rPr lang="en-US" altLang="en-US"/>
            </a:br>
            <a:r>
              <a:rPr lang="en-US" altLang="en-US"/>
              <a:t>Use Case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F1D5C-55AB-4D62-99EF-7D9A84987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Chapter 17 &amp; 18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Unified Modeling Language User Guide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SECOND EDITION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By Grady </a:t>
            </a:r>
            <a:r>
              <a:rPr lang="en-US" dirty="0" err="1"/>
              <a:t>Booch</a:t>
            </a:r>
            <a:r>
              <a:rPr lang="en-US" dirty="0"/>
              <a:t>, James </a:t>
            </a:r>
            <a:r>
              <a:rPr lang="en-US" dirty="0" err="1"/>
              <a:t>Rumbaugh</a:t>
            </a:r>
            <a:r>
              <a:rPr lang="en-US" dirty="0"/>
              <a:t>, </a:t>
            </a:r>
            <a:r>
              <a:rPr lang="en-US" dirty="0" err="1"/>
              <a:t>Ivar</a:t>
            </a:r>
            <a:r>
              <a:rPr lang="en-US" dirty="0"/>
              <a:t> Jacobson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Session 5 &amp; 6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UML Weekend Crash Course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Thomas A. Pender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760C25B6-FB64-4014-8C84-B67D13BA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Objective</a:t>
            </a:r>
            <a:endParaRPr lang="en-US" altLang="en-US"/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98BD87B3-E3D0-4F00-9E5D-6373A3E5F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 eaLnBrk="1" hangingPunct="1">
              <a:buFont typeface="Arial" charset="0"/>
              <a:buChar char="•"/>
              <a:defRPr/>
            </a:pPr>
            <a:r>
              <a:rPr lang="en-US" dirty="0"/>
              <a:t>Capture the intended behavior of the system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dirty="0"/>
              <a:t>Without specifying how that behavior is implemented. 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dirty="0"/>
              <a:t>Use cases provide a way for developers to come to a common understanding with your system's end users and domain experts.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dirty="0"/>
              <a:t>In addition, use cases serve to help validate your architecture and to verify your system as it evolves during development.</a:t>
            </a:r>
          </a:p>
          <a:p>
            <a:pPr algn="just" eaLnBrk="1" hangingPunct="1">
              <a:buFont typeface="Arial" charset="0"/>
              <a:buChar char="•"/>
              <a:defRPr/>
            </a:pPr>
            <a:r>
              <a:rPr lang="en-US" dirty="0"/>
              <a:t>Use cases specify </a:t>
            </a:r>
            <a:r>
              <a:rPr lang="en-US" b="1" dirty="0"/>
              <a:t>WHAT </a:t>
            </a:r>
            <a:r>
              <a:rPr lang="en-US" dirty="0"/>
              <a:t>are the externally visible behaviors; they </a:t>
            </a:r>
            <a:r>
              <a:rPr lang="en-US" b="1" dirty="0"/>
              <a:t>DO NOT </a:t>
            </a:r>
            <a:r>
              <a:rPr lang="en-US" dirty="0"/>
              <a:t>dictate </a:t>
            </a:r>
            <a:r>
              <a:rPr lang="en-US" b="1" dirty="0"/>
              <a:t>HOW</a:t>
            </a:r>
            <a:r>
              <a:rPr lang="en-US" dirty="0"/>
              <a:t> that behavior will be carried out internally.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7B94E144-41B1-45DE-A3E6-066A43D2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cs typeface="Times New Roman" panose="02020603050405020304" pitchFamily="18" charset="0"/>
              </a:rPr>
              <a:t>What is Use Case?</a:t>
            </a:r>
            <a:endParaRPr lang="en-US" altLang="en-US" dirty="0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A71D9ABC-7DFC-4689-85EF-CA9ACF955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 dirty="0"/>
              <a:t>A use case is a description of a set of sequences of actions, including variants, that a subject performs to yield an observable result of value to an actor.</a:t>
            </a:r>
          </a:p>
          <a:p>
            <a:pPr algn="just" eaLnBrk="1" hangingPunct="1"/>
            <a:r>
              <a:rPr lang="en-US" altLang="en-US" dirty="0"/>
              <a:t>For example, one central use case of a bank is to process loans for its loan applicants/ clients/ customers.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F9ECA07-7E0E-49BA-A2A6-7A245BD07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What is Actor?</a:t>
            </a:r>
            <a:endParaRPr lang="en-US" altLang="en-US" dirty="0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A7F324C4-A294-4284-808C-BB23A0B5A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00200"/>
            <a:ext cx="10210800" cy="2971800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defRPr/>
            </a:pPr>
            <a:r>
              <a:rPr lang="en-US" dirty="0"/>
              <a:t>An actor represents a coherent set of roles that users of use cases play when interacting with these use cases. </a:t>
            </a:r>
          </a:p>
          <a:p>
            <a:pPr algn="just" eaLnBrk="1" hangingPunct="1">
              <a:defRPr/>
            </a:pPr>
            <a:r>
              <a:rPr lang="en-US" dirty="0"/>
              <a:t>Actors can be a human role, or they can be automated systems. </a:t>
            </a:r>
          </a:p>
          <a:p>
            <a:pPr algn="just" eaLnBrk="1" hangingPunct="1">
              <a:defRPr/>
            </a:pPr>
            <a:r>
              <a:rPr lang="en-US" dirty="0"/>
              <a:t>For example, in modeling a bank, processing a loan involves, among other things, the interaction between a customer and a loan officer.</a:t>
            </a:r>
          </a:p>
        </p:txBody>
      </p:sp>
      <p:pic>
        <p:nvPicPr>
          <p:cNvPr id="6148" name="Picture 3">
            <a:extLst>
              <a:ext uri="{FF2B5EF4-FFF2-40B4-BE49-F238E27FC236}">
                <a16:creationId xmlns:a16="http://schemas.microsoft.com/office/drawing/2014/main" id="{67DA4EAD-ED69-47EB-A09A-9322605C8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525" y="4572000"/>
            <a:ext cx="3849688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E2D3CA7-44A9-4E34-B2F3-3121CA6D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80B68-F125-4503-A7AA-47E2DFFD3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019"/>
            <a:ext cx="10972800" cy="3405982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sz="2400" dirty="0"/>
              <a:t>Find the people, systems, or devices that communicate with the system. </a:t>
            </a:r>
          </a:p>
          <a:p>
            <a:pPr algn="just">
              <a:defRPr/>
            </a:pPr>
            <a:r>
              <a:rPr lang="en-US" sz="2400" dirty="0"/>
              <a:t>The system-type actors are often easiest to spot as interfaces and external communication, such as notifications to the Accounts Payable and Order Processing systems. </a:t>
            </a:r>
          </a:p>
          <a:p>
            <a:pPr algn="just">
              <a:defRPr/>
            </a:pPr>
            <a:r>
              <a:rPr lang="en-US" sz="2400" dirty="0"/>
              <a:t>The other actors will be participants in the operation of the Inventory Control system. </a:t>
            </a:r>
          </a:p>
          <a:p>
            <a:pPr algn="just">
              <a:defRPr/>
            </a:pPr>
            <a:r>
              <a:rPr lang="en-US" sz="2400" dirty="0"/>
              <a:t>All these users will become sources for finding and validating the required features of the system (that is, Use Cases). </a:t>
            </a:r>
          </a:p>
        </p:txBody>
      </p:sp>
      <p:pic>
        <p:nvPicPr>
          <p:cNvPr id="13315" name="Picture 1">
            <a:extLst>
              <a:ext uri="{FF2B5EF4-FFF2-40B4-BE49-F238E27FC236}">
                <a16:creationId xmlns:a16="http://schemas.microsoft.com/office/drawing/2014/main" id="{79288B15-EB60-4748-8E11-31C309E2E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572000"/>
            <a:ext cx="6019800" cy="1919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56E4E0A5-666D-4709-A5E2-80EA7ADE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00000"/>
                </a:solidFill>
                <a:cs typeface="Times New Roman" panose="02020603050405020304" pitchFamily="18" charset="0"/>
              </a:rPr>
              <a:t>Use Case Diagram</a:t>
            </a:r>
            <a:endParaRPr lang="en-US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E83FEDAD-F403-4243-A45A-C496B682D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47800"/>
            <a:ext cx="10515600" cy="121761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dirty="0"/>
              <a:t>Apply use case diagrams to visualize the behavior of a system, so that users can comprehend how to use that element, and so that developers can implement that element</a:t>
            </a:r>
          </a:p>
        </p:txBody>
      </p:sp>
      <p:pic>
        <p:nvPicPr>
          <p:cNvPr id="7172" name="Picture 2">
            <a:extLst>
              <a:ext uri="{FF2B5EF4-FFF2-40B4-BE49-F238E27FC236}">
                <a16:creationId xmlns:a16="http://schemas.microsoft.com/office/drawing/2014/main" id="{04C6AA5B-02FB-43E2-A2BA-D29475559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2739150"/>
            <a:ext cx="47625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8BE67C48-3834-42AD-81BE-B5D13E6F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Modeling the Requirements of a System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BAA8D038-5763-4104-AE7D-A8FEC7CD3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/>
              <a:t>Establish the context of the system by identifying the actors that surround it.</a:t>
            </a:r>
          </a:p>
          <a:p>
            <a:pPr>
              <a:defRPr/>
            </a:pPr>
            <a:r>
              <a:rPr lang="en-US" dirty="0"/>
              <a:t>For each actor, consider the behavior that each expects or requires the system to provide.</a:t>
            </a:r>
          </a:p>
          <a:p>
            <a:pPr>
              <a:defRPr/>
            </a:pPr>
            <a:r>
              <a:rPr lang="en-US" dirty="0"/>
              <a:t>Name these common behaviors as use cases.</a:t>
            </a:r>
          </a:p>
          <a:p>
            <a:pPr>
              <a:defRPr/>
            </a:pPr>
            <a:r>
              <a:rPr lang="en-US" dirty="0"/>
              <a:t>Factor common behavior into new use cases that are used by others; factor variant behavior into new use cases that extend more main line flows.</a:t>
            </a:r>
          </a:p>
          <a:p>
            <a:pPr>
              <a:defRPr/>
            </a:pPr>
            <a:r>
              <a:rPr lang="en-US" dirty="0"/>
              <a:t>Model these use cases, actors, and their relationships in a use case diagram.</a:t>
            </a:r>
          </a:p>
          <a:p>
            <a:pPr>
              <a:defRPr/>
            </a:pPr>
            <a:r>
              <a:rPr lang="en-US" dirty="0"/>
              <a:t>Enhance these use cases with notes or constraints that assert nonfunctional requirements; you may have to attach some of these to the whole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8099673E-13AF-4D26-949C-B31AEEA8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Modeling the Requirements of a System</a:t>
            </a:r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326C9FC9-5FBF-4EBD-922E-FE53D45E5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99" y="1843087"/>
            <a:ext cx="5281251" cy="402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C01A5FFB-B3E7-4F96-B38D-E2E2433E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Elements of Use Case Diagram</a:t>
            </a:r>
          </a:p>
        </p:txBody>
      </p:sp>
      <p:pic>
        <p:nvPicPr>
          <p:cNvPr id="10243" name="Picture 3">
            <a:extLst>
              <a:ext uri="{FF2B5EF4-FFF2-40B4-BE49-F238E27FC236}">
                <a16:creationId xmlns:a16="http://schemas.microsoft.com/office/drawing/2014/main" id="{EAD1B3B1-9EF8-47A3-BE5B-149E8A3F2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752600"/>
            <a:ext cx="6144526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D5D6D238-DE41-44FE-BA8D-E21B6BBAE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Relationships in 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9E7F0-2FFB-4CED-8743-F58CFA59F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/>
              <a:t>Association</a:t>
            </a:r>
          </a:p>
          <a:p>
            <a:pPr lvl="1">
              <a:defRPr/>
            </a:pPr>
            <a:r>
              <a:rPr lang="en-US" dirty="0"/>
              <a:t>Between Actor and its Use Cases</a:t>
            </a:r>
          </a:p>
          <a:p>
            <a:pPr lvl="1">
              <a:defRPr/>
            </a:pP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b="1" dirty="0"/>
              <a:t> </a:t>
            </a:r>
            <a:r>
              <a:rPr lang="en-US" dirty="0"/>
              <a:t>between Use Cases</a:t>
            </a:r>
          </a:p>
          <a:p>
            <a:pPr lvl="1">
              <a:defRPr/>
            </a:pP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b="1" dirty="0"/>
              <a:t> </a:t>
            </a:r>
            <a:r>
              <a:rPr lang="en-US" dirty="0"/>
              <a:t>between Actors</a:t>
            </a:r>
          </a:p>
          <a:p>
            <a:pPr>
              <a:defRPr/>
            </a:pPr>
            <a:r>
              <a:rPr lang="en-US" dirty="0"/>
              <a:t>Generalization</a:t>
            </a:r>
          </a:p>
          <a:p>
            <a:pPr lvl="1">
              <a:defRPr/>
            </a:pPr>
            <a:r>
              <a:rPr lang="en-US" dirty="0"/>
              <a:t>Between Actors</a:t>
            </a:r>
          </a:p>
          <a:p>
            <a:pPr lvl="1">
              <a:defRPr/>
            </a:pPr>
            <a:r>
              <a:rPr lang="en-US" dirty="0"/>
              <a:t>Between Use Cases</a:t>
            </a:r>
          </a:p>
          <a:p>
            <a:pPr>
              <a:defRPr/>
            </a:pPr>
            <a:r>
              <a:rPr lang="en-US" dirty="0"/>
              <a:t>Dependency</a:t>
            </a:r>
          </a:p>
          <a:p>
            <a:pPr lvl="1">
              <a:defRPr/>
            </a:pPr>
            <a:r>
              <a:rPr lang="en-US" dirty="0"/>
              <a:t>Between Use Cases ONLY</a:t>
            </a:r>
          </a:p>
          <a:p>
            <a:pPr lvl="1">
              <a:defRPr/>
            </a:pPr>
            <a:r>
              <a:rPr lang="en-US" dirty="0"/>
              <a:t>&lt;&lt;include&gt;&gt; and &lt;&lt;extend&gt;&gt;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A62D869-9B00-4209-8842-696AB09E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6F9B-B6D0-4A77-B6E8-98E9569E9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/>
              <a:t>&lt;&lt;include&gt;&gt;</a:t>
            </a:r>
          </a:p>
          <a:p>
            <a:pPr lvl="1">
              <a:defRPr/>
            </a:pPr>
            <a:r>
              <a:rPr lang="en-US" dirty="0"/>
              <a:t>Mandatory dependency</a:t>
            </a:r>
          </a:p>
          <a:p>
            <a:pPr lvl="1">
              <a:defRPr/>
            </a:pPr>
            <a:r>
              <a:rPr lang="en-US" dirty="0"/>
              <a:t>&lt;&lt; </a:t>
            </a:r>
            <a:r>
              <a:rPr lang="en-US" dirty="0" err="1"/>
              <a:t>i</a:t>
            </a:r>
            <a:r>
              <a:rPr lang="en-US" dirty="0"/>
              <a:t> &gt;&gt;</a:t>
            </a:r>
          </a:p>
          <a:p>
            <a:pPr lvl="1">
              <a:defRPr/>
            </a:pPr>
            <a:r>
              <a:rPr lang="en-US" dirty="0"/>
              <a:t>Arrow towards the use case dependent on</a:t>
            </a:r>
          </a:p>
          <a:p>
            <a:pPr>
              <a:defRPr/>
            </a:pPr>
            <a:r>
              <a:rPr lang="en-US" b="1" dirty="0"/>
              <a:t>&lt;&lt;extend&gt;&gt;</a:t>
            </a:r>
          </a:p>
          <a:p>
            <a:pPr lvl="1">
              <a:defRPr/>
            </a:pPr>
            <a:r>
              <a:rPr lang="en-US" dirty="0"/>
              <a:t>Optional Dependency</a:t>
            </a:r>
          </a:p>
          <a:p>
            <a:pPr lvl="1">
              <a:defRPr/>
            </a:pPr>
            <a:r>
              <a:rPr lang="en-US" dirty="0"/>
              <a:t>&lt;&lt; e &gt;&gt;</a:t>
            </a:r>
          </a:p>
          <a:p>
            <a:pPr lvl="1">
              <a:defRPr/>
            </a:pPr>
            <a:r>
              <a:rPr lang="en-US" dirty="0"/>
              <a:t>Arrow from the use case dependent on</a:t>
            </a:r>
          </a:p>
          <a:p>
            <a:pPr lvl="1">
              <a:defRPr/>
            </a:pPr>
            <a:r>
              <a:rPr lang="en-US" dirty="0"/>
              <a:t>Often referred as options of the use case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pic>
        <p:nvPicPr>
          <p:cNvPr id="15363" name="Picture 3">
            <a:extLst>
              <a:ext uri="{FF2B5EF4-FFF2-40B4-BE49-F238E27FC236}">
                <a16:creationId xmlns:a16="http://schemas.microsoft.com/office/drawing/2014/main" id="{CD979F51-A7B2-4FC9-BABA-95BC89EC3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417638"/>
            <a:ext cx="4142031" cy="1670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42BEDDF1-DE05-4275-8921-B0BDE942E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124" y="3962400"/>
            <a:ext cx="4591382" cy="106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297B9554-FAD8-49FE-94A6-06C87038D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Generalization</a:t>
            </a:r>
          </a:p>
        </p:txBody>
      </p:sp>
      <p:pic>
        <p:nvPicPr>
          <p:cNvPr id="16387" name="Picture 4">
            <a:extLst>
              <a:ext uri="{FF2B5EF4-FFF2-40B4-BE49-F238E27FC236}">
                <a16:creationId xmlns:a16="http://schemas.microsoft.com/office/drawing/2014/main" id="{857F7956-D8FA-406B-8582-61AE11292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603" y="2133600"/>
            <a:ext cx="5624328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2269</TotalTime>
  <Words>563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Lecture 3 Use Case Diagram</vt:lpstr>
      <vt:lpstr>Objective</vt:lpstr>
      <vt:lpstr>What is Use Case?</vt:lpstr>
      <vt:lpstr>What is Actor?</vt:lpstr>
      <vt:lpstr>Actors</vt:lpstr>
      <vt:lpstr>Use Case Diagram</vt:lpstr>
      <vt:lpstr>Modeling the Requirements of a System</vt:lpstr>
      <vt:lpstr>Modeling the Requirements of a System</vt:lpstr>
      <vt:lpstr>Elements of Use Case Diagram</vt:lpstr>
      <vt:lpstr>Relationships in Use Case Diagram</vt:lpstr>
      <vt:lpstr>Dependency</vt:lpstr>
      <vt:lpstr>Generalization</vt:lpstr>
    </vt:vector>
  </TitlesOfParts>
  <Company>AIUB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2. Introducing the UML</dc:title>
  <dc:creator>Manzur</dc:creator>
  <cp:lastModifiedBy>Mohaimen-Bin-Noor</cp:lastModifiedBy>
  <cp:revision>90</cp:revision>
  <dcterms:created xsi:type="dcterms:W3CDTF">2010-05-25T07:05:39Z</dcterms:created>
  <dcterms:modified xsi:type="dcterms:W3CDTF">2025-03-11T07:21:14Z</dcterms:modified>
</cp:coreProperties>
</file>