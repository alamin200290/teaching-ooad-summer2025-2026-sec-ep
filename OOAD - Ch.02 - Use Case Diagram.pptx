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21"/>
  </p:notesMasterIdLst>
  <p:sldIdLst>
    <p:sldId id="256" r:id="rId2"/>
    <p:sldId id="295" r:id="rId3"/>
    <p:sldId id="296" r:id="rId4"/>
    <p:sldId id="297" r:id="rId5"/>
    <p:sldId id="298" r:id="rId6"/>
    <p:sldId id="299" r:id="rId7"/>
    <p:sldId id="300" r:id="rId8"/>
    <p:sldId id="301" r:id="rId9"/>
    <p:sldId id="302" r:id="rId10"/>
    <p:sldId id="304" r:id="rId11"/>
    <p:sldId id="305" r:id="rId12"/>
    <p:sldId id="306" r:id="rId13"/>
    <p:sldId id="307" r:id="rId14"/>
    <p:sldId id="308" r:id="rId15"/>
    <p:sldId id="309" r:id="rId16"/>
    <p:sldId id="310" r:id="rId17"/>
    <p:sldId id="314" r:id="rId18"/>
    <p:sldId id="315" r:id="rId19"/>
    <p:sldId id="313"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149" autoAdjust="0"/>
    <p:restoredTop sz="94434" autoAdjust="0"/>
  </p:normalViewPr>
  <p:slideViewPr>
    <p:cSldViewPr snapToGrid="0">
      <p:cViewPr varScale="1">
        <p:scale>
          <a:sx n="119" d="100"/>
          <a:sy n="119" d="100"/>
        </p:scale>
        <p:origin x="224" y="5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d. Al-Amin" userId="bcbe49e6-e4a7-45c5-8a0e-d548ae8c8143" providerId="ADAL" clId="{155A28E3-B503-4A44-8FB9-CFB2B9571E98}"/>
    <pc:docChg chg="custSel modSld">
      <pc:chgData name="Md. Al-Amin" userId="bcbe49e6-e4a7-45c5-8a0e-d548ae8c8143" providerId="ADAL" clId="{155A28E3-B503-4A44-8FB9-CFB2B9571E98}" dt="2024-06-02T09:31:37.389" v="37"/>
      <pc:docMkLst>
        <pc:docMk/>
      </pc:docMkLst>
      <pc:sldChg chg="delSp modSp mod">
        <pc:chgData name="Md. Al-Amin" userId="bcbe49e6-e4a7-45c5-8a0e-d548ae8c8143" providerId="ADAL" clId="{155A28E3-B503-4A44-8FB9-CFB2B9571E98}" dt="2024-06-02T09:29:56.551" v="21" actId="478"/>
        <pc:sldMkLst>
          <pc:docMk/>
          <pc:sldMk cId="2664565021" sldId="256"/>
        </pc:sldMkLst>
        <pc:spChg chg="mod">
          <ac:chgData name="Md. Al-Amin" userId="bcbe49e6-e4a7-45c5-8a0e-d548ae8c8143" providerId="ADAL" clId="{155A28E3-B503-4A44-8FB9-CFB2B9571E98}" dt="2024-06-02T09:28:09.504" v="18" actId="20577"/>
          <ac:spMkLst>
            <pc:docMk/>
            <pc:sldMk cId="2664565021" sldId="256"/>
            <ac:spMk id="2" creationId="{EF8B4230-4D6D-4764-84CF-BC99A0261177}"/>
          </ac:spMkLst>
        </pc:spChg>
        <pc:picChg chg="del">
          <ac:chgData name="Md. Al-Amin" userId="bcbe49e6-e4a7-45c5-8a0e-d548ae8c8143" providerId="ADAL" clId="{155A28E3-B503-4A44-8FB9-CFB2B9571E98}" dt="2024-06-02T09:29:52.720" v="19" actId="478"/>
          <ac:picMkLst>
            <pc:docMk/>
            <pc:sldMk cId="2664565021" sldId="256"/>
            <ac:picMk id="25" creationId="{50ADB631-A102-4E27-9E4F-8BEAA32309AE}"/>
          </ac:picMkLst>
        </pc:picChg>
        <pc:picChg chg="del">
          <ac:chgData name="Md. Al-Amin" userId="bcbe49e6-e4a7-45c5-8a0e-d548ae8c8143" providerId="ADAL" clId="{155A28E3-B503-4A44-8FB9-CFB2B9571E98}" dt="2024-06-02T09:29:56.551" v="21" actId="478"/>
          <ac:picMkLst>
            <pc:docMk/>
            <pc:sldMk cId="2664565021" sldId="256"/>
            <ac:picMk id="26" creationId="{5178D95F-BBA9-4DB7-8929-D0378B8248EA}"/>
          </ac:picMkLst>
        </pc:picChg>
        <pc:picChg chg="del">
          <ac:chgData name="Md. Al-Amin" userId="bcbe49e6-e4a7-45c5-8a0e-d548ae8c8143" providerId="ADAL" clId="{155A28E3-B503-4A44-8FB9-CFB2B9571E98}" dt="2024-06-02T09:29:54.680" v="20" actId="478"/>
          <ac:picMkLst>
            <pc:docMk/>
            <pc:sldMk cId="2664565021" sldId="256"/>
            <ac:picMk id="27" creationId="{6C55067C-425B-4011-BE53-FC42477C2FFE}"/>
          </ac:picMkLst>
        </pc:picChg>
      </pc:sldChg>
      <pc:sldChg chg="modSp mod">
        <pc:chgData name="Md. Al-Amin" userId="bcbe49e6-e4a7-45c5-8a0e-d548ae8c8143" providerId="ADAL" clId="{155A28E3-B503-4A44-8FB9-CFB2B9571E98}" dt="2024-06-02T09:30:02.899" v="22"/>
        <pc:sldMkLst>
          <pc:docMk/>
          <pc:sldMk cId="1663529836" sldId="295"/>
        </pc:sldMkLst>
        <pc:spChg chg="mod">
          <ac:chgData name="Md. Al-Amin" userId="bcbe49e6-e4a7-45c5-8a0e-d548ae8c8143" providerId="ADAL" clId="{155A28E3-B503-4A44-8FB9-CFB2B9571E98}" dt="2024-06-02T09:30:02.899" v="22"/>
          <ac:spMkLst>
            <pc:docMk/>
            <pc:sldMk cId="1663529836" sldId="295"/>
            <ac:spMk id="11" creationId="{224224C9-B650-4F80-A14E-6A0CA82EA689}"/>
          </ac:spMkLst>
        </pc:spChg>
      </pc:sldChg>
      <pc:sldChg chg="modSp mod">
        <pc:chgData name="Md. Al-Amin" userId="bcbe49e6-e4a7-45c5-8a0e-d548ae8c8143" providerId="ADAL" clId="{155A28E3-B503-4A44-8FB9-CFB2B9571E98}" dt="2024-06-02T09:30:08.931" v="23"/>
        <pc:sldMkLst>
          <pc:docMk/>
          <pc:sldMk cId="4097638480" sldId="296"/>
        </pc:sldMkLst>
        <pc:spChg chg="mod">
          <ac:chgData name="Md. Al-Amin" userId="bcbe49e6-e4a7-45c5-8a0e-d548ae8c8143" providerId="ADAL" clId="{155A28E3-B503-4A44-8FB9-CFB2B9571E98}" dt="2024-06-02T09:30:08.931" v="23"/>
          <ac:spMkLst>
            <pc:docMk/>
            <pc:sldMk cId="4097638480" sldId="296"/>
            <ac:spMk id="12" creationId="{C78DF00F-CB83-416F-ACB6-845D19B8F836}"/>
          </ac:spMkLst>
        </pc:spChg>
      </pc:sldChg>
      <pc:sldChg chg="modSp mod">
        <pc:chgData name="Md. Al-Amin" userId="bcbe49e6-e4a7-45c5-8a0e-d548ae8c8143" providerId="ADAL" clId="{155A28E3-B503-4A44-8FB9-CFB2B9571E98}" dt="2024-06-02T09:30:14.049" v="24"/>
        <pc:sldMkLst>
          <pc:docMk/>
          <pc:sldMk cId="2255806174" sldId="297"/>
        </pc:sldMkLst>
        <pc:spChg chg="mod">
          <ac:chgData name="Md. Al-Amin" userId="bcbe49e6-e4a7-45c5-8a0e-d548ae8c8143" providerId="ADAL" clId="{155A28E3-B503-4A44-8FB9-CFB2B9571E98}" dt="2024-06-02T09:30:14.049" v="24"/>
          <ac:spMkLst>
            <pc:docMk/>
            <pc:sldMk cId="2255806174" sldId="297"/>
            <ac:spMk id="6" creationId="{553DB476-16CA-4663-AC6E-FC0D10677A7D}"/>
          </ac:spMkLst>
        </pc:spChg>
      </pc:sldChg>
      <pc:sldChg chg="modSp mod">
        <pc:chgData name="Md. Al-Amin" userId="bcbe49e6-e4a7-45c5-8a0e-d548ae8c8143" providerId="ADAL" clId="{155A28E3-B503-4A44-8FB9-CFB2B9571E98}" dt="2024-06-02T09:30:18.259" v="25"/>
        <pc:sldMkLst>
          <pc:docMk/>
          <pc:sldMk cId="1447131103" sldId="298"/>
        </pc:sldMkLst>
        <pc:spChg chg="mod">
          <ac:chgData name="Md. Al-Amin" userId="bcbe49e6-e4a7-45c5-8a0e-d548ae8c8143" providerId="ADAL" clId="{155A28E3-B503-4A44-8FB9-CFB2B9571E98}" dt="2024-06-02T09:30:18.259" v="25"/>
          <ac:spMkLst>
            <pc:docMk/>
            <pc:sldMk cId="1447131103" sldId="298"/>
            <ac:spMk id="6" creationId="{3F66CC70-BAB5-44C1-A739-473B6BC746AD}"/>
          </ac:spMkLst>
        </pc:spChg>
      </pc:sldChg>
      <pc:sldChg chg="modSp mod">
        <pc:chgData name="Md. Al-Amin" userId="bcbe49e6-e4a7-45c5-8a0e-d548ae8c8143" providerId="ADAL" clId="{155A28E3-B503-4A44-8FB9-CFB2B9571E98}" dt="2024-06-02T09:30:22.422" v="26"/>
        <pc:sldMkLst>
          <pc:docMk/>
          <pc:sldMk cId="2462530114" sldId="299"/>
        </pc:sldMkLst>
        <pc:spChg chg="mod">
          <ac:chgData name="Md. Al-Amin" userId="bcbe49e6-e4a7-45c5-8a0e-d548ae8c8143" providerId="ADAL" clId="{155A28E3-B503-4A44-8FB9-CFB2B9571E98}" dt="2024-06-02T09:30:22.422" v="26"/>
          <ac:spMkLst>
            <pc:docMk/>
            <pc:sldMk cId="2462530114" sldId="299"/>
            <ac:spMk id="5" creationId="{B7AC7E7B-0C37-40B5-906F-996D66D65A45}"/>
          </ac:spMkLst>
        </pc:spChg>
      </pc:sldChg>
      <pc:sldChg chg="modSp mod">
        <pc:chgData name="Md. Al-Amin" userId="bcbe49e6-e4a7-45c5-8a0e-d548ae8c8143" providerId="ADAL" clId="{155A28E3-B503-4A44-8FB9-CFB2B9571E98}" dt="2024-06-02T09:30:26.190" v="27"/>
        <pc:sldMkLst>
          <pc:docMk/>
          <pc:sldMk cId="1045727627" sldId="300"/>
        </pc:sldMkLst>
        <pc:spChg chg="mod">
          <ac:chgData name="Md. Al-Amin" userId="bcbe49e6-e4a7-45c5-8a0e-d548ae8c8143" providerId="ADAL" clId="{155A28E3-B503-4A44-8FB9-CFB2B9571E98}" dt="2024-06-02T09:30:26.190" v="27"/>
          <ac:spMkLst>
            <pc:docMk/>
            <pc:sldMk cId="1045727627" sldId="300"/>
            <ac:spMk id="6" creationId="{56584A0D-8189-42A5-BB1F-9169BEF524FB}"/>
          </ac:spMkLst>
        </pc:spChg>
      </pc:sldChg>
      <pc:sldChg chg="modSp mod">
        <pc:chgData name="Md. Al-Amin" userId="bcbe49e6-e4a7-45c5-8a0e-d548ae8c8143" providerId="ADAL" clId="{155A28E3-B503-4A44-8FB9-CFB2B9571E98}" dt="2024-06-02T09:30:32.562" v="28"/>
        <pc:sldMkLst>
          <pc:docMk/>
          <pc:sldMk cId="3582580416" sldId="301"/>
        </pc:sldMkLst>
        <pc:spChg chg="mod">
          <ac:chgData name="Md. Al-Amin" userId="bcbe49e6-e4a7-45c5-8a0e-d548ae8c8143" providerId="ADAL" clId="{155A28E3-B503-4A44-8FB9-CFB2B9571E98}" dt="2024-06-02T09:30:32.562" v="28"/>
          <ac:spMkLst>
            <pc:docMk/>
            <pc:sldMk cId="3582580416" sldId="301"/>
            <ac:spMk id="6" creationId="{3F8DDCA1-8D2F-4FF1-8C28-1E3A664221C7}"/>
          </ac:spMkLst>
        </pc:spChg>
      </pc:sldChg>
      <pc:sldChg chg="modSp mod">
        <pc:chgData name="Md. Al-Amin" userId="bcbe49e6-e4a7-45c5-8a0e-d548ae8c8143" providerId="ADAL" clId="{155A28E3-B503-4A44-8FB9-CFB2B9571E98}" dt="2024-06-02T09:30:43.942" v="29"/>
        <pc:sldMkLst>
          <pc:docMk/>
          <pc:sldMk cId="301933485" sldId="302"/>
        </pc:sldMkLst>
        <pc:spChg chg="mod">
          <ac:chgData name="Md. Al-Amin" userId="bcbe49e6-e4a7-45c5-8a0e-d548ae8c8143" providerId="ADAL" clId="{155A28E3-B503-4A44-8FB9-CFB2B9571E98}" dt="2024-06-02T09:30:43.942" v="29"/>
          <ac:spMkLst>
            <pc:docMk/>
            <pc:sldMk cId="301933485" sldId="302"/>
            <ac:spMk id="6" creationId="{91B9A805-7E69-4870-A41B-F40E1FC806E6}"/>
          </ac:spMkLst>
        </pc:spChg>
      </pc:sldChg>
      <pc:sldChg chg="modSp mod">
        <pc:chgData name="Md. Al-Amin" userId="bcbe49e6-e4a7-45c5-8a0e-d548ae8c8143" providerId="ADAL" clId="{155A28E3-B503-4A44-8FB9-CFB2B9571E98}" dt="2024-06-02T09:30:53.839" v="30"/>
        <pc:sldMkLst>
          <pc:docMk/>
          <pc:sldMk cId="3978179232" sldId="304"/>
        </pc:sldMkLst>
        <pc:spChg chg="mod">
          <ac:chgData name="Md. Al-Amin" userId="bcbe49e6-e4a7-45c5-8a0e-d548ae8c8143" providerId="ADAL" clId="{155A28E3-B503-4A44-8FB9-CFB2B9571E98}" dt="2024-06-02T09:30:53.839" v="30"/>
          <ac:spMkLst>
            <pc:docMk/>
            <pc:sldMk cId="3978179232" sldId="304"/>
            <ac:spMk id="6" creationId="{7854C550-1096-413C-B23A-97D2367F195C}"/>
          </ac:spMkLst>
        </pc:spChg>
      </pc:sldChg>
      <pc:sldChg chg="modSp mod">
        <pc:chgData name="Md. Al-Amin" userId="bcbe49e6-e4a7-45c5-8a0e-d548ae8c8143" providerId="ADAL" clId="{155A28E3-B503-4A44-8FB9-CFB2B9571E98}" dt="2024-06-02T09:31:02.921" v="31"/>
        <pc:sldMkLst>
          <pc:docMk/>
          <pc:sldMk cId="4003408380" sldId="305"/>
        </pc:sldMkLst>
        <pc:spChg chg="mod">
          <ac:chgData name="Md. Al-Amin" userId="bcbe49e6-e4a7-45c5-8a0e-d548ae8c8143" providerId="ADAL" clId="{155A28E3-B503-4A44-8FB9-CFB2B9571E98}" dt="2024-06-02T09:31:02.921" v="31"/>
          <ac:spMkLst>
            <pc:docMk/>
            <pc:sldMk cId="4003408380" sldId="305"/>
            <ac:spMk id="11" creationId="{7C9A1C11-7E03-4D44-98A8-9A94CA6A2CB1}"/>
          </ac:spMkLst>
        </pc:spChg>
      </pc:sldChg>
      <pc:sldChg chg="modSp mod">
        <pc:chgData name="Md. Al-Amin" userId="bcbe49e6-e4a7-45c5-8a0e-d548ae8c8143" providerId="ADAL" clId="{155A28E3-B503-4A44-8FB9-CFB2B9571E98}" dt="2024-06-02T09:31:09.550" v="32"/>
        <pc:sldMkLst>
          <pc:docMk/>
          <pc:sldMk cId="1545746577" sldId="306"/>
        </pc:sldMkLst>
        <pc:spChg chg="mod">
          <ac:chgData name="Md. Al-Amin" userId="bcbe49e6-e4a7-45c5-8a0e-d548ae8c8143" providerId="ADAL" clId="{155A28E3-B503-4A44-8FB9-CFB2B9571E98}" dt="2024-06-02T09:31:09.550" v="32"/>
          <ac:spMkLst>
            <pc:docMk/>
            <pc:sldMk cId="1545746577" sldId="306"/>
            <ac:spMk id="11" creationId="{46E451D6-D87C-4417-B09C-BB89E660144E}"/>
          </ac:spMkLst>
        </pc:spChg>
      </pc:sldChg>
      <pc:sldChg chg="modSp mod">
        <pc:chgData name="Md. Al-Amin" userId="bcbe49e6-e4a7-45c5-8a0e-d548ae8c8143" providerId="ADAL" clId="{155A28E3-B503-4A44-8FB9-CFB2B9571E98}" dt="2024-06-02T09:31:15.706" v="33"/>
        <pc:sldMkLst>
          <pc:docMk/>
          <pc:sldMk cId="3017070649" sldId="307"/>
        </pc:sldMkLst>
        <pc:spChg chg="mod">
          <ac:chgData name="Md. Al-Amin" userId="bcbe49e6-e4a7-45c5-8a0e-d548ae8c8143" providerId="ADAL" clId="{155A28E3-B503-4A44-8FB9-CFB2B9571E98}" dt="2024-06-02T09:31:15.706" v="33"/>
          <ac:spMkLst>
            <pc:docMk/>
            <pc:sldMk cId="3017070649" sldId="307"/>
            <ac:spMk id="11" creationId="{9B3D68A6-1431-4AEC-B29B-B665A06A326C}"/>
          </ac:spMkLst>
        </pc:spChg>
      </pc:sldChg>
      <pc:sldChg chg="modSp mod">
        <pc:chgData name="Md. Al-Amin" userId="bcbe49e6-e4a7-45c5-8a0e-d548ae8c8143" providerId="ADAL" clId="{155A28E3-B503-4A44-8FB9-CFB2B9571E98}" dt="2024-06-02T09:31:20.167" v="34"/>
        <pc:sldMkLst>
          <pc:docMk/>
          <pc:sldMk cId="43638397" sldId="308"/>
        </pc:sldMkLst>
        <pc:spChg chg="mod">
          <ac:chgData name="Md. Al-Amin" userId="bcbe49e6-e4a7-45c5-8a0e-d548ae8c8143" providerId="ADAL" clId="{155A28E3-B503-4A44-8FB9-CFB2B9571E98}" dt="2024-06-02T09:31:20.167" v="34"/>
          <ac:spMkLst>
            <pc:docMk/>
            <pc:sldMk cId="43638397" sldId="308"/>
            <ac:spMk id="12" creationId="{D245FC0D-45A2-4E4A-B7DF-9A3DDE4A223B}"/>
          </ac:spMkLst>
        </pc:spChg>
      </pc:sldChg>
      <pc:sldChg chg="modSp mod">
        <pc:chgData name="Md. Al-Amin" userId="bcbe49e6-e4a7-45c5-8a0e-d548ae8c8143" providerId="ADAL" clId="{155A28E3-B503-4A44-8FB9-CFB2B9571E98}" dt="2024-06-02T09:31:26.934" v="35"/>
        <pc:sldMkLst>
          <pc:docMk/>
          <pc:sldMk cId="174346369" sldId="309"/>
        </pc:sldMkLst>
        <pc:spChg chg="mod">
          <ac:chgData name="Md. Al-Amin" userId="bcbe49e6-e4a7-45c5-8a0e-d548ae8c8143" providerId="ADAL" clId="{155A28E3-B503-4A44-8FB9-CFB2B9571E98}" dt="2024-06-02T09:31:26.934" v="35"/>
          <ac:spMkLst>
            <pc:docMk/>
            <pc:sldMk cId="174346369" sldId="309"/>
            <ac:spMk id="11" creationId="{A3653883-661A-498F-AEE3-E169986B3642}"/>
          </ac:spMkLst>
        </pc:spChg>
      </pc:sldChg>
      <pc:sldChg chg="modSp mod">
        <pc:chgData name="Md. Al-Amin" userId="bcbe49e6-e4a7-45c5-8a0e-d548ae8c8143" providerId="ADAL" clId="{155A28E3-B503-4A44-8FB9-CFB2B9571E98}" dt="2024-06-02T09:31:31.820" v="36"/>
        <pc:sldMkLst>
          <pc:docMk/>
          <pc:sldMk cId="1045691570" sldId="310"/>
        </pc:sldMkLst>
        <pc:spChg chg="mod">
          <ac:chgData name="Md. Al-Amin" userId="bcbe49e6-e4a7-45c5-8a0e-d548ae8c8143" providerId="ADAL" clId="{155A28E3-B503-4A44-8FB9-CFB2B9571E98}" dt="2024-06-02T09:31:31.820" v="36"/>
          <ac:spMkLst>
            <pc:docMk/>
            <pc:sldMk cId="1045691570" sldId="310"/>
            <ac:spMk id="11" creationId="{76FCF0BE-B873-4D02-8C7A-511B96D5C374}"/>
          </ac:spMkLst>
        </pc:spChg>
      </pc:sldChg>
      <pc:sldChg chg="modSp mod">
        <pc:chgData name="Md. Al-Amin" userId="bcbe49e6-e4a7-45c5-8a0e-d548ae8c8143" providerId="ADAL" clId="{155A28E3-B503-4A44-8FB9-CFB2B9571E98}" dt="2024-06-02T09:31:37.389" v="37"/>
        <pc:sldMkLst>
          <pc:docMk/>
          <pc:sldMk cId="2967982901" sldId="313"/>
        </pc:sldMkLst>
        <pc:spChg chg="mod">
          <ac:chgData name="Md. Al-Amin" userId="bcbe49e6-e4a7-45c5-8a0e-d548ae8c8143" providerId="ADAL" clId="{155A28E3-B503-4A44-8FB9-CFB2B9571E98}" dt="2024-06-02T09:31:37.389" v="37"/>
          <ac:spMkLst>
            <pc:docMk/>
            <pc:sldMk cId="2967982901" sldId="313"/>
            <ac:spMk id="11" creationId="{DDE2FDC1-2C28-49A4-914D-C9DC8AFAFDE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210FD6-79C5-4041-8E7A-89350618D070}" type="datetimeFigureOut">
              <a:rPr lang="en-GB" smtClean="0"/>
              <a:pPr/>
              <a:t>14/06/2026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26CA59-B645-4A00-A667-3A942CDB8E2D}" type="slidenum">
              <a:rPr lang="en-GB" smtClean="0"/>
              <a:pPr/>
              <a:t>‹#›</a:t>
            </a:fld>
            <a:endParaRPr lang="en-GB"/>
          </a:p>
        </p:txBody>
      </p:sp>
    </p:spTree>
    <p:extLst>
      <p:ext uri="{BB962C8B-B14F-4D97-AF65-F5344CB8AC3E}">
        <p14:creationId xmlns:p14="http://schemas.microsoft.com/office/powerpoint/2010/main" val="2365805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E26CA59-B645-4A00-A667-3A942CDB8E2D}" type="slidenum">
              <a:rPr lang="en-GB" smtClean="0"/>
              <a:pPr/>
              <a:t>1</a:t>
            </a:fld>
            <a:endParaRPr lang="en-GB"/>
          </a:p>
        </p:txBody>
      </p:sp>
    </p:spTree>
    <p:extLst>
      <p:ext uri="{BB962C8B-B14F-4D97-AF65-F5344CB8AC3E}">
        <p14:creationId xmlns:p14="http://schemas.microsoft.com/office/powerpoint/2010/main" val="11045053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E26CA59-B645-4A00-A667-3A942CDB8E2D}" type="slidenum">
              <a:rPr lang="en-GB" smtClean="0"/>
              <a:pPr/>
              <a:t>10</a:t>
            </a:fld>
            <a:endParaRPr lang="en-GB"/>
          </a:p>
        </p:txBody>
      </p:sp>
    </p:spTree>
    <p:extLst>
      <p:ext uri="{BB962C8B-B14F-4D97-AF65-F5344CB8AC3E}">
        <p14:creationId xmlns:p14="http://schemas.microsoft.com/office/powerpoint/2010/main" val="18076781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4FFDFDB9-D628-4A18-8BA7-33EF406917E6}" type="datetime1">
              <a:rPr lang="en-US" smtClean="0"/>
              <a:pPr/>
              <a:t>6/14/26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DDDB41-4229-47AF-BA03-C191A66FB94C}" type="datetime1">
              <a:rPr lang="en-US" smtClean="0"/>
              <a:pPr/>
              <a:t>6/14/26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C08422A-3B8F-4FAB-94E1-75E89E1391CC}" type="datetime1">
              <a:rPr lang="en-US" smtClean="0"/>
              <a:pPr/>
              <a:t>6/14/26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7392D4-64E7-470C-9229-F729BA72710A}" type="datetime1">
              <a:rPr lang="en-US" smtClean="0"/>
              <a:pPr/>
              <a:t>6/14/26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ECD79C-F41C-4E95-A4BE-2712B8C4A412}" type="datetime1">
              <a:rPr lang="en-US" smtClean="0"/>
              <a:pPr/>
              <a:t>6/14/26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AAE8F3-6A5D-412D-87FA-D951F64E80C1}" type="datetime1">
              <a:rPr lang="en-US" smtClean="0"/>
              <a:pPr/>
              <a:t>6/14/26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0F486A-D265-402A-B6CD-5D626FC3EDC7}" type="datetime1">
              <a:rPr lang="en-US" smtClean="0"/>
              <a:pPr/>
              <a:t>6/14/26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7416B92-2D29-4309-8FD4-8EC023BBFD61}" type="datetime1">
              <a:rPr lang="en-US" smtClean="0"/>
              <a:pPr/>
              <a:t>6/14/26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484BAD-8657-4978-A2B2-B1BBE7089EFE}" type="datetime1">
              <a:rPr lang="en-US" smtClean="0"/>
              <a:pPr/>
              <a:t>6/14/26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B11AF3-EEF6-43B0-9CB4-662539EFD2B2}" type="datetime1">
              <a:rPr lang="en-US" smtClean="0"/>
              <a:pPr/>
              <a:t>6/14/26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71272FE-5A2D-492A-8166-5DAA8B18B7EA}" type="datetime1">
              <a:rPr lang="en-US" smtClean="0"/>
              <a:pPr/>
              <a:t>6/14/26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46415B1-2572-4F4E-AFA0-B4063C44FA40}" type="datetime1">
              <a:rPr lang="en-US" smtClean="0"/>
              <a:pPr/>
              <a:t>6/14/26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AA9F65-94B8-41A5-A7FF-23D2CFB11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7E8B0F8E-3F6C-4541-B9C1-774D80A0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7A45F5BC-32D1-41CD-B270-C46F18CA1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CE57EE13-72B0-4FFA-ACE1-EBDE89340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6" name="Rectangle 15">
            <a:extLst>
              <a:ext uri="{FF2B5EF4-FFF2-40B4-BE49-F238E27FC236}">
                <a16:creationId xmlns:a16="http://schemas.microsoft.com/office/drawing/2014/main" id="{DA182162-B517-4B41-B039-339F87FAE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9B5AD54-1E68-4239-A6AF-FE0F49BB8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ubtitle 2"/>
          <p:cNvSpPr>
            <a:spLocks noGrp="1"/>
          </p:cNvSpPr>
          <p:nvPr>
            <p:ph type="body" idx="1"/>
          </p:nvPr>
        </p:nvSpPr>
        <p:spPr>
          <a:xfrm>
            <a:off x="768267" y="1009397"/>
            <a:ext cx="3078342" cy="4801468"/>
          </a:xfrm>
        </p:spPr>
        <p:txBody>
          <a:bodyPr vert="horz" lIns="91440" tIns="45720" rIns="91440" bIns="45720" rtlCol="0" anchor="ctr">
            <a:normAutofit/>
          </a:bodyPr>
          <a:lstStyle/>
          <a:p>
            <a:pPr algn="ctr"/>
            <a:r>
              <a:rPr lang="en-US" sz="2400" dirty="0">
                <a:solidFill>
                  <a:srgbClr val="FFFFFF"/>
                </a:solidFill>
              </a:rPr>
              <a:t>Software engineering (Undergraduate)</a:t>
            </a:r>
          </a:p>
        </p:txBody>
      </p:sp>
      <p:sp>
        <p:nvSpPr>
          <p:cNvPr id="13" name="Rectangle 7">
            <a:extLst>
              <a:ext uri="{FF2B5EF4-FFF2-40B4-BE49-F238E27FC236}">
                <a16:creationId xmlns:a16="http://schemas.microsoft.com/office/drawing/2014/main" id="{71131479-3A67-4241-BA19-63C61B2AD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9">
            <a:extLst>
              <a:ext uri="{FF2B5EF4-FFF2-40B4-BE49-F238E27FC236}">
                <a16:creationId xmlns:a16="http://schemas.microsoft.com/office/drawing/2014/main" id="{D71187A8-1267-46DA-BD99-56CA1E3D4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1">
            <a:extLst>
              <a:ext uri="{FF2B5EF4-FFF2-40B4-BE49-F238E27FC236}">
                <a16:creationId xmlns:a16="http://schemas.microsoft.com/office/drawing/2014/main" id="{BC2278FC-331B-4EF7-9D0D-AA0D349A2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3">
            <a:extLst>
              <a:ext uri="{FF2B5EF4-FFF2-40B4-BE49-F238E27FC236}">
                <a16:creationId xmlns:a16="http://schemas.microsoft.com/office/drawing/2014/main" id="{807A075E-21A0-4954-BEA3-22C78E6FA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0" name="Rectangle 15">
            <a:extLst>
              <a:ext uri="{FF2B5EF4-FFF2-40B4-BE49-F238E27FC236}">
                <a16:creationId xmlns:a16="http://schemas.microsoft.com/office/drawing/2014/main" id="{F58081DC-3CFD-4290-87AE-164515084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7">
            <a:extLst>
              <a:ext uri="{FF2B5EF4-FFF2-40B4-BE49-F238E27FC236}">
                <a16:creationId xmlns:a16="http://schemas.microsoft.com/office/drawing/2014/main" id="{F6FC796D-883B-4149-9128-47B4179B3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Subtitle 2">
            <a:extLst>
              <a:ext uri="{FF2B5EF4-FFF2-40B4-BE49-F238E27FC236}">
                <a16:creationId xmlns:a16="http://schemas.microsoft.com/office/drawing/2014/main" id="{76B6F65C-6B4A-4901-8A96-CE7330250469}"/>
              </a:ext>
            </a:extLst>
          </p:cNvPr>
          <p:cNvSpPr txBox="1">
            <a:spLocks/>
          </p:cNvSpPr>
          <p:nvPr/>
        </p:nvSpPr>
        <p:spPr>
          <a:xfrm>
            <a:off x="606035" y="486697"/>
            <a:ext cx="3405526" cy="293492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2400" u="sng" cap="all" dirty="0">
                <a:solidFill>
                  <a:srgbClr val="FFFFFF"/>
                </a:solidFill>
              </a:rPr>
              <a:t>Course Name</a:t>
            </a:r>
            <a:br>
              <a:rPr lang="en-US" sz="2400" u="sng" cap="all" dirty="0">
                <a:solidFill>
                  <a:srgbClr val="FFFFFF"/>
                </a:solidFill>
              </a:rPr>
            </a:br>
            <a:br>
              <a:rPr lang="en-US" sz="2400" cap="all" dirty="0">
                <a:solidFill>
                  <a:srgbClr val="FFFFFF"/>
                </a:solidFill>
              </a:rPr>
            </a:br>
            <a:r>
              <a:rPr lang="en-US" sz="2400" cap="all" dirty="0">
                <a:solidFill>
                  <a:srgbClr val="FFFFFF"/>
                </a:solidFill>
              </a:rPr>
              <a:t>object oriented analysis and design</a:t>
            </a:r>
          </a:p>
          <a:p>
            <a:pPr marL="0" indent="0" algn="ctr">
              <a:buFont typeface="Wingdings 2" panose="05020102010507070707" pitchFamily="18" charset="2"/>
              <a:buNone/>
            </a:pPr>
            <a:r>
              <a:rPr lang="en-US" sz="2400" cap="all" dirty="0">
                <a:solidFill>
                  <a:srgbClr val="FFFFFF"/>
                </a:solidFill>
              </a:rPr>
              <a:t>CSC 2210</a:t>
            </a:r>
          </a:p>
          <a:p>
            <a:pPr marL="0" indent="0" algn="ctr">
              <a:buFont typeface="Wingdings 2" panose="05020102010507070707" pitchFamily="18" charset="2"/>
              <a:buNone/>
            </a:pPr>
            <a:r>
              <a:rPr lang="en-US" sz="2400" cap="all" dirty="0">
                <a:solidFill>
                  <a:srgbClr val="FFFFFF"/>
                </a:solidFill>
              </a:rPr>
              <a:t> (Undergraduate)</a:t>
            </a:r>
          </a:p>
        </p:txBody>
      </p:sp>
      <p:sp>
        <p:nvSpPr>
          <p:cNvPr id="23" name="Title 1">
            <a:extLst>
              <a:ext uri="{FF2B5EF4-FFF2-40B4-BE49-F238E27FC236}">
                <a16:creationId xmlns:a16="http://schemas.microsoft.com/office/drawing/2014/main" id="{0CADBF75-A870-4E01-9DB8-F57472A203D2}"/>
              </a:ext>
            </a:extLst>
          </p:cNvPr>
          <p:cNvSpPr txBox="1">
            <a:spLocks/>
          </p:cNvSpPr>
          <p:nvPr/>
        </p:nvSpPr>
        <p:spPr>
          <a:xfrm>
            <a:off x="4471587" y="1005840"/>
            <a:ext cx="7181903" cy="1383399"/>
          </a:xfrm>
          <a:prstGeom prst="rect">
            <a:avLst/>
          </a:prstGeom>
        </p:spPr>
        <p:txBody>
          <a:bodyPr vert="horz" lIns="91440" tIns="45720" rIns="91440" bIns="45720" rtlCol="0" anchor="ctr">
            <a:normAutofit fontScale="97500" lnSpcReduction="1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000" dirty="0">
                <a:solidFill>
                  <a:srgbClr val="C00000"/>
                </a:solidFill>
              </a:rPr>
              <a:t>Chapter 2</a:t>
            </a:r>
            <a:br>
              <a:rPr lang="en-US" sz="3000" dirty="0">
                <a:solidFill>
                  <a:srgbClr val="C00000"/>
                </a:solidFill>
              </a:rPr>
            </a:br>
            <a:br>
              <a:rPr lang="en-US" sz="3000" dirty="0">
                <a:solidFill>
                  <a:schemeClr val="tx2"/>
                </a:solidFill>
              </a:rPr>
            </a:br>
            <a:r>
              <a:rPr lang="en-US" sz="3000" dirty="0">
                <a:solidFill>
                  <a:schemeClr val="tx2"/>
                </a:solidFill>
              </a:rPr>
              <a:t>use case diagram</a:t>
            </a:r>
          </a:p>
        </p:txBody>
      </p:sp>
      <p:cxnSp>
        <p:nvCxnSpPr>
          <p:cNvPr id="28" name="Straight Connector 27">
            <a:extLst>
              <a:ext uri="{FF2B5EF4-FFF2-40B4-BE49-F238E27FC236}">
                <a16:creationId xmlns:a16="http://schemas.microsoft.com/office/drawing/2014/main" id="{085CC0F6-BD7E-4264-9DDC-E65E61EE7B84}"/>
              </a:ext>
            </a:extLst>
          </p:cNvPr>
          <p:cNvCxnSpPr/>
          <p:nvPr/>
        </p:nvCxnSpPr>
        <p:spPr>
          <a:xfrm>
            <a:off x="4350774" y="796413"/>
            <a:ext cx="7329949"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29" name="Straight Connector 28">
            <a:extLst>
              <a:ext uri="{FF2B5EF4-FFF2-40B4-BE49-F238E27FC236}">
                <a16:creationId xmlns:a16="http://schemas.microsoft.com/office/drawing/2014/main" id="{E6E5F233-5F84-472A-B835-11475F02A795}"/>
              </a:ext>
            </a:extLst>
          </p:cNvPr>
          <p:cNvCxnSpPr/>
          <p:nvPr/>
        </p:nvCxnSpPr>
        <p:spPr>
          <a:xfrm>
            <a:off x="4340942" y="2969341"/>
            <a:ext cx="7329949" cy="0"/>
          </a:xfrm>
          <a:prstGeom prst="line">
            <a:avLst/>
          </a:prstGeom>
        </p:spPr>
        <p:style>
          <a:lnRef idx="3">
            <a:schemeClr val="accent2"/>
          </a:lnRef>
          <a:fillRef idx="0">
            <a:schemeClr val="accent2"/>
          </a:fillRef>
          <a:effectRef idx="2">
            <a:schemeClr val="accent2"/>
          </a:effectRef>
          <a:fontRef idx="minor">
            <a:schemeClr val="tx1"/>
          </a:fontRef>
        </p:style>
      </p:cxnSp>
      <p:pic>
        <p:nvPicPr>
          <p:cNvPr id="30" name="Picture 1" descr="C:\Users\teacher\Desktop\download.jpg">
            <a:extLst>
              <a:ext uri="{FF2B5EF4-FFF2-40B4-BE49-F238E27FC236}">
                <a16:creationId xmlns:a16="http://schemas.microsoft.com/office/drawing/2014/main" id="{1799BA9A-E3B9-47F7-BB6C-545ACE6A83B9}"/>
              </a:ext>
            </a:extLst>
          </p:cNvPr>
          <p:cNvPicPr>
            <a:picLocks noChangeAspect="1" noChangeArrowheads="1"/>
          </p:cNvPicPr>
          <p:nvPr/>
        </p:nvPicPr>
        <p:blipFill>
          <a:blip r:embed="rId3"/>
          <a:srcRect/>
          <a:stretch>
            <a:fillRect/>
          </a:stretch>
        </p:blipFill>
        <p:spPr bwMode="auto">
          <a:xfrm>
            <a:off x="486697" y="3333135"/>
            <a:ext cx="3598606" cy="1887793"/>
          </a:xfrm>
          <a:prstGeom prst="rect">
            <a:avLst/>
          </a:prstGeom>
          <a:noFill/>
        </p:spPr>
      </p:pic>
      <p:pic>
        <p:nvPicPr>
          <p:cNvPr id="31" name="Picture 3" descr="https://encrypted-tbn2.gstatic.com/images?q=tbn:ANd9GcTZSqWmbgJA9IY9oTGf6ls2w158A103Jg2WEGhWbMSOl3O_igInBAxJpJ9N">
            <a:extLst>
              <a:ext uri="{FF2B5EF4-FFF2-40B4-BE49-F238E27FC236}">
                <a16:creationId xmlns:a16="http://schemas.microsoft.com/office/drawing/2014/main" id="{ACD720F7-42BA-49BE-A110-5F85475442F6}"/>
              </a:ext>
            </a:extLst>
          </p:cNvPr>
          <p:cNvPicPr>
            <a:picLocks noChangeAspect="1" noChangeArrowheads="1"/>
          </p:cNvPicPr>
          <p:nvPr/>
        </p:nvPicPr>
        <p:blipFill>
          <a:blip r:embed="rId4"/>
          <a:srcRect/>
          <a:stretch>
            <a:fillRect/>
          </a:stretch>
        </p:blipFill>
        <p:spPr bwMode="auto">
          <a:xfrm>
            <a:off x="486697" y="5279921"/>
            <a:ext cx="3598606" cy="1080425"/>
          </a:xfrm>
          <a:prstGeom prst="rect">
            <a:avLst/>
          </a:prstGeom>
          <a:noFill/>
        </p:spPr>
      </p:pic>
      <p:sp>
        <p:nvSpPr>
          <p:cNvPr id="2" name="Title 1">
            <a:extLst>
              <a:ext uri="{FF2B5EF4-FFF2-40B4-BE49-F238E27FC236}">
                <a16:creationId xmlns:a16="http://schemas.microsoft.com/office/drawing/2014/main" id="{EF8B4230-4D6D-4764-84CF-BC99A0261177}"/>
              </a:ext>
            </a:extLst>
          </p:cNvPr>
          <p:cNvSpPr txBox="1">
            <a:spLocks/>
          </p:cNvSpPr>
          <p:nvPr/>
        </p:nvSpPr>
        <p:spPr>
          <a:xfrm>
            <a:off x="4321278" y="3471955"/>
            <a:ext cx="7152968" cy="1426865"/>
          </a:xfrm>
          <a:prstGeom prst="rect">
            <a:avLst/>
          </a:prstGeom>
        </p:spPr>
        <p:txBody>
          <a:bodyPr vert="horz" lIns="91440" tIns="45720" rIns="91440" bIns="45720" rtlCol="0" anchor="ct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solidFill>
                  <a:srgbClr val="7030A0"/>
                </a:solidFill>
              </a:rPr>
              <a:t>MD.AL-AMIN</a:t>
            </a:r>
          </a:p>
          <a:p>
            <a:r>
              <a:rPr lang="en-US" sz="2000" dirty="0">
                <a:solidFill>
                  <a:schemeClr val="tx1"/>
                </a:solidFill>
              </a:rPr>
              <a:t>Assistant professor, CS, AIUB</a:t>
            </a:r>
          </a:p>
        </p:txBody>
      </p:sp>
    </p:spTree>
    <p:extLst>
      <p:ext uri="{BB962C8B-B14F-4D97-AF65-F5344CB8AC3E}">
        <p14:creationId xmlns:p14="http://schemas.microsoft.com/office/powerpoint/2010/main" val="2664565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62232" y="598437"/>
            <a:ext cx="11029950" cy="551938"/>
          </a:xfrm>
        </p:spPr>
        <p:txBody>
          <a:bodyPr/>
          <a:lstStyle/>
          <a:p>
            <a:pPr algn="ctr"/>
            <a:r>
              <a:rPr lang="en-US" altLang="en-US" b="1" dirty="0">
                <a:solidFill>
                  <a:srgbClr val="0070C0"/>
                </a:solidFill>
                <a:latin typeface="Book Antiqua" pitchFamily="18" charset="0"/>
              </a:rPr>
              <a:t>Usage  of  Use  case  diagram?</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45691" y="1518060"/>
            <a:ext cx="11341510" cy="2782888"/>
          </a:xfrm>
        </p:spPr>
        <p:txBody>
          <a:bodyPr>
            <a:normAutofit/>
          </a:bodyPr>
          <a:lstStyle/>
          <a:p>
            <a:pPr>
              <a:lnSpc>
                <a:spcPct val="90000"/>
              </a:lnSpc>
              <a:buFont typeface="Wingdings" pitchFamily="2" charset="2"/>
              <a:buChar char="q"/>
              <a:defRPr/>
            </a:pPr>
            <a:r>
              <a:rPr lang="en-US" sz="2200" dirty="0">
                <a:latin typeface="+mj-lt"/>
              </a:rPr>
              <a:t>Use case diagrams are used to visualize, specify, construct, and document the (intended) behavior of the system, during requirements capture and analysis.</a:t>
            </a:r>
          </a:p>
          <a:p>
            <a:pPr>
              <a:lnSpc>
                <a:spcPct val="90000"/>
              </a:lnSpc>
              <a:buFont typeface="Wingdings" pitchFamily="2" charset="2"/>
              <a:buChar char="q"/>
              <a:defRPr/>
            </a:pPr>
            <a:r>
              <a:rPr lang="en-US" sz="2200" dirty="0">
                <a:latin typeface="+mj-lt"/>
              </a:rPr>
              <a:t>Provide a way for developers, domain experts, and end-users to </a:t>
            </a:r>
            <a:r>
              <a:rPr lang="en-US" sz="2200" dirty="0">
                <a:solidFill>
                  <a:srgbClr val="7030A0"/>
                </a:solidFill>
                <a:latin typeface="+mj-lt"/>
              </a:rPr>
              <a:t>Communicate</a:t>
            </a:r>
            <a:r>
              <a:rPr lang="en-US" sz="2200" dirty="0">
                <a:latin typeface="+mj-lt"/>
              </a:rPr>
              <a:t>.</a:t>
            </a:r>
          </a:p>
          <a:p>
            <a:pPr>
              <a:lnSpc>
                <a:spcPct val="90000"/>
              </a:lnSpc>
              <a:buFont typeface="Wingdings" pitchFamily="2" charset="2"/>
              <a:buChar char="q"/>
              <a:defRPr/>
            </a:pPr>
            <a:r>
              <a:rPr lang="en-US" sz="2200" dirty="0">
                <a:latin typeface="+mj-lt"/>
              </a:rPr>
              <a:t>Serve as basis for </a:t>
            </a:r>
            <a:r>
              <a:rPr lang="en-US" sz="2200" dirty="0">
                <a:solidFill>
                  <a:srgbClr val="7030A0"/>
                </a:solidFill>
                <a:latin typeface="+mj-lt"/>
              </a:rPr>
              <a:t>testing</a:t>
            </a:r>
            <a:r>
              <a:rPr lang="en-US" sz="2200" dirty="0">
                <a:latin typeface="+mj-lt"/>
              </a:rPr>
              <a:t>.</a:t>
            </a:r>
          </a:p>
          <a:p>
            <a:pPr>
              <a:lnSpc>
                <a:spcPct val="90000"/>
              </a:lnSpc>
              <a:buFont typeface="Wingdings" pitchFamily="2" charset="2"/>
              <a:buChar char="q"/>
              <a:defRPr/>
            </a:pPr>
            <a:r>
              <a:rPr lang="en-US" sz="2200" dirty="0">
                <a:latin typeface="+mj-lt"/>
              </a:rPr>
              <a:t>Use case diagrams contain </a:t>
            </a:r>
            <a:r>
              <a:rPr lang="en-US" sz="2200" dirty="0">
                <a:solidFill>
                  <a:srgbClr val="FF0000"/>
                </a:solidFill>
                <a:latin typeface="+mj-lt"/>
              </a:rPr>
              <a:t>use cases, actors</a:t>
            </a:r>
            <a:r>
              <a:rPr lang="en-US" sz="2200" dirty="0">
                <a:latin typeface="+mj-lt"/>
              </a:rPr>
              <a:t>, and their </a:t>
            </a:r>
            <a:r>
              <a:rPr lang="en-US" sz="2200" dirty="0">
                <a:solidFill>
                  <a:srgbClr val="FF0000"/>
                </a:solidFill>
                <a:latin typeface="+mj-lt"/>
              </a:rPr>
              <a:t>relationships</a:t>
            </a:r>
            <a:r>
              <a:rPr lang="en-US" sz="2200" dirty="0">
                <a:latin typeface="+mj-lt"/>
              </a:rPr>
              <a:t>.</a:t>
            </a:r>
          </a:p>
          <a:p>
            <a:pPr>
              <a:buNone/>
            </a:pPr>
            <a:endParaRPr lang="en-GB" altLang="en-US" sz="2400" dirty="0">
              <a:latin typeface="+mj-lt"/>
            </a:endParaRPr>
          </a:p>
        </p:txBody>
      </p:sp>
      <p:sp>
        <p:nvSpPr>
          <p:cNvPr id="6" name="Slide Number Placeholder 3">
            <a:extLst>
              <a:ext uri="{FF2B5EF4-FFF2-40B4-BE49-F238E27FC236}">
                <a16:creationId xmlns:a16="http://schemas.microsoft.com/office/drawing/2014/main" id="{5EBC13E5-3E22-45A2-A3EE-DF8965FB78DC}"/>
              </a:ext>
            </a:extLst>
          </p:cNvPr>
          <p:cNvSpPr txBox="1">
            <a:spLocks/>
          </p:cNvSpPr>
          <p:nvPr/>
        </p:nvSpPr>
        <p:spPr>
          <a:xfrm rot="5400000">
            <a:off x="11749548"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a:t>
            </a:fld>
            <a:r>
              <a:rPr lang="en-US" sz="1400" b="1" dirty="0"/>
              <a:t> </a:t>
            </a:r>
          </a:p>
        </p:txBody>
      </p:sp>
      <p:sp>
        <p:nvSpPr>
          <p:cNvPr id="7" name="Content Placeholder 2">
            <a:extLst>
              <a:ext uri="{FF2B5EF4-FFF2-40B4-BE49-F238E27FC236}">
                <a16:creationId xmlns:a16="http://schemas.microsoft.com/office/drawing/2014/main" id="{D2B700D8-FC12-4A20-9277-4E76097243AB}"/>
              </a:ext>
            </a:extLst>
          </p:cNvPr>
          <p:cNvSpPr>
            <a:spLocks noGrp="1"/>
          </p:cNvSpPr>
          <p:nvPr/>
        </p:nvSpPr>
        <p:spPr>
          <a:xfrm>
            <a:off x="-137653" y="346762"/>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3" name="Rectangle 2" descr="M. Mhahudul Hasan">
            <a:extLst>
              <a:ext uri="{FF2B5EF4-FFF2-40B4-BE49-F238E27FC236}">
                <a16:creationId xmlns:a16="http://schemas.microsoft.com/office/drawing/2014/main" id="{5AF30078-3F01-4F0C-8EA6-A3149CFFDC94}"/>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0A634077-6B0F-4AC7-8036-4871C5EA15AD}"/>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Use Case Diagram</a:t>
            </a:r>
          </a:p>
        </p:txBody>
      </p:sp>
      <p:sp>
        <p:nvSpPr>
          <p:cNvPr id="11" name="Rectangle 10" descr="M. Mhahudul Hasan">
            <a:extLst>
              <a:ext uri="{FF2B5EF4-FFF2-40B4-BE49-F238E27FC236}">
                <a16:creationId xmlns:a16="http://schemas.microsoft.com/office/drawing/2014/main" id="{224224C9-B650-4F80-A14E-6A0CA82EA689}"/>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1663529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42453" y="524694"/>
            <a:ext cx="11029950" cy="596183"/>
          </a:xfrm>
        </p:spPr>
        <p:txBody>
          <a:bodyPr/>
          <a:lstStyle/>
          <a:p>
            <a:pPr algn="ctr"/>
            <a:r>
              <a:rPr lang="en-US" altLang="en-US" b="1" dirty="0">
                <a:solidFill>
                  <a:srgbClr val="0070C0"/>
                </a:solidFill>
                <a:latin typeface="Book Antiqua" pitchFamily="18" charset="0"/>
              </a:rPr>
              <a:t>   USE  Case</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486695" y="1226676"/>
            <a:ext cx="11223523" cy="5321607"/>
          </a:xfrm>
        </p:spPr>
        <p:txBody>
          <a:bodyPr>
            <a:noAutofit/>
          </a:bodyPr>
          <a:lstStyle/>
          <a:p>
            <a:pPr>
              <a:buFont typeface="Wingdings" pitchFamily="2" charset="2"/>
              <a:buChar char="q"/>
              <a:defRPr/>
            </a:pPr>
            <a:r>
              <a:rPr lang="en-US" sz="2200" dirty="0">
                <a:latin typeface="+mj-lt"/>
              </a:rPr>
              <a:t> Use cases specify </a:t>
            </a:r>
            <a:r>
              <a:rPr lang="en-US" sz="2200" dirty="0">
                <a:solidFill>
                  <a:srgbClr val="7030A0"/>
                </a:solidFill>
                <a:latin typeface="+mj-lt"/>
              </a:rPr>
              <a:t>desired behavior</a:t>
            </a:r>
            <a:r>
              <a:rPr lang="en-US" sz="2200" dirty="0">
                <a:latin typeface="+mj-lt"/>
              </a:rPr>
              <a:t>. </a:t>
            </a:r>
          </a:p>
          <a:p>
            <a:pPr>
              <a:buFont typeface="Wingdings" pitchFamily="2" charset="2"/>
              <a:buChar char="q"/>
              <a:defRPr/>
            </a:pPr>
            <a:r>
              <a:rPr lang="en-US" sz="2200" dirty="0">
                <a:latin typeface="+mj-lt"/>
              </a:rPr>
              <a:t> A use case is a description of a set of sequences of actions, including variants (alternatives),</a:t>
            </a:r>
            <a:br>
              <a:rPr lang="en-US" sz="2200" dirty="0">
                <a:latin typeface="+mj-lt"/>
              </a:rPr>
            </a:br>
            <a:r>
              <a:rPr lang="en-US" sz="2200" dirty="0">
                <a:latin typeface="+mj-lt"/>
              </a:rPr>
              <a:t> a system performs to yield an observable result of value to an actor.</a:t>
            </a:r>
          </a:p>
          <a:p>
            <a:pPr marL="306000" lvl="1">
              <a:buFont typeface="Wingdings" pitchFamily="2" charset="2"/>
              <a:buChar char="q"/>
              <a:defRPr/>
            </a:pPr>
            <a:r>
              <a:rPr lang="en-GB" sz="2200" dirty="0">
                <a:solidFill>
                  <a:srgbClr val="002060"/>
                </a:solidFill>
              </a:rPr>
              <a:t> The names of use cases are always written in the </a:t>
            </a:r>
            <a:r>
              <a:rPr lang="en-GB" sz="2200" dirty="0">
                <a:solidFill>
                  <a:srgbClr val="7030A0"/>
                </a:solidFill>
              </a:rPr>
              <a:t>form of a verb followed by an object</a:t>
            </a:r>
            <a:r>
              <a:rPr lang="en-GB" sz="2200" dirty="0">
                <a:solidFill>
                  <a:srgbClr val="002060"/>
                </a:solidFill>
              </a:rPr>
              <a:t>.</a:t>
            </a:r>
            <a:endParaRPr lang="en-US" sz="2200" dirty="0">
              <a:latin typeface="+mj-lt"/>
            </a:endParaRPr>
          </a:p>
          <a:p>
            <a:pPr>
              <a:buFont typeface="Wingdings" pitchFamily="2" charset="2"/>
              <a:buChar char="q"/>
              <a:defRPr/>
            </a:pPr>
            <a:r>
              <a:rPr lang="en-US" sz="2200" dirty="0">
                <a:latin typeface="+mj-lt"/>
              </a:rPr>
              <a:t> Each sequence </a:t>
            </a:r>
            <a:r>
              <a:rPr lang="en-US" sz="2200" dirty="0">
                <a:solidFill>
                  <a:srgbClr val="7030A0"/>
                </a:solidFill>
                <a:latin typeface="+mj-lt"/>
              </a:rPr>
              <a:t>represent an interaction of actors with the system</a:t>
            </a:r>
            <a:r>
              <a:rPr lang="en-US" sz="2200" dirty="0">
                <a:latin typeface="+mj-lt"/>
              </a:rPr>
              <a:t>.</a:t>
            </a:r>
          </a:p>
          <a:p>
            <a:pPr>
              <a:buFont typeface="Wingdings" pitchFamily="2" charset="2"/>
              <a:buChar char="q"/>
              <a:defRPr/>
            </a:pPr>
            <a:r>
              <a:rPr lang="en-US" sz="2200" dirty="0">
                <a:latin typeface="+mj-lt"/>
              </a:rPr>
              <a:t> Describing the flow of events within the use case.</a:t>
            </a:r>
          </a:p>
          <a:p>
            <a:pPr>
              <a:buFont typeface="Wingdings" pitchFamily="2" charset="2"/>
              <a:buChar char="q"/>
              <a:defRPr/>
            </a:pPr>
            <a:r>
              <a:rPr lang="en-US" sz="2200" dirty="0">
                <a:latin typeface="+mj-lt"/>
              </a:rPr>
              <a:t> Can be done in natural language, formal language or pseudo-code.</a:t>
            </a:r>
          </a:p>
          <a:p>
            <a:pPr>
              <a:buFont typeface="Wingdings" pitchFamily="2" charset="2"/>
              <a:buChar char="q"/>
              <a:defRPr/>
            </a:pPr>
            <a:r>
              <a:rPr lang="en-US" sz="2200" dirty="0">
                <a:latin typeface="+mj-lt"/>
              </a:rPr>
              <a:t> Includes:</a:t>
            </a:r>
          </a:p>
          <a:p>
            <a:pPr lvl="1">
              <a:buFont typeface="Wingdings" pitchFamily="2" charset="2"/>
              <a:buChar char="§"/>
              <a:defRPr/>
            </a:pPr>
            <a:r>
              <a:rPr lang="en-US" sz="2200" dirty="0">
                <a:solidFill>
                  <a:srgbClr val="C00000"/>
                </a:solidFill>
                <a:latin typeface="+mj-lt"/>
              </a:rPr>
              <a:t> How and when the use case starts and ends; </a:t>
            </a:r>
          </a:p>
          <a:p>
            <a:pPr lvl="1">
              <a:buFont typeface="Wingdings" pitchFamily="2" charset="2"/>
              <a:buChar char="§"/>
              <a:defRPr/>
            </a:pPr>
            <a:r>
              <a:rPr lang="en-US" sz="2200" dirty="0">
                <a:solidFill>
                  <a:srgbClr val="C00000"/>
                </a:solidFill>
                <a:latin typeface="+mj-lt"/>
              </a:rPr>
              <a:t> When the use case interacts with actors and what objects are exchanged;</a:t>
            </a:r>
          </a:p>
          <a:p>
            <a:pPr lvl="1">
              <a:buFont typeface="Wingdings" pitchFamily="2" charset="2"/>
              <a:buChar char="§"/>
              <a:defRPr/>
            </a:pPr>
            <a:r>
              <a:rPr lang="en-US" sz="2200" dirty="0">
                <a:solidFill>
                  <a:srgbClr val="C00000"/>
                </a:solidFill>
                <a:latin typeface="+mj-lt"/>
              </a:rPr>
              <a:t> The basic flow and alternative flows of the behavior.</a:t>
            </a:r>
            <a:endParaRPr lang="en-GB" altLang="en-US" sz="2200" dirty="0">
              <a:latin typeface="+mj-lt"/>
            </a:endParaRPr>
          </a:p>
        </p:txBody>
      </p:sp>
      <p:pic>
        <p:nvPicPr>
          <p:cNvPr id="3" name="Picture 2">
            <a:extLst>
              <a:ext uri="{FF2B5EF4-FFF2-40B4-BE49-F238E27FC236}">
                <a16:creationId xmlns:a16="http://schemas.microsoft.com/office/drawing/2014/main" id="{A09EBE6F-7AFD-4797-88C5-4120FCA49B34}"/>
              </a:ext>
            </a:extLst>
          </p:cNvPr>
          <p:cNvPicPr>
            <a:picLocks noChangeAspect="1"/>
          </p:cNvPicPr>
          <p:nvPr/>
        </p:nvPicPr>
        <p:blipFill>
          <a:blip r:embed="rId2"/>
          <a:stretch>
            <a:fillRect/>
          </a:stretch>
        </p:blipFill>
        <p:spPr>
          <a:xfrm>
            <a:off x="8925231" y="3701231"/>
            <a:ext cx="2948255" cy="1077247"/>
          </a:xfrm>
          <a:prstGeom prst="rect">
            <a:avLst/>
          </a:prstGeom>
        </p:spPr>
      </p:pic>
      <p:sp>
        <p:nvSpPr>
          <p:cNvPr id="7" name="Slide Number Placeholder 3">
            <a:extLst>
              <a:ext uri="{FF2B5EF4-FFF2-40B4-BE49-F238E27FC236}">
                <a16:creationId xmlns:a16="http://schemas.microsoft.com/office/drawing/2014/main" id="{581D97C1-E662-45B4-ADDC-69E724E929D6}"/>
              </a:ext>
            </a:extLst>
          </p:cNvPr>
          <p:cNvSpPr txBox="1">
            <a:spLocks/>
          </p:cNvSpPr>
          <p:nvPr/>
        </p:nvSpPr>
        <p:spPr>
          <a:xfrm rot="5400000">
            <a:off x="11749548"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3</a:t>
            </a:fld>
            <a:r>
              <a:rPr lang="en-US" sz="1400" b="1" dirty="0"/>
              <a:t> </a:t>
            </a:r>
          </a:p>
        </p:txBody>
      </p:sp>
      <p:sp>
        <p:nvSpPr>
          <p:cNvPr id="8" name="Content Placeholder 2">
            <a:extLst>
              <a:ext uri="{FF2B5EF4-FFF2-40B4-BE49-F238E27FC236}">
                <a16:creationId xmlns:a16="http://schemas.microsoft.com/office/drawing/2014/main" id="{89B4468C-F423-42BF-AA2B-9ECDA0317A25}"/>
              </a:ext>
            </a:extLst>
          </p:cNvPr>
          <p:cNvSpPr>
            <a:spLocks noGrp="1"/>
          </p:cNvSpPr>
          <p:nvPr/>
        </p:nvSpPr>
        <p:spPr>
          <a:xfrm>
            <a:off x="-137653" y="346762"/>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5" name="Rectangle 4" descr="M. Mhahudul Hasan">
            <a:extLst>
              <a:ext uri="{FF2B5EF4-FFF2-40B4-BE49-F238E27FC236}">
                <a16:creationId xmlns:a16="http://schemas.microsoft.com/office/drawing/2014/main" id="{985670BB-7A8E-4FEF-8876-B087733DFB88}"/>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6" name="Rectangle 5" descr="M. Mhahudul Hasan">
            <a:extLst>
              <a:ext uri="{FF2B5EF4-FFF2-40B4-BE49-F238E27FC236}">
                <a16:creationId xmlns:a16="http://schemas.microsoft.com/office/drawing/2014/main" id="{F05F6541-65F7-4FAE-BEBE-B3BC259AEA10}"/>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Use Case Diagram</a:t>
            </a:r>
          </a:p>
        </p:txBody>
      </p:sp>
      <p:sp>
        <p:nvSpPr>
          <p:cNvPr id="12" name="Rectangle 11" descr="M. Mhahudul Hasan">
            <a:extLst>
              <a:ext uri="{FF2B5EF4-FFF2-40B4-BE49-F238E27FC236}">
                <a16:creationId xmlns:a16="http://schemas.microsoft.com/office/drawing/2014/main" id="{C78DF00F-CB83-416F-ACB6-845D19B8F836}"/>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4097638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12954" y="554191"/>
            <a:ext cx="11029950" cy="522441"/>
          </a:xfrm>
        </p:spPr>
        <p:txBody>
          <a:bodyPr/>
          <a:lstStyle/>
          <a:p>
            <a:pPr algn="ctr"/>
            <a:r>
              <a:rPr lang="en-US" altLang="en-US" b="1" dirty="0">
                <a:solidFill>
                  <a:srgbClr val="0070C0"/>
                </a:solidFill>
                <a:latin typeface="Book Antiqua" pitchFamily="18" charset="0"/>
              </a:rPr>
              <a:t>actor</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619432" y="1348198"/>
            <a:ext cx="10884310" cy="3527425"/>
          </a:xfrm>
        </p:spPr>
        <p:txBody>
          <a:bodyPr>
            <a:normAutofit/>
          </a:bodyPr>
          <a:lstStyle/>
          <a:p>
            <a:pPr>
              <a:lnSpc>
                <a:spcPct val="90000"/>
              </a:lnSpc>
              <a:buFont typeface="Wingdings" pitchFamily="2" charset="2"/>
              <a:buChar char="q"/>
              <a:defRPr/>
            </a:pPr>
            <a:r>
              <a:rPr lang="en-US" sz="2200" dirty="0">
                <a:latin typeface="+mj-lt"/>
              </a:rPr>
              <a:t>An actor represents a set of roles that users of use case play when interacting  </a:t>
            </a:r>
            <a:br>
              <a:rPr lang="en-US" sz="2200" dirty="0">
                <a:latin typeface="+mj-lt"/>
              </a:rPr>
            </a:br>
            <a:r>
              <a:rPr lang="en-US" sz="2200" dirty="0">
                <a:latin typeface="+mj-lt"/>
              </a:rPr>
              <a:t>with these use cases.</a:t>
            </a:r>
          </a:p>
          <a:p>
            <a:pPr>
              <a:lnSpc>
                <a:spcPct val="90000"/>
              </a:lnSpc>
              <a:buFont typeface="Wingdings" pitchFamily="2" charset="2"/>
              <a:buChar char="q"/>
              <a:defRPr/>
            </a:pPr>
            <a:r>
              <a:rPr lang="en-US" sz="2200" dirty="0">
                <a:latin typeface="+mj-lt"/>
              </a:rPr>
              <a:t>Actors can be human or automated systems.</a:t>
            </a:r>
          </a:p>
          <a:p>
            <a:pPr>
              <a:lnSpc>
                <a:spcPct val="90000"/>
              </a:lnSpc>
              <a:buFont typeface="Wingdings" pitchFamily="2" charset="2"/>
              <a:buChar char="q"/>
              <a:defRPr/>
            </a:pPr>
            <a:r>
              <a:rPr lang="en-US" sz="2200" dirty="0">
                <a:latin typeface="+mj-lt"/>
              </a:rPr>
              <a:t>Actors are entities </a:t>
            </a:r>
          </a:p>
          <a:p>
            <a:pPr lvl="1">
              <a:lnSpc>
                <a:spcPct val="90000"/>
              </a:lnSpc>
              <a:buFont typeface="Wingdings" pitchFamily="2" charset="2"/>
              <a:buChar char="§"/>
              <a:defRPr/>
            </a:pPr>
            <a:r>
              <a:rPr lang="en-US" sz="2200" dirty="0">
                <a:solidFill>
                  <a:srgbClr val="C00000"/>
                </a:solidFill>
                <a:latin typeface="+mj-lt"/>
              </a:rPr>
              <a:t>  which require help from the system to perform their task, or</a:t>
            </a:r>
          </a:p>
          <a:p>
            <a:pPr lvl="1">
              <a:lnSpc>
                <a:spcPct val="90000"/>
              </a:lnSpc>
              <a:buFont typeface="Wingdings" pitchFamily="2" charset="2"/>
              <a:buChar char="§"/>
              <a:defRPr/>
            </a:pPr>
            <a:r>
              <a:rPr lang="en-US" sz="2200" dirty="0">
                <a:solidFill>
                  <a:srgbClr val="C00000"/>
                </a:solidFill>
                <a:latin typeface="+mj-lt"/>
              </a:rPr>
              <a:t>  are needed to execute the system’s functions.</a:t>
            </a:r>
            <a:endParaRPr lang="en-US" sz="2200" dirty="0">
              <a:latin typeface="+mj-lt"/>
            </a:endParaRPr>
          </a:p>
          <a:p>
            <a:pPr>
              <a:lnSpc>
                <a:spcPct val="90000"/>
              </a:lnSpc>
              <a:buFont typeface="Wingdings" pitchFamily="2" charset="2"/>
              <a:buChar char="q"/>
              <a:defRPr/>
            </a:pPr>
            <a:r>
              <a:rPr lang="en-US" sz="2200" dirty="0">
                <a:latin typeface="+mj-lt"/>
              </a:rPr>
              <a:t>Actors are not part of the system. </a:t>
            </a:r>
          </a:p>
          <a:p>
            <a:pPr>
              <a:lnSpc>
                <a:spcPct val="90000"/>
              </a:lnSpc>
              <a:buFont typeface="Wingdings" pitchFamily="2" charset="2"/>
              <a:buChar char="q"/>
              <a:defRPr/>
            </a:pPr>
            <a:r>
              <a:rPr lang="en-US" sz="2200" dirty="0">
                <a:solidFill>
                  <a:srgbClr val="C00000"/>
                </a:solidFill>
                <a:latin typeface="+mj-lt"/>
              </a:rPr>
              <a:t>A system can be an Actor of other systems</a:t>
            </a:r>
            <a:endParaRPr lang="en-GB" altLang="en-US" sz="2200" dirty="0">
              <a:latin typeface="+mj-lt"/>
            </a:endParaRPr>
          </a:p>
        </p:txBody>
      </p:sp>
      <p:grpSp>
        <p:nvGrpSpPr>
          <p:cNvPr id="7" name="Group 13"/>
          <p:cNvGrpSpPr>
            <a:grpSpLocks/>
          </p:cNvGrpSpPr>
          <p:nvPr/>
        </p:nvGrpSpPr>
        <p:grpSpPr bwMode="auto">
          <a:xfrm>
            <a:off x="9360998" y="2714053"/>
            <a:ext cx="2302751" cy="2733989"/>
            <a:chOff x="4128" y="336"/>
            <a:chExt cx="492" cy="804"/>
          </a:xfrm>
        </p:grpSpPr>
        <p:sp>
          <p:nvSpPr>
            <p:cNvPr id="8" name="Oval 4"/>
            <p:cNvSpPr>
              <a:spLocks noChangeArrowheads="1"/>
            </p:cNvSpPr>
            <p:nvPr/>
          </p:nvSpPr>
          <p:spPr bwMode="auto">
            <a:xfrm>
              <a:off x="4176" y="336"/>
              <a:ext cx="192" cy="1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9" name="Line 5"/>
            <p:cNvSpPr>
              <a:spLocks noChangeShapeType="1"/>
            </p:cNvSpPr>
            <p:nvPr/>
          </p:nvSpPr>
          <p:spPr bwMode="auto">
            <a:xfrm>
              <a:off x="4272" y="52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 name="Line 6"/>
            <p:cNvSpPr>
              <a:spLocks noChangeShapeType="1"/>
            </p:cNvSpPr>
            <p:nvPr/>
          </p:nvSpPr>
          <p:spPr bwMode="auto">
            <a:xfrm>
              <a:off x="4272" y="624"/>
              <a:ext cx="192"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 name="Line 8"/>
            <p:cNvSpPr>
              <a:spLocks noChangeShapeType="1"/>
            </p:cNvSpPr>
            <p:nvPr/>
          </p:nvSpPr>
          <p:spPr bwMode="auto">
            <a:xfrm flipH="1">
              <a:off x="4128" y="624"/>
              <a:ext cx="14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 name="Line 9"/>
            <p:cNvSpPr>
              <a:spLocks noChangeShapeType="1"/>
            </p:cNvSpPr>
            <p:nvPr/>
          </p:nvSpPr>
          <p:spPr bwMode="auto">
            <a:xfrm>
              <a:off x="4272" y="864"/>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10"/>
            <p:cNvSpPr>
              <a:spLocks noChangeShapeType="1"/>
            </p:cNvSpPr>
            <p:nvPr/>
          </p:nvSpPr>
          <p:spPr bwMode="auto">
            <a:xfrm flipH="1">
              <a:off x="4176" y="864"/>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 name="Text Box 12"/>
            <p:cNvSpPr txBox="1">
              <a:spLocks noChangeArrowheads="1"/>
            </p:cNvSpPr>
            <p:nvPr/>
          </p:nvSpPr>
          <p:spPr bwMode="auto">
            <a:xfrm>
              <a:off x="4201" y="1022"/>
              <a:ext cx="419"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pPr rtl="0"/>
              <a:r>
                <a:rPr lang="en-US" altLang="en-US" sz="2000" dirty="0">
                  <a:latin typeface="Times New Roman" panose="02020603050405020304" pitchFamily="18" charset="0"/>
                </a:rPr>
                <a:t>Actor</a:t>
              </a:r>
              <a:endParaRPr lang="en-US" altLang="en-US" sz="2400" dirty="0">
                <a:latin typeface="Times New Roman" panose="02020603050405020304" pitchFamily="18" charset="0"/>
              </a:endParaRPr>
            </a:p>
          </p:txBody>
        </p:sp>
      </p:grpSp>
      <p:sp>
        <p:nvSpPr>
          <p:cNvPr id="15" name="Slide Number Placeholder 3">
            <a:extLst>
              <a:ext uri="{FF2B5EF4-FFF2-40B4-BE49-F238E27FC236}">
                <a16:creationId xmlns:a16="http://schemas.microsoft.com/office/drawing/2014/main" id="{BFD3E232-FAE8-4283-96F2-7AB18966F043}"/>
              </a:ext>
            </a:extLst>
          </p:cNvPr>
          <p:cNvSpPr txBox="1">
            <a:spLocks/>
          </p:cNvSpPr>
          <p:nvPr/>
        </p:nvSpPr>
        <p:spPr>
          <a:xfrm rot="5400000">
            <a:off x="11749548"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4</a:t>
            </a:fld>
            <a:r>
              <a:rPr lang="en-US" sz="1400" b="1" dirty="0"/>
              <a:t> </a:t>
            </a:r>
          </a:p>
        </p:txBody>
      </p:sp>
      <p:sp>
        <p:nvSpPr>
          <p:cNvPr id="16" name="Content Placeholder 2">
            <a:extLst>
              <a:ext uri="{FF2B5EF4-FFF2-40B4-BE49-F238E27FC236}">
                <a16:creationId xmlns:a16="http://schemas.microsoft.com/office/drawing/2014/main" id="{86972CDC-C7F0-4DEF-97C6-7F8914F7516B}"/>
              </a:ext>
            </a:extLst>
          </p:cNvPr>
          <p:cNvSpPr>
            <a:spLocks noGrp="1"/>
          </p:cNvSpPr>
          <p:nvPr/>
        </p:nvSpPr>
        <p:spPr>
          <a:xfrm>
            <a:off x="-137653" y="346762"/>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3" name="Rectangle 2" descr="M. Mhahudul Hasan">
            <a:extLst>
              <a:ext uri="{FF2B5EF4-FFF2-40B4-BE49-F238E27FC236}">
                <a16:creationId xmlns:a16="http://schemas.microsoft.com/office/drawing/2014/main" id="{F8B0473E-160F-4C18-947D-DF05588067AB}"/>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E34E7589-25BD-4903-AE8F-9790E808DF8B}"/>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Use Case Diagram</a:t>
            </a:r>
          </a:p>
        </p:txBody>
      </p:sp>
      <p:sp>
        <p:nvSpPr>
          <p:cNvPr id="6" name="Rectangle 5" descr="M. Mhahudul Hasan">
            <a:extLst>
              <a:ext uri="{FF2B5EF4-FFF2-40B4-BE49-F238E27FC236}">
                <a16:creationId xmlns:a16="http://schemas.microsoft.com/office/drawing/2014/main" id="{553DB476-16CA-4663-AC6E-FC0D10677A7D}"/>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2255806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94967" y="554192"/>
            <a:ext cx="11029950" cy="551938"/>
          </a:xfrm>
        </p:spPr>
        <p:txBody>
          <a:bodyPr/>
          <a:lstStyle/>
          <a:p>
            <a:pPr algn="ctr"/>
            <a:r>
              <a:rPr lang="en-US" altLang="en-US" b="1" dirty="0">
                <a:solidFill>
                  <a:srgbClr val="0070C0"/>
                </a:solidFill>
                <a:latin typeface="Book Antiqua" pitchFamily="18" charset="0"/>
              </a:rPr>
              <a:t>Use cases  and  actor</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383458" y="1280089"/>
            <a:ext cx="11690555" cy="2638425"/>
          </a:xfrm>
        </p:spPr>
        <p:txBody>
          <a:bodyPr>
            <a:normAutofit/>
          </a:bodyPr>
          <a:lstStyle/>
          <a:p>
            <a:pPr>
              <a:buFont typeface="Wingdings" pitchFamily="2" charset="2"/>
              <a:buChar char="q"/>
              <a:defRPr/>
            </a:pPr>
            <a:r>
              <a:rPr lang="en-US" sz="2200" dirty="0">
                <a:latin typeface="+mj-lt"/>
              </a:rPr>
              <a:t>From the perspective of a given actor, a use case does something that is of value to the actor, such as calculate a result or change the state of an object.</a:t>
            </a:r>
          </a:p>
          <a:p>
            <a:pPr>
              <a:buFont typeface="Wingdings" pitchFamily="2" charset="2"/>
              <a:buChar char="q"/>
              <a:defRPr/>
            </a:pPr>
            <a:r>
              <a:rPr lang="en-US" sz="2200" dirty="0">
                <a:latin typeface="+mj-lt"/>
              </a:rPr>
              <a:t>The Actors define the environments in which the system lives</a:t>
            </a:r>
          </a:p>
          <a:p>
            <a:pPr>
              <a:buFont typeface="Wingdings" pitchFamily="2" charset="2"/>
              <a:buChar char="q"/>
              <a:defRPr/>
            </a:pPr>
            <a:r>
              <a:rPr lang="en-US" sz="2200" dirty="0">
                <a:latin typeface="+mj-lt"/>
              </a:rPr>
              <a:t>Actors may be connected to use cases by associations, indicating that the actor and the use case communicate with one another using messages.</a:t>
            </a:r>
          </a:p>
          <a:p>
            <a:pPr>
              <a:lnSpc>
                <a:spcPct val="90000"/>
              </a:lnSpc>
              <a:buFont typeface="Wingdings" pitchFamily="2" charset="2"/>
              <a:buChar char="q"/>
              <a:defRPr/>
            </a:pPr>
            <a:endParaRPr lang="en-GB" altLang="en-US" sz="2200" dirty="0">
              <a:latin typeface="+mj-lt"/>
            </a:endParaRPr>
          </a:p>
        </p:txBody>
      </p:sp>
      <p:pic>
        <p:nvPicPr>
          <p:cNvPr id="15" name="Picture 2" descr="http://yuml.me/diagram/usecase/%5bCustomer%5d-(Login),%20%5bCustomer%5d-(note:%20Cust%20can%20be%20registered%20or%20not%7Bbg:beige%7D)"/>
          <p:cNvPicPr>
            <a:picLocks noChangeAspect="1" noChangeArrowheads="1"/>
          </p:cNvPicPr>
          <p:nvPr/>
        </p:nvPicPr>
        <p:blipFill>
          <a:blip r:embed="rId2"/>
          <a:srcRect/>
          <a:stretch>
            <a:fillRect/>
          </a:stretch>
        </p:blipFill>
        <p:spPr bwMode="auto">
          <a:xfrm>
            <a:off x="6431281" y="4108269"/>
            <a:ext cx="3962400" cy="2423160"/>
          </a:xfrm>
          <a:prstGeom prst="rect">
            <a:avLst/>
          </a:prstGeom>
          <a:noFill/>
        </p:spPr>
      </p:pic>
      <p:grpSp>
        <p:nvGrpSpPr>
          <p:cNvPr id="16" name="Group 16"/>
          <p:cNvGrpSpPr>
            <a:grpSpLocks/>
          </p:cNvGrpSpPr>
          <p:nvPr/>
        </p:nvGrpSpPr>
        <p:grpSpPr bwMode="auto">
          <a:xfrm>
            <a:off x="1593669" y="4794068"/>
            <a:ext cx="4439357" cy="1321622"/>
            <a:chOff x="1072" y="2812"/>
            <a:chExt cx="3046" cy="832"/>
          </a:xfrm>
        </p:grpSpPr>
        <p:sp>
          <p:nvSpPr>
            <p:cNvPr id="17" name="Oval 5"/>
            <p:cNvSpPr>
              <a:spLocks noChangeArrowheads="1"/>
            </p:cNvSpPr>
            <p:nvPr/>
          </p:nvSpPr>
          <p:spPr bwMode="auto">
            <a:xfrm>
              <a:off x="1246" y="2812"/>
              <a:ext cx="1103" cy="62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18" name="Text Box 6"/>
            <p:cNvSpPr txBox="1">
              <a:spLocks noChangeArrowheads="1"/>
            </p:cNvSpPr>
            <p:nvPr/>
          </p:nvSpPr>
          <p:spPr bwMode="auto">
            <a:xfrm>
              <a:off x="1072" y="2911"/>
              <a:ext cx="1567"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pPr algn="ctr" rtl="0"/>
              <a:r>
                <a:rPr lang="en-US" altLang="en-US" b="0" dirty="0">
                  <a:latin typeface="Times New Roman" panose="02020603050405020304" pitchFamily="18" charset="0"/>
                </a:rPr>
                <a:t>updating</a:t>
              </a:r>
            </a:p>
            <a:p>
              <a:pPr algn="ctr" rtl="0"/>
              <a:r>
                <a:rPr lang="en-US" altLang="en-US" b="0" dirty="0">
                  <a:latin typeface="Times New Roman" panose="02020603050405020304" pitchFamily="18" charset="0"/>
                </a:rPr>
                <a:t>grades</a:t>
              </a:r>
              <a:endParaRPr lang="en-US" altLang="en-US" sz="1600" b="0" dirty="0">
                <a:latin typeface="Times New Roman" panose="02020603050405020304" pitchFamily="18" charset="0"/>
              </a:endParaRPr>
            </a:p>
          </p:txBody>
        </p:sp>
        <p:sp>
          <p:nvSpPr>
            <p:cNvPr id="19" name="Oval 8"/>
            <p:cNvSpPr>
              <a:spLocks noChangeArrowheads="1"/>
            </p:cNvSpPr>
            <p:nvPr/>
          </p:nvSpPr>
          <p:spPr bwMode="auto">
            <a:xfrm>
              <a:off x="3648" y="2812"/>
              <a:ext cx="192" cy="1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20" name="Line 9"/>
            <p:cNvSpPr>
              <a:spLocks noChangeShapeType="1"/>
            </p:cNvSpPr>
            <p:nvPr/>
          </p:nvSpPr>
          <p:spPr bwMode="auto">
            <a:xfrm>
              <a:off x="3744" y="3004"/>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 name="Line 10"/>
            <p:cNvSpPr>
              <a:spLocks noChangeShapeType="1"/>
            </p:cNvSpPr>
            <p:nvPr/>
          </p:nvSpPr>
          <p:spPr bwMode="auto">
            <a:xfrm>
              <a:off x="3744" y="3100"/>
              <a:ext cx="192"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 name="Line 11"/>
            <p:cNvSpPr>
              <a:spLocks noChangeShapeType="1"/>
            </p:cNvSpPr>
            <p:nvPr/>
          </p:nvSpPr>
          <p:spPr bwMode="auto">
            <a:xfrm flipH="1">
              <a:off x="3600" y="3100"/>
              <a:ext cx="14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 name="Line 12"/>
            <p:cNvSpPr>
              <a:spLocks noChangeShapeType="1"/>
            </p:cNvSpPr>
            <p:nvPr/>
          </p:nvSpPr>
          <p:spPr bwMode="auto">
            <a:xfrm>
              <a:off x="3744" y="3340"/>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 name="Line 13"/>
            <p:cNvSpPr>
              <a:spLocks noChangeShapeType="1"/>
            </p:cNvSpPr>
            <p:nvPr/>
          </p:nvSpPr>
          <p:spPr bwMode="auto">
            <a:xfrm flipH="1">
              <a:off x="3648" y="3340"/>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Text Box 14"/>
            <p:cNvSpPr txBox="1">
              <a:spLocks noChangeArrowheads="1"/>
            </p:cNvSpPr>
            <p:nvPr/>
          </p:nvSpPr>
          <p:spPr bwMode="auto">
            <a:xfrm>
              <a:off x="3421" y="3413"/>
              <a:ext cx="69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pPr algn="ctr" rtl="0"/>
              <a:r>
                <a:rPr lang="en-US" altLang="en-US" b="0" dirty="0">
                  <a:latin typeface="Times New Roman" panose="02020603050405020304" pitchFamily="18" charset="0"/>
                </a:rPr>
                <a:t>faculty</a:t>
              </a:r>
              <a:endParaRPr lang="en-US" altLang="en-US" sz="1600" b="0" dirty="0">
                <a:latin typeface="Times New Roman" panose="02020603050405020304" pitchFamily="18" charset="0"/>
              </a:endParaRPr>
            </a:p>
          </p:txBody>
        </p:sp>
        <p:sp>
          <p:nvSpPr>
            <p:cNvPr id="26" name="Line 15"/>
            <p:cNvSpPr>
              <a:spLocks noChangeShapeType="1"/>
            </p:cNvSpPr>
            <p:nvPr/>
          </p:nvSpPr>
          <p:spPr bwMode="auto">
            <a:xfrm flipH="1">
              <a:off x="2352" y="3148"/>
              <a:ext cx="1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7" name="Slide Number Placeholder 3">
            <a:extLst>
              <a:ext uri="{FF2B5EF4-FFF2-40B4-BE49-F238E27FC236}">
                <a16:creationId xmlns:a16="http://schemas.microsoft.com/office/drawing/2014/main" id="{6063063A-6856-495F-AD18-0154797EA3F9}"/>
              </a:ext>
            </a:extLst>
          </p:cNvPr>
          <p:cNvSpPr txBox="1">
            <a:spLocks/>
          </p:cNvSpPr>
          <p:nvPr/>
        </p:nvSpPr>
        <p:spPr>
          <a:xfrm rot="5400000">
            <a:off x="11749548"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5</a:t>
            </a:fld>
            <a:r>
              <a:rPr lang="en-US" sz="1400" b="1" dirty="0"/>
              <a:t> </a:t>
            </a:r>
          </a:p>
        </p:txBody>
      </p:sp>
      <p:sp>
        <p:nvSpPr>
          <p:cNvPr id="28" name="Content Placeholder 2">
            <a:extLst>
              <a:ext uri="{FF2B5EF4-FFF2-40B4-BE49-F238E27FC236}">
                <a16:creationId xmlns:a16="http://schemas.microsoft.com/office/drawing/2014/main" id="{54E2CC24-A0DB-48DF-B0D9-743D45959341}"/>
              </a:ext>
            </a:extLst>
          </p:cNvPr>
          <p:cNvSpPr>
            <a:spLocks noGrp="1"/>
          </p:cNvSpPr>
          <p:nvPr/>
        </p:nvSpPr>
        <p:spPr>
          <a:xfrm>
            <a:off x="-137653" y="346762"/>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3" name="Rectangle 2" descr="M. Mhahudul Hasan">
            <a:extLst>
              <a:ext uri="{FF2B5EF4-FFF2-40B4-BE49-F238E27FC236}">
                <a16:creationId xmlns:a16="http://schemas.microsoft.com/office/drawing/2014/main" id="{660FD991-C037-41E1-ACE7-65C30CF042EE}"/>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C8D3FD13-8D2E-451E-BDB0-A42621FA166F}"/>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Use Case Diagram</a:t>
            </a:r>
          </a:p>
        </p:txBody>
      </p:sp>
      <p:sp>
        <p:nvSpPr>
          <p:cNvPr id="6" name="Rectangle 5" descr="M. Mhahudul Hasan">
            <a:extLst>
              <a:ext uri="{FF2B5EF4-FFF2-40B4-BE49-F238E27FC236}">
                <a16:creationId xmlns:a16="http://schemas.microsoft.com/office/drawing/2014/main" id="{3F66CC70-BAB5-44C1-A739-473B6BC746AD}"/>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1447131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65471" y="583689"/>
            <a:ext cx="11029950" cy="537190"/>
          </a:xfrm>
        </p:spPr>
        <p:txBody>
          <a:bodyPr/>
          <a:lstStyle/>
          <a:p>
            <a:pPr algn="ctr"/>
            <a:r>
              <a:rPr lang="en-US" altLang="en-US" b="1" dirty="0">
                <a:solidFill>
                  <a:srgbClr val="0070C0"/>
                </a:solidFill>
                <a:latin typeface="Book Antiqua" pitchFamily="18" charset="0"/>
              </a:rPr>
              <a:t>Example  of  Use cases  diagram</a:t>
            </a:r>
            <a:endParaRPr lang="en-US" b="1" dirty="0">
              <a:solidFill>
                <a:srgbClr val="0070C0"/>
              </a:solidFill>
              <a:effectLst>
                <a:outerShdw blurRad="38100" dist="38100" dir="2700000" algn="tl">
                  <a:srgbClr val="000000">
                    <a:alpha val="43137"/>
                  </a:srgbClr>
                </a:outerShdw>
              </a:effectLst>
            </a:endParaRPr>
          </a:p>
        </p:txBody>
      </p:sp>
      <p:grpSp>
        <p:nvGrpSpPr>
          <p:cNvPr id="28" name="Group 33"/>
          <p:cNvGrpSpPr>
            <a:grpSpLocks/>
          </p:cNvGrpSpPr>
          <p:nvPr/>
        </p:nvGrpSpPr>
        <p:grpSpPr bwMode="auto">
          <a:xfrm>
            <a:off x="1730805" y="2075309"/>
            <a:ext cx="8975712" cy="4310743"/>
            <a:chOff x="993" y="1344"/>
            <a:chExt cx="3811" cy="2400"/>
          </a:xfrm>
        </p:grpSpPr>
        <p:sp>
          <p:nvSpPr>
            <p:cNvPr id="29" name="Oval 4"/>
            <p:cNvSpPr>
              <a:spLocks noChangeArrowheads="1"/>
            </p:cNvSpPr>
            <p:nvPr/>
          </p:nvSpPr>
          <p:spPr bwMode="auto">
            <a:xfrm>
              <a:off x="1104" y="1872"/>
              <a:ext cx="192" cy="1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30" name="Line 5"/>
            <p:cNvSpPr>
              <a:spLocks noChangeShapeType="1"/>
            </p:cNvSpPr>
            <p:nvPr/>
          </p:nvSpPr>
          <p:spPr bwMode="auto">
            <a:xfrm>
              <a:off x="1200" y="2064"/>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Line 6"/>
            <p:cNvSpPr>
              <a:spLocks noChangeShapeType="1"/>
            </p:cNvSpPr>
            <p:nvPr/>
          </p:nvSpPr>
          <p:spPr bwMode="auto">
            <a:xfrm>
              <a:off x="1200" y="2160"/>
              <a:ext cx="192"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 name="Line 7"/>
            <p:cNvSpPr>
              <a:spLocks noChangeShapeType="1"/>
            </p:cNvSpPr>
            <p:nvPr/>
          </p:nvSpPr>
          <p:spPr bwMode="auto">
            <a:xfrm flipH="1">
              <a:off x="1056" y="2160"/>
              <a:ext cx="14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 name="Line 8"/>
            <p:cNvSpPr>
              <a:spLocks noChangeShapeType="1"/>
            </p:cNvSpPr>
            <p:nvPr/>
          </p:nvSpPr>
          <p:spPr bwMode="auto">
            <a:xfrm>
              <a:off x="1200" y="2400"/>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 name="Line 9"/>
            <p:cNvSpPr>
              <a:spLocks noChangeShapeType="1"/>
            </p:cNvSpPr>
            <p:nvPr/>
          </p:nvSpPr>
          <p:spPr bwMode="auto">
            <a:xfrm flipH="1">
              <a:off x="1104" y="2400"/>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 name="Text Box 10"/>
            <p:cNvSpPr txBox="1">
              <a:spLocks noChangeArrowheads="1"/>
            </p:cNvSpPr>
            <p:nvPr/>
          </p:nvSpPr>
          <p:spPr bwMode="auto">
            <a:xfrm>
              <a:off x="993" y="2496"/>
              <a:ext cx="516"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pPr rtl="0"/>
              <a:r>
                <a:rPr lang="en-US" altLang="en-US" b="0" dirty="0">
                  <a:latin typeface="Times New Roman" panose="02020603050405020304" pitchFamily="18" charset="0"/>
                </a:rPr>
                <a:t>Faculty</a:t>
              </a:r>
            </a:p>
          </p:txBody>
        </p:sp>
        <p:grpSp>
          <p:nvGrpSpPr>
            <p:cNvPr id="36" name="Group 11"/>
            <p:cNvGrpSpPr>
              <a:grpSpLocks/>
            </p:cNvGrpSpPr>
            <p:nvPr/>
          </p:nvGrpSpPr>
          <p:grpSpPr bwMode="auto">
            <a:xfrm>
              <a:off x="2304" y="1488"/>
              <a:ext cx="912" cy="432"/>
              <a:chOff x="4176" y="720"/>
              <a:chExt cx="576" cy="432"/>
            </a:xfrm>
          </p:grpSpPr>
          <p:sp>
            <p:nvSpPr>
              <p:cNvPr id="53" name="Oval 12"/>
              <p:cNvSpPr>
                <a:spLocks noChangeArrowheads="1"/>
              </p:cNvSpPr>
              <p:nvPr/>
            </p:nvSpPr>
            <p:spPr bwMode="auto">
              <a:xfrm>
                <a:off x="4176" y="720"/>
                <a:ext cx="576"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54" name="Text Box 13"/>
              <p:cNvSpPr txBox="1">
                <a:spLocks noChangeArrowheads="1"/>
              </p:cNvSpPr>
              <p:nvPr/>
            </p:nvSpPr>
            <p:spPr bwMode="auto">
              <a:xfrm>
                <a:off x="4210" y="772"/>
                <a:ext cx="528"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pPr algn="ctr" rtl="0"/>
                <a:endParaRPr lang="en-US" altLang="en-US" sz="2400" b="0" dirty="0">
                  <a:latin typeface="Times New Roman" panose="02020603050405020304" pitchFamily="18" charset="0"/>
                </a:endParaRPr>
              </a:p>
            </p:txBody>
          </p:sp>
        </p:grpSp>
        <p:sp>
          <p:nvSpPr>
            <p:cNvPr id="37" name="Oval 15"/>
            <p:cNvSpPr>
              <a:spLocks noChangeArrowheads="1"/>
            </p:cNvSpPr>
            <p:nvPr/>
          </p:nvSpPr>
          <p:spPr bwMode="auto">
            <a:xfrm>
              <a:off x="2273" y="2101"/>
              <a:ext cx="816" cy="57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38" name="Text Box 16"/>
            <p:cNvSpPr txBox="1">
              <a:spLocks noChangeArrowheads="1"/>
            </p:cNvSpPr>
            <p:nvPr/>
          </p:nvSpPr>
          <p:spPr bwMode="auto">
            <a:xfrm>
              <a:off x="2287" y="2208"/>
              <a:ext cx="813"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pPr algn="ctr" rtl="0"/>
              <a:r>
                <a:rPr lang="en-US" altLang="en-US" b="0" dirty="0">
                  <a:latin typeface="Times New Roman" panose="02020603050405020304" pitchFamily="18" charset="0"/>
                </a:rPr>
                <a:t>Registration of Course</a:t>
              </a:r>
            </a:p>
          </p:txBody>
        </p:sp>
        <p:sp>
          <p:nvSpPr>
            <p:cNvPr id="39" name="Oval 18"/>
            <p:cNvSpPr>
              <a:spLocks noChangeArrowheads="1"/>
            </p:cNvSpPr>
            <p:nvPr/>
          </p:nvSpPr>
          <p:spPr bwMode="auto">
            <a:xfrm>
              <a:off x="2352" y="2976"/>
              <a:ext cx="816"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40" name="Text Box 19"/>
            <p:cNvSpPr txBox="1">
              <a:spLocks noChangeArrowheads="1"/>
            </p:cNvSpPr>
            <p:nvPr/>
          </p:nvSpPr>
          <p:spPr bwMode="auto">
            <a:xfrm>
              <a:off x="2389" y="3005"/>
              <a:ext cx="748"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pPr algn="ctr"/>
              <a:r>
                <a:rPr lang="en-US" altLang="en-US" b="0" dirty="0">
                  <a:latin typeface="Times New Roman" panose="02020603050405020304" pitchFamily="18" charset="0"/>
                </a:rPr>
                <a:t>Upload </a:t>
              </a:r>
              <a:br>
                <a:rPr lang="en-US" altLang="en-US" b="0" dirty="0">
                  <a:latin typeface="Times New Roman" panose="02020603050405020304" pitchFamily="18" charset="0"/>
                </a:rPr>
              </a:br>
              <a:r>
                <a:rPr lang="en-US" altLang="en-US" b="0" dirty="0">
                  <a:latin typeface="Times New Roman" panose="02020603050405020304" pitchFamily="18" charset="0"/>
                </a:rPr>
                <a:t>Grade</a:t>
              </a:r>
              <a:endParaRPr lang="en-US" altLang="en-US" sz="2400" b="0" dirty="0">
                <a:latin typeface="Times New Roman" panose="02020603050405020304" pitchFamily="18" charset="0"/>
              </a:endParaRPr>
            </a:p>
          </p:txBody>
        </p:sp>
        <p:sp>
          <p:nvSpPr>
            <p:cNvPr id="41" name="Oval 40"/>
            <p:cNvSpPr>
              <a:spLocks noChangeArrowheads="1"/>
            </p:cNvSpPr>
            <p:nvPr/>
          </p:nvSpPr>
          <p:spPr bwMode="auto">
            <a:xfrm>
              <a:off x="4416" y="1872"/>
              <a:ext cx="192" cy="1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42" name="Line 22"/>
            <p:cNvSpPr>
              <a:spLocks noChangeShapeType="1"/>
            </p:cNvSpPr>
            <p:nvPr/>
          </p:nvSpPr>
          <p:spPr bwMode="auto">
            <a:xfrm>
              <a:off x="4512" y="2064"/>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 name="Line 23"/>
            <p:cNvSpPr>
              <a:spLocks noChangeShapeType="1"/>
            </p:cNvSpPr>
            <p:nvPr/>
          </p:nvSpPr>
          <p:spPr bwMode="auto">
            <a:xfrm>
              <a:off x="4512" y="2160"/>
              <a:ext cx="192"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 name="Line 24"/>
            <p:cNvSpPr>
              <a:spLocks noChangeShapeType="1"/>
            </p:cNvSpPr>
            <p:nvPr/>
          </p:nvSpPr>
          <p:spPr bwMode="auto">
            <a:xfrm flipH="1">
              <a:off x="4368" y="2160"/>
              <a:ext cx="14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5" name="Line 25"/>
            <p:cNvSpPr>
              <a:spLocks noChangeShapeType="1"/>
            </p:cNvSpPr>
            <p:nvPr/>
          </p:nvSpPr>
          <p:spPr bwMode="auto">
            <a:xfrm>
              <a:off x="4512" y="2400"/>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 name="Line 26"/>
            <p:cNvSpPr>
              <a:spLocks noChangeShapeType="1"/>
            </p:cNvSpPr>
            <p:nvPr/>
          </p:nvSpPr>
          <p:spPr bwMode="auto">
            <a:xfrm flipH="1">
              <a:off x="4416" y="2400"/>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 name="Text Box 27"/>
            <p:cNvSpPr txBox="1">
              <a:spLocks noChangeArrowheads="1"/>
            </p:cNvSpPr>
            <p:nvPr/>
          </p:nvSpPr>
          <p:spPr bwMode="auto">
            <a:xfrm>
              <a:off x="4322" y="2503"/>
              <a:ext cx="482"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pPr rtl="0"/>
              <a:r>
                <a:rPr lang="en-US" altLang="en-US" b="0" dirty="0">
                  <a:latin typeface="Times New Roman" panose="02020603050405020304" pitchFamily="18" charset="0"/>
                </a:rPr>
                <a:t>Student</a:t>
              </a:r>
              <a:endParaRPr lang="en-US" altLang="en-US" sz="1600" b="0" dirty="0">
                <a:latin typeface="Times New Roman" panose="02020603050405020304" pitchFamily="18" charset="0"/>
              </a:endParaRPr>
            </a:p>
          </p:txBody>
        </p:sp>
        <p:sp>
          <p:nvSpPr>
            <p:cNvPr id="48" name="Line 28"/>
            <p:cNvSpPr>
              <a:spLocks noChangeShapeType="1"/>
            </p:cNvSpPr>
            <p:nvPr/>
          </p:nvSpPr>
          <p:spPr bwMode="auto">
            <a:xfrm flipV="1">
              <a:off x="1440" y="1728"/>
              <a:ext cx="816"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 name="Line 29"/>
            <p:cNvSpPr>
              <a:spLocks noChangeShapeType="1"/>
            </p:cNvSpPr>
            <p:nvPr/>
          </p:nvSpPr>
          <p:spPr bwMode="auto">
            <a:xfrm>
              <a:off x="1440" y="2496"/>
              <a:ext cx="864"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0" name="Line 30"/>
            <p:cNvSpPr>
              <a:spLocks noChangeShapeType="1"/>
            </p:cNvSpPr>
            <p:nvPr/>
          </p:nvSpPr>
          <p:spPr bwMode="auto">
            <a:xfrm flipH="1">
              <a:off x="3120" y="2352"/>
              <a:ext cx="1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 name="Line 31"/>
            <p:cNvSpPr>
              <a:spLocks noChangeShapeType="1"/>
            </p:cNvSpPr>
            <p:nvPr/>
          </p:nvSpPr>
          <p:spPr bwMode="auto">
            <a:xfrm flipH="1" flipV="1">
              <a:off x="3251" y="1729"/>
              <a:ext cx="1021" cy="5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 name="Rectangle 51"/>
            <p:cNvSpPr>
              <a:spLocks noChangeArrowheads="1"/>
            </p:cNvSpPr>
            <p:nvPr/>
          </p:nvSpPr>
          <p:spPr bwMode="auto">
            <a:xfrm>
              <a:off x="1824" y="1344"/>
              <a:ext cx="1824" cy="2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grpSp>
      <p:sp>
        <p:nvSpPr>
          <p:cNvPr id="55" name="Text Box 19"/>
          <p:cNvSpPr txBox="1">
            <a:spLocks noChangeArrowheads="1"/>
          </p:cNvSpPr>
          <p:nvPr/>
        </p:nvSpPr>
        <p:spPr bwMode="auto">
          <a:xfrm>
            <a:off x="4875683" y="2600379"/>
            <a:ext cx="17616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pPr algn="ctr"/>
            <a:r>
              <a:rPr lang="en-US" altLang="en-US" b="0" dirty="0">
                <a:latin typeface="Times New Roman" panose="02020603050405020304" pitchFamily="18" charset="0"/>
              </a:rPr>
              <a:t>Login</a:t>
            </a:r>
            <a:endParaRPr lang="en-US" altLang="en-US" sz="2400" b="0" dirty="0">
              <a:latin typeface="Times New Roman" panose="02020603050405020304" pitchFamily="18" charset="0"/>
            </a:endParaRPr>
          </a:p>
        </p:txBody>
      </p:sp>
      <p:sp>
        <p:nvSpPr>
          <p:cNvPr id="56" name="TextBox 55"/>
          <p:cNvSpPr txBox="1"/>
          <p:nvPr/>
        </p:nvSpPr>
        <p:spPr>
          <a:xfrm>
            <a:off x="4560623" y="1540153"/>
            <a:ext cx="3331028" cy="369332"/>
          </a:xfrm>
          <a:prstGeom prst="rect">
            <a:avLst/>
          </a:prstGeom>
          <a:noFill/>
        </p:spPr>
        <p:txBody>
          <a:bodyPr wrap="square" rtlCol="0">
            <a:spAutoFit/>
          </a:bodyPr>
          <a:lstStyle/>
          <a:p>
            <a:r>
              <a:rPr lang="en-US" dirty="0"/>
              <a:t>University Management System</a:t>
            </a:r>
          </a:p>
        </p:txBody>
      </p:sp>
      <p:sp>
        <p:nvSpPr>
          <p:cNvPr id="57" name="Slide Number Placeholder 3">
            <a:extLst>
              <a:ext uri="{FF2B5EF4-FFF2-40B4-BE49-F238E27FC236}">
                <a16:creationId xmlns:a16="http://schemas.microsoft.com/office/drawing/2014/main" id="{D4B3DC8F-D38D-457A-843B-55FA889620E0}"/>
              </a:ext>
            </a:extLst>
          </p:cNvPr>
          <p:cNvSpPr txBox="1">
            <a:spLocks/>
          </p:cNvSpPr>
          <p:nvPr/>
        </p:nvSpPr>
        <p:spPr>
          <a:xfrm rot="5400000">
            <a:off x="11749548"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6</a:t>
            </a:fld>
            <a:r>
              <a:rPr lang="en-US" sz="1400" b="1" dirty="0"/>
              <a:t> </a:t>
            </a:r>
          </a:p>
        </p:txBody>
      </p:sp>
      <p:sp>
        <p:nvSpPr>
          <p:cNvPr id="58" name="Content Placeholder 2">
            <a:extLst>
              <a:ext uri="{FF2B5EF4-FFF2-40B4-BE49-F238E27FC236}">
                <a16:creationId xmlns:a16="http://schemas.microsoft.com/office/drawing/2014/main" id="{F030B17A-D53B-404D-8F81-08C2C7F05559}"/>
              </a:ext>
            </a:extLst>
          </p:cNvPr>
          <p:cNvSpPr>
            <a:spLocks noGrp="1"/>
          </p:cNvSpPr>
          <p:nvPr/>
        </p:nvSpPr>
        <p:spPr>
          <a:xfrm>
            <a:off x="-137653" y="346762"/>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3" name="Rectangle 2" descr="M. Mhahudul Hasan">
            <a:extLst>
              <a:ext uri="{FF2B5EF4-FFF2-40B4-BE49-F238E27FC236}">
                <a16:creationId xmlns:a16="http://schemas.microsoft.com/office/drawing/2014/main" id="{DFA93BDF-6D46-49BA-B1DB-B9F309187B3D}"/>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4" name="Rectangle 3" descr="M. Mhahudul Hasan">
            <a:extLst>
              <a:ext uri="{FF2B5EF4-FFF2-40B4-BE49-F238E27FC236}">
                <a16:creationId xmlns:a16="http://schemas.microsoft.com/office/drawing/2014/main" id="{0773663C-C251-4E44-8892-E2568A216B2D}"/>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Use Case Diagram</a:t>
            </a:r>
          </a:p>
        </p:txBody>
      </p:sp>
      <p:sp>
        <p:nvSpPr>
          <p:cNvPr id="5" name="Rectangle 4" descr="M. Mhahudul Hasan">
            <a:extLst>
              <a:ext uri="{FF2B5EF4-FFF2-40B4-BE49-F238E27FC236}">
                <a16:creationId xmlns:a16="http://schemas.microsoft.com/office/drawing/2014/main" id="{B7AC7E7B-0C37-40B5-906F-996D66D65A45}"/>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2462530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68710" y="495199"/>
            <a:ext cx="11029950" cy="551938"/>
          </a:xfrm>
        </p:spPr>
        <p:txBody>
          <a:bodyPr/>
          <a:lstStyle/>
          <a:p>
            <a:pPr algn="ctr"/>
            <a:r>
              <a:rPr lang="en-US" altLang="en-US" b="1" dirty="0">
                <a:solidFill>
                  <a:srgbClr val="0070C0"/>
                </a:solidFill>
                <a:latin typeface="Book Antiqua" pitchFamily="18" charset="0"/>
              </a:rPr>
              <a:t>Relationships  between  Use cases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445679" y="1233335"/>
            <a:ext cx="11471018" cy="2158796"/>
          </a:xfrm>
        </p:spPr>
        <p:txBody>
          <a:bodyPr>
            <a:noAutofit/>
          </a:bodyPr>
          <a:lstStyle/>
          <a:p>
            <a:pPr>
              <a:lnSpc>
                <a:spcPct val="90000"/>
              </a:lnSpc>
              <a:buFont typeface="Wingdings" pitchFamily="2" charset="2"/>
              <a:buChar char="q"/>
              <a:defRPr/>
            </a:pPr>
            <a:r>
              <a:rPr lang="en-US" sz="2200" b="1" dirty="0">
                <a:solidFill>
                  <a:srgbClr val="C00000"/>
                </a:solidFill>
                <a:latin typeface="+mj-lt"/>
              </a:rPr>
              <a:t> Include</a:t>
            </a:r>
            <a:r>
              <a:rPr lang="en-US" sz="2200" dirty="0">
                <a:solidFill>
                  <a:srgbClr val="C00000"/>
                </a:solidFill>
                <a:latin typeface="+mj-lt"/>
              </a:rPr>
              <a:t> </a:t>
            </a:r>
            <a:r>
              <a:rPr lang="en-US" sz="2200" dirty="0">
                <a:latin typeface="+mj-lt"/>
              </a:rPr>
              <a:t>- use cases that are included as parts of other use. Enable to factor common behavior</a:t>
            </a:r>
          </a:p>
          <a:p>
            <a:pPr>
              <a:buFont typeface="Wingdings" pitchFamily="2" charset="2"/>
              <a:buChar char="§"/>
              <a:defRPr/>
            </a:pPr>
            <a:r>
              <a:rPr lang="en-US" sz="2200" dirty="0">
                <a:latin typeface="+mj-lt"/>
              </a:rPr>
              <a:t>The base use case explicitly incorporates the behavior of another use case at a location</a:t>
            </a:r>
            <a:br>
              <a:rPr lang="en-US" sz="2200" dirty="0">
                <a:latin typeface="+mj-lt"/>
              </a:rPr>
            </a:br>
            <a:r>
              <a:rPr lang="en-US" sz="2200" dirty="0">
                <a:latin typeface="+mj-lt"/>
              </a:rPr>
              <a:t> specified in the base.</a:t>
            </a:r>
          </a:p>
          <a:p>
            <a:pPr>
              <a:buFont typeface="Wingdings" pitchFamily="2" charset="2"/>
              <a:buChar char="§"/>
              <a:defRPr/>
            </a:pPr>
            <a:r>
              <a:rPr lang="en-US" sz="2200" dirty="0">
                <a:latin typeface="+mj-lt"/>
              </a:rPr>
              <a:t>The included use case never stands alone. It only occurs as a part of some larger base</a:t>
            </a:r>
            <a:br>
              <a:rPr lang="en-US" sz="2200" dirty="0">
                <a:latin typeface="+mj-lt"/>
              </a:rPr>
            </a:br>
            <a:r>
              <a:rPr lang="en-US" sz="2200" dirty="0">
                <a:latin typeface="+mj-lt"/>
              </a:rPr>
              <a:t> that includes it. T</a:t>
            </a:r>
            <a:r>
              <a:rPr lang="en-US" sz="2200" dirty="0"/>
              <a:t>he original use case is not complete without the included one</a:t>
            </a:r>
            <a:endParaRPr lang="en-GB" altLang="en-US" sz="2200" dirty="0">
              <a:latin typeface="+mj-lt"/>
            </a:endParaRPr>
          </a:p>
        </p:txBody>
      </p:sp>
      <p:grpSp>
        <p:nvGrpSpPr>
          <p:cNvPr id="27" name="Group 14"/>
          <p:cNvGrpSpPr>
            <a:grpSpLocks/>
          </p:cNvGrpSpPr>
          <p:nvPr/>
        </p:nvGrpSpPr>
        <p:grpSpPr bwMode="auto">
          <a:xfrm>
            <a:off x="1504446" y="4297345"/>
            <a:ext cx="8463340" cy="1321789"/>
            <a:chOff x="1349" y="1187"/>
            <a:chExt cx="2612" cy="397"/>
          </a:xfrm>
        </p:grpSpPr>
        <p:grpSp>
          <p:nvGrpSpPr>
            <p:cNvPr id="28" name="Group 4"/>
            <p:cNvGrpSpPr>
              <a:grpSpLocks/>
            </p:cNvGrpSpPr>
            <p:nvPr/>
          </p:nvGrpSpPr>
          <p:grpSpPr bwMode="auto">
            <a:xfrm>
              <a:off x="1349" y="1208"/>
              <a:ext cx="665" cy="314"/>
              <a:chOff x="4085" y="776"/>
              <a:chExt cx="665" cy="314"/>
            </a:xfrm>
          </p:grpSpPr>
          <p:sp>
            <p:nvSpPr>
              <p:cNvPr id="34" name="Oval 5"/>
              <p:cNvSpPr>
                <a:spLocks noChangeArrowheads="1"/>
              </p:cNvSpPr>
              <p:nvPr/>
            </p:nvSpPr>
            <p:spPr bwMode="auto">
              <a:xfrm>
                <a:off x="4085" y="776"/>
                <a:ext cx="665" cy="31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35" name="Text Box 6"/>
              <p:cNvSpPr txBox="1">
                <a:spLocks noChangeArrowheads="1"/>
              </p:cNvSpPr>
              <p:nvPr/>
            </p:nvSpPr>
            <p:spPr bwMode="auto">
              <a:xfrm>
                <a:off x="4327" y="843"/>
                <a:ext cx="367"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pPr rtl="0"/>
                <a:r>
                  <a:rPr lang="en-US" altLang="en-US" sz="2000" b="0" dirty="0">
                    <a:latin typeface="Times New Roman" panose="02020603050405020304" pitchFamily="18" charset="0"/>
                  </a:rPr>
                  <a:t>base</a:t>
                </a:r>
                <a:endParaRPr lang="en-US" altLang="en-US" sz="2400" b="0" dirty="0">
                  <a:latin typeface="Times New Roman" panose="02020603050405020304" pitchFamily="18" charset="0"/>
                </a:endParaRPr>
              </a:p>
            </p:txBody>
          </p:sp>
        </p:grpSp>
        <p:grpSp>
          <p:nvGrpSpPr>
            <p:cNvPr id="29" name="Group 7"/>
            <p:cNvGrpSpPr>
              <a:grpSpLocks/>
            </p:cNvGrpSpPr>
            <p:nvPr/>
          </p:nvGrpSpPr>
          <p:grpSpPr bwMode="auto">
            <a:xfrm>
              <a:off x="3264" y="1187"/>
              <a:ext cx="697" cy="397"/>
              <a:chOff x="4176" y="755"/>
              <a:chExt cx="492" cy="397"/>
            </a:xfrm>
          </p:grpSpPr>
          <p:sp>
            <p:nvSpPr>
              <p:cNvPr id="32" name="Oval 8"/>
              <p:cNvSpPr>
                <a:spLocks noChangeArrowheads="1"/>
              </p:cNvSpPr>
              <p:nvPr/>
            </p:nvSpPr>
            <p:spPr bwMode="auto">
              <a:xfrm>
                <a:off x="4176" y="755"/>
                <a:ext cx="480" cy="397"/>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33" name="Text Box 9"/>
              <p:cNvSpPr txBox="1">
                <a:spLocks noChangeArrowheads="1"/>
              </p:cNvSpPr>
              <p:nvPr/>
            </p:nvSpPr>
            <p:spPr bwMode="auto">
              <a:xfrm>
                <a:off x="4273" y="843"/>
                <a:ext cx="395"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pPr rtl="0"/>
                <a:r>
                  <a:rPr lang="en-US" altLang="en-US" sz="2000" b="0" dirty="0">
                    <a:latin typeface="Times New Roman" panose="02020603050405020304" pitchFamily="18" charset="0"/>
                  </a:rPr>
                  <a:t>included</a:t>
                </a:r>
                <a:endParaRPr lang="en-US" altLang="en-US" sz="2400" b="0" dirty="0">
                  <a:latin typeface="Times New Roman" panose="02020603050405020304" pitchFamily="18" charset="0"/>
                </a:endParaRPr>
              </a:p>
            </p:txBody>
          </p:sp>
        </p:grpSp>
        <p:sp>
          <p:nvSpPr>
            <p:cNvPr id="30" name="Line 12"/>
            <p:cNvSpPr>
              <a:spLocks noChangeShapeType="1"/>
            </p:cNvSpPr>
            <p:nvPr/>
          </p:nvSpPr>
          <p:spPr bwMode="auto">
            <a:xfrm>
              <a:off x="2016" y="1392"/>
              <a:ext cx="1248" cy="0"/>
            </a:xfrm>
            <a:prstGeom prst="line">
              <a:avLst/>
            </a:prstGeom>
            <a:noFill/>
            <a:ln w="9525">
              <a:solidFill>
                <a:schemeClr val="tx1"/>
              </a:solidFill>
              <a:prstDash val="dash"/>
              <a:round/>
              <a:headEnd/>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1" name="Text Box 13"/>
            <p:cNvSpPr txBox="1">
              <a:spLocks noChangeArrowheads="1"/>
            </p:cNvSpPr>
            <p:nvPr/>
          </p:nvSpPr>
          <p:spPr bwMode="auto">
            <a:xfrm>
              <a:off x="2387" y="1244"/>
              <a:ext cx="9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pPr rtl="0"/>
              <a:r>
                <a:rPr lang="en-US" altLang="en-US" b="0" dirty="0">
                  <a:latin typeface="Times New Roman" panose="02020603050405020304" pitchFamily="18" charset="0"/>
                </a:rPr>
                <a:t>&lt;&lt;include&gt;&gt;</a:t>
              </a:r>
            </a:p>
          </p:txBody>
        </p:sp>
      </p:grpSp>
      <p:sp>
        <p:nvSpPr>
          <p:cNvPr id="14" name="Slide Number Placeholder 3">
            <a:extLst>
              <a:ext uri="{FF2B5EF4-FFF2-40B4-BE49-F238E27FC236}">
                <a16:creationId xmlns:a16="http://schemas.microsoft.com/office/drawing/2014/main" id="{4E305287-438C-499F-AD30-598DAEA7E867}"/>
              </a:ext>
            </a:extLst>
          </p:cNvPr>
          <p:cNvSpPr txBox="1">
            <a:spLocks/>
          </p:cNvSpPr>
          <p:nvPr/>
        </p:nvSpPr>
        <p:spPr>
          <a:xfrm rot="5400000">
            <a:off x="11749548"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7</a:t>
            </a:fld>
            <a:r>
              <a:rPr lang="en-US" sz="1400" b="1" dirty="0"/>
              <a:t> </a:t>
            </a:r>
          </a:p>
        </p:txBody>
      </p:sp>
      <p:sp>
        <p:nvSpPr>
          <p:cNvPr id="15" name="Content Placeholder 2">
            <a:extLst>
              <a:ext uri="{FF2B5EF4-FFF2-40B4-BE49-F238E27FC236}">
                <a16:creationId xmlns:a16="http://schemas.microsoft.com/office/drawing/2014/main" id="{CAA5998D-1FCE-4839-9A5E-A1B8FD764F97}"/>
              </a:ext>
            </a:extLst>
          </p:cNvPr>
          <p:cNvSpPr>
            <a:spLocks noGrp="1"/>
          </p:cNvSpPr>
          <p:nvPr/>
        </p:nvSpPr>
        <p:spPr>
          <a:xfrm>
            <a:off x="-122904" y="376258"/>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3" name="Rectangle 2" descr="M. Mhahudul Hasan">
            <a:extLst>
              <a:ext uri="{FF2B5EF4-FFF2-40B4-BE49-F238E27FC236}">
                <a16:creationId xmlns:a16="http://schemas.microsoft.com/office/drawing/2014/main" id="{F36737E8-31C5-4C83-A605-6D8C415903C8}"/>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9570C85F-BD33-4B4A-8D94-590758715393}"/>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Use Case Diagram</a:t>
            </a:r>
          </a:p>
        </p:txBody>
      </p:sp>
      <p:sp>
        <p:nvSpPr>
          <p:cNvPr id="6" name="Rectangle 5" descr="M. Mhahudul Hasan">
            <a:extLst>
              <a:ext uri="{FF2B5EF4-FFF2-40B4-BE49-F238E27FC236}">
                <a16:creationId xmlns:a16="http://schemas.microsoft.com/office/drawing/2014/main" id="{56584A0D-8189-42A5-BB1F-9169BEF524FB}"/>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1045727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98206" y="554191"/>
            <a:ext cx="11029950" cy="669925"/>
          </a:xfrm>
        </p:spPr>
        <p:txBody>
          <a:bodyPr/>
          <a:lstStyle/>
          <a:p>
            <a:pPr algn="ctr"/>
            <a:r>
              <a:rPr lang="en-US" altLang="en-US" b="1" dirty="0">
                <a:solidFill>
                  <a:srgbClr val="0070C0"/>
                </a:solidFill>
                <a:latin typeface="Book Antiqua" pitchFamily="18" charset="0"/>
              </a:rPr>
              <a:t>Relationships  between  Use cases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460427" y="1335498"/>
            <a:ext cx="10920412" cy="1084262"/>
          </a:xfrm>
        </p:spPr>
        <p:txBody>
          <a:bodyPr>
            <a:normAutofit/>
          </a:bodyPr>
          <a:lstStyle/>
          <a:p>
            <a:pPr marL="457200" indent="-457200">
              <a:lnSpc>
                <a:spcPct val="90000"/>
              </a:lnSpc>
              <a:buFont typeface="Wingdings" pitchFamily="2" charset="2"/>
              <a:buChar char="§"/>
              <a:defRPr/>
            </a:pPr>
            <a:r>
              <a:rPr lang="en-US" sz="2200" dirty="0">
                <a:latin typeface="+mj-lt"/>
              </a:rPr>
              <a:t>Enables to avoid describing the same flow of events several times by putting the common behavior in a use case of its own.</a:t>
            </a:r>
            <a:endParaRPr lang="en-GB" altLang="en-US" sz="2200" dirty="0">
              <a:latin typeface="+mj-lt"/>
            </a:endParaRPr>
          </a:p>
        </p:txBody>
      </p:sp>
      <p:grpSp>
        <p:nvGrpSpPr>
          <p:cNvPr id="14" name="Group 17"/>
          <p:cNvGrpSpPr>
            <a:grpSpLocks/>
          </p:cNvGrpSpPr>
          <p:nvPr/>
        </p:nvGrpSpPr>
        <p:grpSpPr bwMode="auto">
          <a:xfrm>
            <a:off x="2119132" y="2837308"/>
            <a:ext cx="8602945" cy="3106291"/>
            <a:chOff x="1344" y="2400"/>
            <a:chExt cx="2976" cy="1261"/>
          </a:xfrm>
        </p:grpSpPr>
        <p:sp>
          <p:nvSpPr>
            <p:cNvPr id="15" name="Oval 5"/>
            <p:cNvSpPr>
              <a:spLocks noChangeArrowheads="1"/>
            </p:cNvSpPr>
            <p:nvPr/>
          </p:nvSpPr>
          <p:spPr bwMode="auto">
            <a:xfrm>
              <a:off x="1392" y="2400"/>
              <a:ext cx="768"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16" name="Text Box 6"/>
            <p:cNvSpPr txBox="1">
              <a:spLocks noChangeArrowheads="1"/>
            </p:cNvSpPr>
            <p:nvPr/>
          </p:nvSpPr>
          <p:spPr bwMode="auto">
            <a:xfrm>
              <a:off x="1443" y="2437"/>
              <a:ext cx="70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pPr algn="ctr" rtl="0"/>
              <a:r>
                <a:rPr lang="en-US" altLang="en-US" b="0" dirty="0">
                  <a:latin typeface="Times New Roman" panose="02020603050405020304" pitchFamily="18" charset="0"/>
                </a:rPr>
                <a:t>updating</a:t>
              </a:r>
            </a:p>
            <a:p>
              <a:pPr algn="ctr" rtl="0"/>
              <a:r>
                <a:rPr lang="en-US" altLang="en-US" b="0" dirty="0">
                  <a:latin typeface="Times New Roman" panose="02020603050405020304" pitchFamily="18" charset="0"/>
                </a:rPr>
                <a:t>grades</a:t>
              </a:r>
              <a:endParaRPr lang="en-US" altLang="en-US" sz="1600" b="0" dirty="0">
                <a:latin typeface="Times New Roman" panose="02020603050405020304" pitchFamily="18" charset="0"/>
              </a:endParaRPr>
            </a:p>
          </p:txBody>
        </p:sp>
        <p:sp>
          <p:nvSpPr>
            <p:cNvPr id="17" name="Oval 8"/>
            <p:cNvSpPr>
              <a:spLocks noChangeArrowheads="1"/>
            </p:cNvSpPr>
            <p:nvPr/>
          </p:nvSpPr>
          <p:spPr bwMode="auto">
            <a:xfrm>
              <a:off x="1344" y="3168"/>
              <a:ext cx="912" cy="49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18" name="Text Box 9"/>
            <p:cNvSpPr txBox="1">
              <a:spLocks noChangeArrowheads="1"/>
            </p:cNvSpPr>
            <p:nvPr/>
          </p:nvSpPr>
          <p:spPr bwMode="auto">
            <a:xfrm>
              <a:off x="1389" y="3317"/>
              <a:ext cx="836"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pPr algn="ctr" rtl="0"/>
              <a:r>
                <a:rPr lang="en-US" altLang="en-US" b="0" dirty="0">
                  <a:latin typeface="Times New Roman" panose="02020603050405020304" pitchFamily="18" charset="0"/>
                </a:rPr>
                <a:t>registration</a:t>
              </a:r>
              <a:endParaRPr lang="en-US" altLang="en-US" sz="1600" b="0" dirty="0">
                <a:latin typeface="Times New Roman" panose="02020603050405020304" pitchFamily="18" charset="0"/>
              </a:endParaRPr>
            </a:p>
          </p:txBody>
        </p:sp>
        <p:sp>
          <p:nvSpPr>
            <p:cNvPr id="19" name="Oval 11"/>
            <p:cNvSpPr>
              <a:spLocks noChangeArrowheads="1"/>
            </p:cNvSpPr>
            <p:nvPr/>
          </p:nvSpPr>
          <p:spPr bwMode="auto">
            <a:xfrm>
              <a:off x="3408" y="2688"/>
              <a:ext cx="912" cy="5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20" name="Text Box 12"/>
            <p:cNvSpPr txBox="1">
              <a:spLocks noChangeArrowheads="1"/>
            </p:cNvSpPr>
            <p:nvPr/>
          </p:nvSpPr>
          <p:spPr bwMode="auto">
            <a:xfrm>
              <a:off x="3408" y="2764"/>
              <a:ext cx="83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pPr algn="ctr" rtl="0"/>
              <a:r>
                <a:rPr lang="en-US" altLang="en-US" b="0" dirty="0">
                  <a:latin typeface="Times New Roman" panose="02020603050405020304" pitchFamily="18" charset="0"/>
                </a:rPr>
                <a:t>verifying</a:t>
              </a:r>
            </a:p>
            <a:p>
              <a:pPr algn="ctr" rtl="0"/>
              <a:r>
                <a:rPr lang="en-US" altLang="en-US" b="0" dirty="0">
                  <a:latin typeface="Times New Roman" panose="02020603050405020304" pitchFamily="18" charset="0"/>
                </a:rPr>
                <a:t>Id and password</a:t>
              </a:r>
            </a:p>
          </p:txBody>
        </p:sp>
        <p:sp>
          <p:nvSpPr>
            <p:cNvPr id="21" name="Line 13"/>
            <p:cNvSpPr>
              <a:spLocks noChangeShapeType="1"/>
            </p:cNvSpPr>
            <p:nvPr/>
          </p:nvSpPr>
          <p:spPr bwMode="auto">
            <a:xfrm>
              <a:off x="2160" y="2688"/>
              <a:ext cx="1248" cy="240"/>
            </a:xfrm>
            <a:prstGeom prst="line">
              <a:avLst/>
            </a:prstGeom>
            <a:noFill/>
            <a:ln w="9525">
              <a:solidFill>
                <a:schemeClr val="tx1"/>
              </a:solidFill>
              <a:prstDash val="dash"/>
              <a:round/>
              <a:headEnd/>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2" name="Line 14"/>
            <p:cNvSpPr>
              <a:spLocks noChangeShapeType="1"/>
            </p:cNvSpPr>
            <p:nvPr/>
          </p:nvSpPr>
          <p:spPr bwMode="auto">
            <a:xfrm flipV="1">
              <a:off x="2256" y="3120"/>
              <a:ext cx="1248" cy="240"/>
            </a:xfrm>
            <a:prstGeom prst="line">
              <a:avLst/>
            </a:prstGeom>
            <a:noFill/>
            <a:ln w="9525">
              <a:solidFill>
                <a:schemeClr val="tx1"/>
              </a:solidFill>
              <a:prstDash val="dash"/>
              <a:round/>
              <a:headEnd/>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 name="Text Box 15"/>
            <p:cNvSpPr txBox="1">
              <a:spLocks noChangeArrowheads="1"/>
            </p:cNvSpPr>
            <p:nvPr/>
          </p:nvSpPr>
          <p:spPr bwMode="auto">
            <a:xfrm>
              <a:off x="2294" y="2601"/>
              <a:ext cx="9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pPr rtl="0"/>
              <a:r>
                <a:rPr lang="en-US" altLang="en-US" b="0">
                  <a:latin typeface="Times New Roman" panose="02020603050405020304" pitchFamily="18" charset="0"/>
                </a:rPr>
                <a:t>&lt;&lt;include&gt;&gt;</a:t>
              </a:r>
              <a:endParaRPr lang="en-US" altLang="en-US" sz="1600" b="0">
                <a:latin typeface="Times New Roman" panose="02020603050405020304" pitchFamily="18" charset="0"/>
              </a:endParaRPr>
            </a:p>
          </p:txBody>
        </p:sp>
        <p:sp>
          <p:nvSpPr>
            <p:cNvPr id="24" name="Text Box 16"/>
            <p:cNvSpPr txBox="1">
              <a:spLocks noChangeArrowheads="1"/>
            </p:cNvSpPr>
            <p:nvPr/>
          </p:nvSpPr>
          <p:spPr bwMode="auto">
            <a:xfrm>
              <a:off x="2390" y="3240"/>
              <a:ext cx="9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pPr rtl="0"/>
              <a:r>
                <a:rPr lang="en-US" altLang="en-US" b="0">
                  <a:latin typeface="Times New Roman" panose="02020603050405020304" pitchFamily="18" charset="0"/>
                </a:rPr>
                <a:t>&lt;&lt;include&gt;&gt;</a:t>
              </a:r>
              <a:endParaRPr lang="en-US" altLang="en-US" sz="1600" b="0">
                <a:latin typeface="Times New Roman" panose="02020603050405020304" pitchFamily="18" charset="0"/>
              </a:endParaRPr>
            </a:p>
          </p:txBody>
        </p:sp>
      </p:grpSp>
      <p:sp>
        <p:nvSpPr>
          <p:cNvPr id="25" name="Slide Number Placeholder 3">
            <a:extLst>
              <a:ext uri="{FF2B5EF4-FFF2-40B4-BE49-F238E27FC236}">
                <a16:creationId xmlns:a16="http://schemas.microsoft.com/office/drawing/2014/main" id="{C098970D-A92B-4AD1-B71B-2AF5694290A7}"/>
              </a:ext>
            </a:extLst>
          </p:cNvPr>
          <p:cNvSpPr txBox="1">
            <a:spLocks/>
          </p:cNvSpPr>
          <p:nvPr/>
        </p:nvSpPr>
        <p:spPr>
          <a:xfrm rot="5400000">
            <a:off x="11749548"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8</a:t>
            </a:fld>
            <a:r>
              <a:rPr lang="en-US" sz="1400" b="1" dirty="0"/>
              <a:t> </a:t>
            </a:r>
          </a:p>
        </p:txBody>
      </p:sp>
      <p:sp>
        <p:nvSpPr>
          <p:cNvPr id="26" name="Content Placeholder 2">
            <a:extLst>
              <a:ext uri="{FF2B5EF4-FFF2-40B4-BE49-F238E27FC236}">
                <a16:creationId xmlns:a16="http://schemas.microsoft.com/office/drawing/2014/main" id="{DB6C492D-2420-44FC-8805-26561D5579CF}"/>
              </a:ext>
            </a:extLst>
          </p:cNvPr>
          <p:cNvSpPr>
            <a:spLocks noGrp="1"/>
          </p:cNvSpPr>
          <p:nvPr/>
        </p:nvSpPr>
        <p:spPr>
          <a:xfrm>
            <a:off x="-137653" y="346762"/>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3" name="Rectangle 2" descr="M. Mhahudul Hasan">
            <a:extLst>
              <a:ext uri="{FF2B5EF4-FFF2-40B4-BE49-F238E27FC236}">
                <a16:creationId xmlns:a16="http://schemas.microsoft.com/office/drawing/2014/main" id="{F923631B-5B5C-4EFD-8FAB-571C50DE5E72}"/>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80A40ABF-395B-49FA-BFD1-0C5F5815EE3C}"/>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Use Case Diagram</a:t>
            </a:r>
          </a:p>
        </p:txBody>
      </p:sp>
      <p:sp>
        <p:nvSpPr>
          <p:cNvPr id="6" name="Rectangle 5" descr="M. Mhahudul Hasan">
            <a:extLst>
              <a:ext uri="{FF2B5EF4-FFF2-40B4-BE49-F238E27FC236}">
                <a16:creationId xmlns:a16="http://schemas.microsoft.com/office/drawing/2014/main" id="{3F8DDCA1-8D2F-4FF1-8C28-1E3A664221C7}"/>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3582580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86697" y="539443"/>
            <a:ext cx="11029950" cy="507693"/>
          </a:xfrm>
        </p:spPr>
        <p:txBody>
          <a:bodyPr>
            <a:normAutofit fontScale="90000"/>
          </a:bodyPr>
          <a:lstStyle/>
          <a:p>
            <a:pPr algn="ctr"/>
            <a:r>
              <a:rPr lang="en-US" altLang="en-US" b="1" dirty="0">
                <a:solidFill>
                  <a:srgbClr val="0070C0"/>
                </a:solidFill>
                <a:latin typeface="Book Antiqua" pitchFamily="18" charset="0"/>
              </a:rPr>
              <a:t>Relationships  between  Use cases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239201" y="1236304"/>
            <a:ext cx="11544760" cy="2495550"/>
          </a:xfrm>
        </p:spPr>
        <p:txBody>
          <a:bodyPr>
            <a:noAutofit/>
          </a:bodyPr>
          <a:lstStyle/>
          <a:p>
            <a:pPr>
              <a:lnSpc>
                <a:spcPct val="90000"/>
              </a:lnSpc>
              <a:buFont typeface="Wingdings" pitchFamily="2" charset="2"/>
              <a:buChar char="q"/>
              <a:defRPr/>
            </a:pPr>
            <a:r>
              <a:rPr lang="en-US" sz="2200" b="1" dirty="0">
                <a:solidFill>
                  <a:srgbClr val="C00000"/>
                </a:solidFill>
                <a:latin typeface="+mj-lt"/>
              </a:rPr>
              <a:t>Extend</a:t>
            </a:r>
            <a:r>
              <a:rPr lang="en-US" sz="2200" dirty="0">
                <a:solidFill>
                  <a:srgbClr val="C00000"/>
                </a:solidFill>
                <a:latin typeface="+mj-lt"/>
              </a:rPr>
              <a:t> </a:t>
            </a:r>
            <a:r>
              <a:rPr lang="en-US" sz="2200" dirty="0">
                <a:latin typeface="+mj-lt"/>
              </a:rPr>
              <a:t>– a part of a use case that is </a:t>
            </a:r>
            <a:r>
              <a:rPr lang="en-US" sz="2200" i="1" dirty="0">
                <a:latin typeface="+mj-lt"/>
              </a:rPr>
              <a:t>optional </a:t>
            </a:r>
            <a:r>
              <a:rPr lang="en-US" sz="2200" dirty="0">
                <a:latin typeface="+mj-lt"/>
              </a:rPr>
              <a:t>system behavior</a:t>
            </a:r>
          </a:p>
          <a:p>
            <a:pPr>
              <a:lnSpc>
                <a:spcPct val="90000"/>
              </a:lnSpc>
              <a:buFont typeface="Wingdings" pitchFamily="2" charset="2"/>
              <a:buChar char="§"/>
              <a:defRPr/>
            </a:pPr>
            <a:r>
              <a:rPr lang="en-US" sz="2200" dirty="0">
                <a:latin typeface="+mj-lt"/>
              </a:rPr>
              <a:t>The base use case implicitly incorporates the behavior of another use case at certain points called extension points.</a:t>
            </a:r>
          </a:p>
          <a:p>
            <a:pPr>
              <a:lnSpc>
                <a:spcPct val="90000"/>
              </a:lnSpc>
              <a:buFont typeface="Wingdings" pitchFamily="2" charset="2"/>
              <a:buChar char="§"/>
              <a:defRPr/>
            </a:pPr>
            <a:r>
              <a:rPr lang="en-US" sz="2200" dirty="0">
                <a:latin typeface="+mj-lt"/>
              </a:rPr>
              <a:t>The base use case may stand alone, but under certain conditions its behavior may be extended by</a:t>
            </a:r>
            <a:br>
              <a:rPr lang="en-US" sz="2200" dirty="0">
                <a:latin typeface="+mj-lt"/>
              </a:rPr>
            </a:br>
            <a:r>
              <a:rPr lang="en-US" sz="2200" dirty="0">
                <a:latin typeface="+mj-lt"/>
              </a:rPr>
              <a:t>the behavior of another use case.</a:t>
            </a:r>
          </a:p>
          <a:p>
            <a:pPr>
              <a:lnSpc>
                <a:spcPct val="90000"/>
              </a:lnSpc>
              <a:buFont typeface="Wingdings" pitchFamily="2" charset="2"/>
              <a:buChar char="§"/>
              <a:defRPr/>
            </a:pPr>
            <a:r>
              <a:rPr lang="en-US" sz="2200" dirty="0">
                <a:latin typeface="+mj-lt"/>
              </a:rPr>
              <a:t>Enables to model optional behavior or branching under conditions.</a:t>
            </a:r>
          </a:p>
        </p:txBody>
      </p:sp>
      <p:grpSp>
        <p:nvGrpSpPr>
          <p:cNvPr id="14" name="Group 12"/>
          <p:cNvGrpSpPr>
            <a:grpSpLocks/>
          </p:cNvGrpSpPr>
          <p:nvPr/>
        </p:nvGrpSpPr>
        <p:grpSpPr bwMode="auto">
          <a:xfrm>
            <a:off x="562968" y="4761263"/>
            <a:ext cx="6191794" cy="1077730"/>
            <a:chOff x="1440" y="1211"/>
            <a:chExt cx="2641" cy="340"/>
          </a:xfrm>
        </p:grpSpPr>
        <p:grpSp>
          <p:nvGrpSpPr>
            <p:cNvPr id="15" name="Group 4"/>
            <p:cNvGrpSpPr>
              <a:grpSpLocks/>
            </p:cNvGrpSpPr>
            <p:nvPr/>
          </p:nvGrpSpPr>
          <p:grpSpPr bwMode="auto">
            <a:xfrm>
              <a:off x="1440" y="1225"/>
              <a:ext cx="576" cy="275"/>
              <a:chOff x="4176" y="793"/>
              <a:chExt cx="576" cy="275"/>
            </a:xfrm>
          </p:grpSpPr>
          <p:sp>
            <p:nvSpPr>
              <p:cNvPr id="21" name="Oval 5"/>
              <p:cNvSpPr>
                <a:spLocks noChangeArrowheads="1"/>
              </p:cNvSpPr>
              <p:nvPr/>
            </p:nvSpPr>
            <p:spPr bwMode="auto">
              <a:xfrm>
                <a:off x="4176" y="793"/>
                <a:ext cx="576" cy="27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22" name="Text Box 6"/>
              <p:cNvSpPr txBox="1">
                <a:spLocks noChangeArrowheads="1"/>
              </p:cNvSpPr>
              <p:nvPr/>
            </p:nvSpPr>
            <p:spPr bwMode="auto">
              <a:xfrm>
                <a:off x="4317" y="853"/>
                <a:ext cx="37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pPr rtl="0"/>
                <a:r>
                  <a:rPr lang="en-US" altLang="en-US" sz="2000" b="0" dirty="0">
                    <a:latin typeface="Times New Roman" panose="02020603050405020304" pitchFamily="18" charset="0"/>
                  </a:rPr>
                  <a:t>base</a:t>
                </a:r>
                <a:endParaRPr lang="en-US" altLang="en-US" sz="2400" b="0" dirty="0">
                  <a:latin typeface="Times New Roman" panose="02020603050405020304" pitchFamily="18" charset="0"/>
                </a:endParaRPr>
              </a:p>
            </p:txBody>
          </p:sp>
        </p:grpSp>
        <p:grpSp>
          <p:nvGrpSpPr>
            <p:cNvPr id="16" name="Group 7"/>
            <p:cNvGrpSpPr>
              <a:grpSpLocks/>
            </p:cNvGrpSpPr>
            <p:nvPr/>
          </p:nvGrpSpPr>
          <p:grpSpPr bwMode="auto">
            <a:xfrm>
              <a:off x="3265" y="1211"/>
              <a:ext cx="816" cy="340"/>
              <a:chOff x="4176" y="779"/>
              <a:chExt cx="576" cy="340"/>
            </a:xfrm>
          </p:grpSpPr>
          <p:sp>
            <p:nvSpPr>
              <p:cNvPr id="19" name="Oval 8"/>
              <p:cNvSpPr>
                <a:spLocks noChangeArrowheads="1"/>
              </p:cNvSpPr>
              <p:nvPr/>
            </p:nvSpPr>
            <p:spPr bwMode="auto">
              <a:xfrm>
                <a:off x="4176" y="779"/>
                <a:ext cx="576" cy="3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20" name="Text Box 9"/>
              <p:cNvSpPr txBox="1">
                <a:spLocks noChangeArrowheads="1"/>
              </p:cNvSpPr>
              <p:nvPr/>
            </p:nvSpPr>
            <p:spPr bwMode="auto">
              <a:xfrm>
                <a:off x="4212" y="853"/>
                <a:ext cx="47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pPr rtl="0"/>
                <a:r>
                  <a:rPr lang="en-US" altLang="en-US" sz="2000" b="0" dirty="0">
                    <a:latin typeface="Times New Roman" panose="02020603050405020304" pitchFamily="18" charset="0"/>
                  </a:rPr>
                  <a:t>extending</a:t>
                </a:r>
                <a:endParaRPr lang="en-US" altLang="en-US" sz="2400" b="0" dirty="0">
                  <a:latin typeface="Times New Roman" panose="02020603050405020304" pitchFamily="18" charset="0"/>
                </a:endParaRPr>
              </a:p>
            </p:txBody>
          </p:sp>
        </p:grpSp>
        <p:sp>
          <p:nvSpPr>
            <p:cNvPr id="17" name="Line 10"/>
            <p:cNvSpPr>
              <a:spLocks noChangeShapeType="1"/>
            </p:cNvSpPr>
            <p:nvPr/>
          </p:nvSpPr>
          <p:spPr bwMode="auto">
            <a:xfrm>
              <a:off x="2016" y="1392"/>
              <a:ext cx="1248" cy="0"/>
            </a:xfrm>
            <a:prstGeom prst="line">
              <a:avLst/>
            </a:prstGeom>
            <a:noFill/>
            <a:ln w="9525">
              <a:solidFill>
                <a:schemeClr val="tx1"/>
              </a:solidFill>
              <a:prstDash val="dash"/>
              <a:round/>
              <a:headEnd type="arrow" w="med" len="me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Text Box 11"/>
            <p:cNvSpPr txBox="1">
              <a:spLocks noChangeArrowheads="1"/>
            </p:cNvSpPr>
            <p:nvPr/>
          </p:nvSpPr>
          <p:spPr bwMode="auto">
            <a:xfrm>
              <a:off x="2320" y="1218"/>
              <a:ext cx="723"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pPr rtl="0"/>
              <a:r>
                <a:rPr lang="en-US" altLang="en-US" b="0" dirty="0">
                  <a:latin typeface="Times New Roman" panose="02020603050405020304" pitchFamily="18" charset="0"/>
                </a:rPr>
                <a:t>&lt;&lt;extend&gt;&gt;</a:t>
              </a:r>
            </a:p>
          </p:txBody>
        </p:sp>
      </p:grpSp>
      <p:pic>
        <p:nvPicPr>
          <p:cNvPr id="2052" name="Picture 4" descr="http://assets.devx.com/articlefigs/figure2uml.bmp"/>
          <p:cNvPicPr>
            <a:picLocks noChangeAspect="1" noChangeArrowheads="1"/>
          </p:cNvPicPr>
          <p:nvPr/>
        </p:nvPicPr>
        <p:blipFill>
          <a:blip r:embed="rId2"/>
          <a:srcRect/>
          <a:stretch>
            <a:fillRect/>
          </a:stretch>
        </p:blipFill>
        <p:spPr bwMode="auto">
          <a:xfrm>
            <a:off x="6983003" y="4364257"/>
            <a:ext cx="5008699" cy="2390504"/>
          </a:xfrm>
          <a:prstGeom prst="rect">
            <a:avLst/>
          </a:prstGeom>
          <a:noFill/>
        </p:spPr>
      </p:pic>
      <p:cxnSp>
        <p:nvCxnSpPr>
          <p:cNvPr id="26" name="Straight Connector 25"/>
          <p:cNvCxnSpPr/>
          <p:nvPr/>
        </p:nvCxnSpPr>
        <p:spPr>
          <a:xfrm rot="16200000" flipH="1">
            <a:off x="6583681" y="5486398"/>
            <a:ext cx="2168433" cy="52253"/>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16200000" flipH="1">
            <a:off x="10861770" y="5440682"/>
            <a:ext cx="2216328" cy="8708"/>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rot="10800000" flipV="1">
            <a:off x="7694027" y="6570617"/>
            <a:ext cx="4297676" cy="391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rot="10800000" flipV="1">
            <a:off x="7680960" y="4332514"/>
            <a:ext cx="4293326" cy="56606"/>
          </a:xfrm>
          <a:prstGeom prst="line">
            <a:avLst/>
          </a:prstGeom>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9143999" y="3944983"/>
            <a:ext cx="1123407" cy="369332"/>
          </a:xfrm>
          <a:prstGeom prst="rect">
            <a:avLst/>
          </a:prstGeom>
          <a:noFill/>
        </p:spPr>
        <p:txBody>
          <a:bodyPr wrap="square" rtlCol="0">
            <a:spAutoFit/>
          </a:bodyPr>
          <a:lstStyle/>
          <a:p>
            <a:r>
              <a:rPr lang="en-US" dirty="0"/>
              <a:t>Vacation</a:t>
            </a:r>
          </a:p>
        </p:txBody>
      </p:sp>
      <p:sp>
        <p:nvSpPr>
          <p:cNvPr id="23" name="Slide Number Placeholder 3">
            <a:extLst>
              <a:ext uri="{FF2B5EF4-FFF2-40B4-BE49-F238E27FC236}">
                <a16:creationId xmlns:a16="http://schemas.microsoft.com/office/drawing/2014/main" id="{CBE2E7FE-5924-4BAA-8A09-546A4A927FA1}"/>
              </a:ext>
            </a:extLst>
          </p:cNvPr>
          <p:cNvSpPr txBox="1">
            <a:spLocks/>
          </p:cNvSpPr>
          <p:nvPr/>
        </p:nvSpPr>
        <p:spPr>
          <a:xfrm rot="5400000">
            <a:off x="11749548"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9</a:t>
            </a:fld>
            <a:r>
              <a:rPr lang="en-US" sz="1400" b="1" dirty="0"/>
              <a:t> </a:t>
            </a:r>
          </a:p>
        </p:txBody>
      </p:sp>
      <p:sp>
        <p:nvSpPr>
          <p:cNvPr id="24" name="Content Placeholder 2">
            <a:extLst>
              <a:ext uri="{FF2B5EF4-FFF2-40B4-BE49-F238E27FC236}">
                <a16:creationId xmlns:a16="http://schemas.microsoft.com/office/drawing/2014/main" id="{C31C6C89-7717-443A-B07A-FD5D312FA952}"/>
              </a:ext>
            </a:extLst>
          </p:cNvPr>
          <p:cNvSpPr>
            <a:spLocks noGrp="1"/>
          </p:cNvSpPr>
          <p:nvPr/>
        </p:nvSpPr>
        <p:spPr>
          <a:xfrm>
            <a:off x="-137653" y="346762"/>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3" name="Rectangle 2" descr="M. Mhahudul Hasan">
            <a:extLst>
              <a:ext uri="{FF2B5EF4-FFF2-40B4-BE49-F238E27FC236}">
                <a16:creationId xmlns:a16="http://schemas.microsoft.com/office/drawing/2014/main" id="{F1F82E91-8EFB-4903-863B-C1E404F339BC}"/>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5304FF81-CEE2-43D3-9E4D-8168B1210FF9}"/>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Use Case Diagram</a:t>
            </a:r>
          </a:p>
        </p:txBody>
      </p:sp>
      <p:sp>
        <p:nvSpPr>
          <p:cNvPr id="6" name="Rectangle 5" descr="M. Mhahudul Hasan">
            <a:extLst>
              <a:ext uri="{FF2B5EF4-FFF2-40B4-BE49-F238E27FC236}">
                <a16:creationId xmlns:a16="http://schemas.microsoft.com/office/drawing/2014/main" id="{91B9A805-7E69-4870-A41B-F40E1FC806E6}"/>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301933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539443"/>
            <a:ext cx="11029950" cy="507693"/>
          </a:xfrm>
        </p:spPr>
        <p:txBody>
          <a:bodyPr>
            <a:normAutofit fontScale="90000"/>
          </a:bodyPr>
          <a:lstStyle/>
          <a:p>
            <a:pPr algn="ctr"/>
            <a:r>
              <a:rPr lang="en-US" altLang="en-US" b="1" dirty="0">
                <a:solidFill>
                  <a:srgbClr val="0070C0"/>
                </a:solidFill>
                <a:latin typeface="Book Antiqua" pitchFamily="18" charset="0"/>
              </a:rPr>
              <a:t>Relationships  between  Use cases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150710" y="1029828"/>
            <a:ext cx="11530011" cy="961206"/>
          </a:xfrm>
        </p:spPr>
        <p:txBody>
          <a:bodyPr>
            <a:noAutofit/>
          </a:bodyPr>
          <a:lstStyle/>
          <a:p>
            <a:pPr>
              <a:lnSpc>
                <a:spcPct val="90000"/>
              </a:lnSpc>
              <a:buFont typeface="Wingdings" pitchFamily="2" charset="2"/>
              <a:buChar char="q"/>
              <a:defRPr/>
            </a:pPr>
            <a:r>
              <a:rPr lang="en-US" sz="2200" b="1" dirty="0">
                <a:solidFill>
                  <a:srgbClr val="C00000"/>
                </a:solidFill>
                <a:latin typeface="+mj-lt"/>
              </a:rPr>
              <a:t>Generalization</a:t>
            </a:r>
            <a:r>
              <a:rPr lang="en-US" sz="2200" dirty="0">
                <a:solidFill>
                  <a:srgbClr val="C00000"/>
                </a:solidFill>
                <a:latin typeface="+mj-lt"/>
              </a:rPr>
              <a:t> </a:t>
            </a:r>
            <a:r>
              <a:rPr lang="en-US" sz="2200" dirty="0">
                <a:latin typeface="+mj-lt"/>
              </a:rPr>
              <a:t>- </a:t>
            </a:r>
            <a:r>
              <a:rPr lang="en-US" sz="2200" dirty="0"/>
              <a:t>A generalization relationship means that a child use case inherits the behavior and meaning of the parent use case. The child may add or override the behavior of the parent.</a:t>
            </a:r>
            <a:endParaRPr lang="en-US" sz="2200" dirty="0">
              <a:latin typeface="+mj-lt"/>
            </a:endParaRPr>
          </a:p>
        </p:txBody>
      </p:sp>
      <p:pic>
        <p:nvPicPr>
          <p:cNvPr id="25606" name="Picture 6" descr="http://geeksww.com/images/Lab2-PartA-1.jpg"/>
          <p:cNvPicPr>
            <a:picLocks noChangeAspect="1" noChangeArrowheads="1"/>
          </p:cNvPicPr>
          <p:nvPr/>
        </p:nvPicPr>
        <p:blipFill>
          <a:blip r:embed="rId3"/>
          <a:srcRect/>
          <a:stretch>
            <a:fillRect/>
          </a:stretch>
        </p:blipFill>
        <p:spPr bwMode="auto">
          <a:xfrm>
            <a:off x="1409524" y="2020529"/>
            <a:ext cx="8961121" cy="4586748"/>
          </a:xfrm>
          <a:prstGeom prst="rect">
            <a:avLst/>
          </a:prstGeom>
          <a:noFill/>
        </p:spPr>
      </p:pic>
      <p:sp>
        <p:nvSpPr>
          <p:cNvPr id="7" name="Slide Number Placeholder 3">
            <a:extLst>
              <a:ext uri="{FF2B5EF4-FFF2-40B4-BE49-F238E27FC236}">
                <a16:creationId xmlns:a16="http://schemas.microsoft.com/office/drawing/2014/main" id="{7BEBBE5B-9642-4A32-A9D6-89D7FE470CC6}"/>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10</a:t>
            </a:fld>
            <a:r>
              <a:rPr lang="en-US" sz="1400" b="1" dirty="0"/>
              <a:t> </a:t>
            </a:r>
          </a:p>
        </p:txBody>
      </p:sp>
      <p:sp>
        <p:nvSpPr>
          <p:cNvPr id="8" name="Content Placeholder 2">
            <a:extLst>
              <a:ext uri="{FF2B5EF4-FFF2-40B4-BE49-F238E27FC236}">
                <a16:creationId xmlns:a16="http://schemas.microsoft.com/office/drawing/2014/main" id="{EFE5AEB1-4FFB-426D-951C-FEF00FF32C1A}"/>
              </a:ext>
            </a:extLst>
          </p:cNvPr>
          <p:cNvSpPr>
            <a:spLocks noGrp="1"/>
          </p:cNvSpPr>
          <p:nvPr/>
        </p:nvSpPr>
        <p:spPr>
          <a:xfrm>
            <a:off x="-137653" y="346762"/>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3" name="Rectangle 2" descr="M. Mhahudul Hasan">
            <a:extLst>
              <a:ext uri="{FF2B5EF4-FFF2-40B4-BE49-F238E27FC236}">
                <a16:creationId xmlns:a16="http://schemas.microsoft.com/office/drawing/2014/main" id="{40BD0876-1C54-4E64-8388-47688A1E8869}"/>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E5912640-BCD7-46AF-A6F7-952CE125FE2E}"/>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Use Case Diagram</a:t>
            </a:r>
          </a:p>
        </p:txBody>
      </p:sp>
      <p:sp>
        <p:nvSpPr>
          <p:cNvPr id="6" name="Rectangle 5" descr="M. Mhahudul Hasan">
            <a:extLst>
              <a:ext uri="{FF2B5EF4-FFF2-40B4-BE49-F238E27FC236}">
                <a16:creationId xmlns:a16="http://schemas.microsoft.com/office/drawing/2014/main" id="{7854C550-1096-413C-B23A-97D2367F195C}"/>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3978179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12955" y="613185"/>
            <a:ext cx="11029950" cy="433950"/>
          </a:xfrm>
        </p:spPr>
        <p:txBody>
          <a:bodyPr>
            <a:normAutofit fontScale="90000"/>
          </a:bodyPr>
          <a:lstStyle/>
          <a:p>
            <a:pPr algn="ctr"/>
            <a:r>
              <a:rPr lang="en-US" altLang="en-US" b="1" dirty="0">
                <a:solidFill>
                  <a:srgbClr val="0070C0"/>
                </a:solidFill>
                <a:latin typeface="Book Antiqua" pitchFamily="18" charset="0"/>
              </a:rPr>
              <a:t>    Use cases  description</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814388" y="1457530"/>
            <a:ext cx="10920412" cy="4611688"/>
          </a:xfrm>
        </p:spPr>
        <p:txBody>
          <a:bodyPr>
            <a:noAutofit/>
          </a:bodyPr>
          <a:lstStyle/>
          <a:p>
            <a:pPr marL="342900" lvl="0" indent="-342900" algn="r" defTabSz="914400" rtl="1">
              <a:lnSpc>
                <a:spcPct val="115000"/>
              </a:lnSpc>
              <a:spcAft>
                <a:spcPts val="0"/>
              </a:spcAft>
              <a:buClrTx/>
              <a:buSzTx/>
              <a:buNone/>
              <a:defRPr/>
            </a:pPr>
            <a:endParaRPr lang="en-US" sz="2400" dirty="0">
              <a:solidFill>
                <a:schemeClr val="tx1"/>
              </a:solidFill>
            </a:endParaRPr>
          </a:p>
          <a:p>
            <a:pPr marL="742950" lvl="1" indent="-285750" defTabSz="914400">
              <a:lnSpc>
                <a:spcPct val="90000"/>
              </a:lnSpc>
              <a:spcAft>
                <a:spcPts val="0"/>
              </a:spcAft>
              <a:buClr>
                <a:schemeClr val="tx2"/>
              </a:buClr>
              <a:buSzTx/>
              <a:buFont typeface="Wingdings" pitchFamily="2" charset="2"/>
              <a:buChar char="§"/>
              <a:defRPr/>
            </a:pPr>
            <a:r>
              <a:rPr lang="en-US" sz="2000" dirty="0">
                <a:solidFill>
                  <a:schemeClr val="tx1"/>
                </a:solidFill>
              </a:rPr>
              <a:t>Title or Reference Name	- meaningful name of the UC</a:t>
            </a:r>
          </a:p>
          <a:p>
            <a:pPr marL="742950" lvl="1" indent="-285750" defTabSz="914400">
              <a:lnSpc>
                <a:spcPct val="90000"/>
              </a:lnSpc>
              <a:spcAft>
                <a:spcPts val="0"/>
              </a:spcAft>
              <a:buClr>
                <a:schemeClr val="tx2"/>
              </a:buClr>
              <a:buSzTx/>
              <a:buFont typeface="Wingdings" pitchFamily="2" charset="2"/>
              <a:buChar char="§"/>
              <a:defRPr/>
            </a:pPr>
            <a:r>
              <a:rPr lang="en-US" sz="2000" dirty="0">
                <a:solidFill>
                  <a:schemeClr val="tx1"/>
                </a:solidFill>
              </a:rPr>
              <a:t>Author/Date		- the author and creation date</a:t>
            </a:r>
          </a:p>
          <a:p>
            <a:pPr marL="742950" lvl="1" indent="-285750" defTabSz="914400">
              <a:lnSpc>
                <a:spcPct val="90000"/>
              </a:lnSpc>
              <a:spcAft>
                <a:spcPts val="0"/>
              </a:spcAft>
              <a:buClr>
                <a:schemeClr val="tx2"/>
              </a:buClr>
              <a:buSzTx/>
              <a:buFont typeface="Wingdings" pitchFamily="2" charset="2"/>
              <a:buChar char="§"/>
              <a:defRPr/>
            </a:pPr>
            <a:r>
              <a:rPr lang="en-US" sz="2000" dirty="0">
                <a:solidFill>
                  <a:schemeClr val="tx1"/>
                </a:solidFill>
              </a:rPr>
              <a:t>Modification/Date		- last modification and its date</a:t>
            </a:r>
          </a:p>
          <a:p>
            <a:pPr marL="742950" lvl="1" indent="-285750" defTabSz="914400">
              <a:lnSpc>
                <a:spcPct val="90000"/>
              </a:lnSpc>
              <a:spcAft>
                <a:spcPts val="0"/>
              </a:spcAft>
              <a:buClr>
                <a:schemeClr val="tx2"/>
              </a:buClr>
              <a:buSzTx/>
              <a:buFont typeface="Wingdings" pitchFamily="2" charset="2"/>
              <a:buChar char="§"/>
              <a:defRPr/>
            </a:pPr>
            <a:r>
              <a:rPr lang="en-US" sz="2000" dirty="0">
                <a:solidFill>
                  <a:schemeClr val="tx1"/>
                </a:solidFill>
              </a:rPr>
              <a:t>Purpose			- specifies the goal to be achieved</a:t>
            </a:r>
          </a:p>
          <a:p>
            <a:pPr marL="742950" lvl="1" indent="-285750" defTabSz="914400">
              <a:lnSpc>
                <a:spcPct val="90000"/>
              </a:lnSpc>
              <a:spcAft>
                <a:spcPts val="0"/>
              </a:spcAft>
              <a:buClr>
                <a:schemeClr val="tx2"/>
              </a:buClr>
              <a:buSzTx/>
              <a:buFont typeface="Wingdings" pitchFamily="2" charset="2"/>
              <a:buChar char="§"/>
              <a:defRPr/>
            </a:pPr>
            <a:r>
              <a:rPr lang="en-US" sz="2000" dirty="0">
                <a:solidFill>
                  <a:schemeClr val="tx1"/>
                </a:solidFill>
              </a:rPr>
              <a:t>Overview			- short description of the processes</a:t>
            </a:r>
          </a:p>
          <a:p>
            <a:pPr marL="742950" lvl="1" indent="-285750" defTabSz="914400">
              <a:lnSpc>
                <a:spcPct val="90000"/>
              </a:lnSpc>
              <a:spcAft>
                <a:spcPts val="0"/>
              </a:spcAft>
              <a:buClr>
                <a:schemeClr val="tx2"/>
              </a:buClr>
              <a:buSzTx/>
              <a:buFont typeface="Wingdings" pitchFamily="2" charset="2"/>
              <a:buChar char="§"/>
              <a:defRPr/>
            </a:pPr>
            <a:r>
              <a:rPr lang="en-US" sz="2000" dirty="0">
                <a:solidFill>
                  <a:schemeClr val="tx1"/>
                </a:solidFill>
              </a:rPr>
              <a:t>Cross References		- requirements references</a:t>
            </a:r>
          </a:p>
          <a:p>
            <a:pPr marL="742950" lvl="1" indent="-285750" defTabSz="914400">
              <a:lnSpc>
                <a:spcPct val="90000"/>
              </a:lnSpc>
              <a:spcAft>
                <a:spcPts val="0"/>
              </a:spcAft>
              <a:buClr>
                <a:schemeClr val="tx2"/>
              </a:buClr>
              <a:buSzTx/>
              <a:buFont typeface="Wingdings" pitchFamily="2" charset="2"/>
              <a:buChar char="§"/>
              <a:defRPr/>
            </a:pPr>
            <a:r>
              <a:rPr lang="en-US" sz="2000" dirty="0">
                <a:solidFill>
                  <a:schemeClr val="tx1"/>
                </a:solidFill>
              </a:rPr>
              <a:t>Actors			- agents participating</a:t>
            </a:r>
          </a:p>
          <a:p>
            <a:pPr marL="742950" lvl="1" indent="-285750" defTabSz="914400">
              <a:lnSpc>
                <a:spcPct val="90000"/>
              </a:lnSpc>
              <a:spcAft>
                <a:spcPts val="0"/>
              </a:spcAft>
              <a:buClr>
                <a:schemeClr val="tx2"/>
              </a:buClr>
              <a:buSzTx/>
              <a:buFont typeface="Wingdings" pitchFamily="2" charset="2"/>
              <a:buChar char="§"/>
              <a:defRPr/>
            </a:pPr>
            <a:r>
              <a:rPr lang="en-US" sz="2000" dirty="0">
                <a:solidFill>
                  <a:schemeClr val="tx1"/>
                </a:solidFill>
              </a:rPr>
              <a:t>Pre-Conditions		- must be true to allow execution</a:t>
            </a:r>
          </a:p>
          <a:p>
            <a:pPr marL="742950" lvl="1" indent="-285750" defTabSz="914400">
              <a:lnSpc>
                <a:spcPct val="90000"/>
              </a:lnSpc>
              <a:spcAft>
                <a:spcPts val="0"/>
              </a:spcAft>
              <a:buClr>
                <a:schemeClr val="tx2"/>
              </a:buClr>
              <a:buSzTx/>
              <a:buFont typeface="Wingdings" pitchFamily="2" charset="2"/>
              <a:buChar char="§"/>
              <a:defRPr/>
            </a:pPr>
            <a:r>
              <a:rPr lang="en-US" sz="2000" dirty="0">
                <a:solidFill>
                  <a:schemeClr val="tx1"/>
                </a:solidFill>
              </a:rPr>
              <a:t>Post Conditions		- will be set when completes normally</a:t>
            </a:r>
          </a:p>
          <a:p>
            <a:pPr marL="742950" lvl="1" indent="-285750" defTabSz="914400">
              <a:lnSpc>
                <a:spcPct val="90000"/>
              </a:lnSpc>
              <a:spcAft>
                <a:spcPts val="0"/>
              </a:spcAft>
              <a:buClr>
                <a:schemeClr val="tx2"/>
              </a:buClr>
              <a:buSzTx/>
              <a:buFont typeface="Wingdings" pitchFamily="2" charset="2"/>
              <a:buChar char="§"/>
              <a:defRPr/>
            </a:pPr>
            <a:r>
              <a:rPr lang="en-US" sz="2000" dirty="0">
                <a:solidFill>
                  <a:schemeClr val="tx1"/>
                </a:solidFill>
              </a:rPr>
              <a:t>Normal flow of events	- regular flow of activities</a:t>
            </a:r>
          </a:p>
          <a:p>
            <a:pPr marL="742950" lvl="1" indent="-285750" defTabSz="914400">
              <a:lnSpc>
                <a:spcPct val="90000"/>
              </a:lnSpc>
              <a:spcAft>
                <a:spcPts val="0"/>
              </a:spcAft>
              <a:buClr>
                <a:schemeClr val="tx2"/>
              </a:buClr>
              <a:buSzTx/>
              <a:buFont typeface="Wingdings" pitchFamily="2" charset="2"/>
              <a:buChar char="§"/>
              <a:defRPr/>
            </a:pPr>
            <a:r>
              <a:rPr lang="en-US" sz="2000" dirty="0">
                <a:solidFill>
                  <a:schemeClr val="tx1"/>
                </a:solidFill>
              </a:rPr>
              <a:t>Alternative flow of events 	- other flow of activities</a:t>
            </a:r>
          </a:p>
          <a:p>
            <a:pPr marL="742950" lvl="1" indent="-285750" defTabSz="914400">
              <a:lnSpc>
                <a:spcPct val="90000"/>
              </a:lnSpc>
              <a:spcAft>
                <a:spcPts val="0"/>
              </a:spcAft>
              <a:buClr>
                <a:schemeClr val="tx2"/>
              </a:buClr>
              <a:buSzTx/>
              <a:buFont typeface="Wingdings" pitchFamily="2" charset="2"/>
              <a:buChar char="§"/>
              <a:defRPr/>
            </a:pPr>
            <a:r>
              <a:rPr lang="en-US" sz="2000" dirty="0">
                <a:solidFill>
                  <a:schemeClr val="tx1"/>
                </a:solidFill>
              </a:rPr>
              <a:t>Exceptional flow of events 	- unusual situations</a:t>
            </a:r>
          </a:p>
          <a:p>
            <a:pPr marL="742950" lvl="1" indent="-285750" defTabSz="914400">
              <a:lnSpc>
                <a:spcPct val="90000"/>
              </a:lnSpc>
              <a:spcAft>
                <a:spcPts val="0"/>
              </a:spcAft>
              <a:buClr>
                <a:schemeClr val="tx2"/>
              </a:buClr>
              <a:buSzTx/>
              <a:buFont typeface="Wingdings" pitchFamily="2" charset="2"/>
              <a:buChar char="§"/>
              <a:defRPr/>
            </a:pPr>
            <a:r>
              <a:rPr lang="en-US" sz="2000" dirty="0">
                <a:solidFill>
                  <a:schemeClr val="tx1"/>
                </a:solidFill>
              </a:rPr>
              <a:t>Implementation issues	- foreseen implementation problems</a:t>
            </a:r>
          </a:p>
          <a:p>
            <a:pPr marL="742950" lvl="1" indent="-285750" defTabSz="914400">
              <a:lnSpc>
                <a:spcPct val="90000"/>
              </a:lnSpc>
              <a:spcAft>
                <a:spcPts val="0"/>
              </a:spcAft>
              <a:buClr>
                <a:schemeClr val="tx2"/>
              </a:buClr>
              <a:buSzTx/>
              <a:buFont typeface="Wingdings" pitchFamily="2" charset="2"/>
              <a:buChar char="§"/>
              <a:defRPr/>
            </a:pPr>
            <a:endParaRPr lang="en-US" sz="2000" dirty="0">
              <a:solidFill>
                <a:schemeClr val="tx1"/>
              </a:solidFill>
              <a:latin typeface="+mj-lt"/>
            </a:endParaRPr>
          </a:p>
          <a:p>
            <a:pPr marL="742950" lvl="1" indent="-285750" defTabSz="914400">
              <a:lnSpc>
                <a:spcPct val="90000"/>
              </a:lnSpc>
              <a:spcAft>
                <a:spcPts val="0"/>
              </a:spcAft>
              <a:buClr>
                <a:schemeClr val="tx2"/>
              </a:buClr>
              <a:buSzTx/>
              <a:buNone/>
              <a:defRPr/>
            </a:pPr>
            <a:endParaRPr lang="en-US" sz="2000" dirty="0">
              <a:latin typeface="+mj-lt"/>
            </a:endParaRPr>
          </a:p>
        </p:txBody>
      </p:sp>
      <p:sp>
        <p:nvSpPr>
          <p:cNvPr id="5" name="Slide Number Placeholder 3">
            <a:extLst>
              <a:ext uri="{FF2B5EF4-FFF2-40B4-BE49-F238E27FC236}">
                <a16:creationId xmlns:a16="http://schemas.microsoft.com/office/drawing/2014/main" id="{11EAFB8A-1AEA-40B5-A14A-190A9EB4C6FE}"/>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11</a:t>
            </a:fld>
            <a:r>
              <a:rPr lang="en-US" sz="1400" b="1" dirty="0"/>
              <a:t> </a:t>
            </a:r>
          </a:p>
        </p:txBody>
      </p:sp>
      <p:sp>
        <p:nvSpPr>
          <p:cNvPr id="7" name="Content Placeholder 2">
            <a:extLst>
              <a:ext uri="{FF2B5EF4-FFF2-40B4-BE49-F238E27FC236}">
                <a16:creationId xmlns:a16="http://schemas.microsoft.com/office/drawing/2014/main" id="{626FFB59-C743-4792-AC58-F4CA6580670A}"/>
              </a:ext>
            </a:extLst>
          </p:cNvPr>
          <p:cNvSpPr>
            <a:spLocks noGrp="1"/>
          </p:cNvSpPr>
          <p:nvPr/>
        </p:nvSpPr>
        <p:spPr>
          <a:xfrm>
            <a:off x="-137653" y="346762"/>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3" name="Rectangle 2" descr="M. Mhahudul Hasan">
            <a:extLst>
              <a:ext uri="{FF2B5EF4-FFF2-40B4-BE49-F238E27FC236}">
                <a16:creationId xmlns:a16="http://schemas.microsoft.com/office/drawing/2014/main" id="{2F422778-FE59-4072-9EBD-8F4419A44187}"/>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9" name="Rectangle 8" descr="M. Mhahudul Hasan">
            <a:extLst>
              <a:ext uri="{FF2B5EF4-FFF2-40B4-BE49-F238E27FC236}">
                <a16:creationId xmlns:a16="http://schemas.microsoft.com/office/drawing/2014/main" id="{C0F454B2-17D6-41A5-8E4B-B520B5BFB47C}"/>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Use Case Diagram</a:t>
            </a:r>
          </a:p>
        </p:txBody>
      </p:sp>
      <p:sp>
        <p:nvSpPr>
          <p:cNvPr id="11" name="Rectangle 10" descr="M. Mhahudul Hasan">
            <a:extLst>
              <a:ext uri="{FF2B5EF4-FFF2-40B4-BE49-F238E27FC236}">
                <a16:creationId xmlns:a16="http://schemas.microsoft.com/office/drawing/2014/main" id="{7C9A1C11-7E03-4D44-98A8-9A94CA6A2CB1}"/>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4003408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16193" y="634182"/>
            <a:ext cx="11029950" cy="471948"/>
          </a:xfrm>
        </p:spPr>
        <p:txBody>
          <a:bodyPr>
            <a:normAutofit fontScale="90000"/>
          </a:bodyPr>
          <a:lstStyle/>
          <a:p>
            <a:pPr algn="ctr"/>
            <a:r>
              <a:rPr lang="en-US" altLang="en-US" b="1" dirty="0">
                <a:solidFill>
                  <a:srgbClr val="0070C0"/>
                </a:solidFill>
                <a:latin typeface="Book Antiqua" pitchFamily="18" charset="0"/>
              </a:rPr>
              <a:t> Use cases  example –  atm  money   withdraw</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78414" y="1463624"/>
            <a:ext cx="10920412" cy="4863434"/>
          </a:xfrm>
        </p:spPr>
        <p:txBody>
          <a:bodyPr>
            <a:noAutofit/>
          </a:bodyPr>
          <a:lstStyle/>
          <a:p>
            <a:pPr marL="342900" indent="-342900" defTabSz="914400">
              <a:spcAft>
                <a:spcPts val="0"/>
              </a:spcAft>
              <a:buClrTx/>
              <a:buSzTx/>
              <a:buFont typeface="Wingdings" pitchFamily="2" charset="2"/>
              <a:buChar char="q"/>
              <a:defRPr/>
            </a:pPr>
            <a:r>
              <a:rPr lang="en-US" sz="2000" b="1" dirty="0">
                <a:solidFill>
                  <a:schemeClr val="tx1"/>
                </a:solidFill>
                <a:latin typeface="+mj-lt"/>
              </a:rPr>
              <a:t>Use case Title: </a:t>
            </a:r>
            <a:r>
              <a:rPr lang="en-US" sz="2000" dirty="0">
                <a:solidFill>
                  <a:schemeClr val="tx1"/>
                </a:solidFill>
                <a:latin typeface="+mj-lt"/>
              </a:rPr>
              <a:t>UC-1</a:t>
            </a:r>
          </a:p>
          <a:p>
            <a:pPr marL="342900" lvl="0" indent="-342900" defTabSz="914400">
              <a:spcAft>
                <a:spcPts val="0"/>
              </a:spcAft>
              <a:buClrTx/>
              <a:buSzTx/>
              <a:buFont typeface="Wingdings" pitchFamily="2" charset="2"/>
              <a:buChar char="q"/>
              <a:defRPr/>
            </a:pPr>
            <a:r>
              <a:rPr lang="en-US" sz="2000" b="1" dirty="0">
                <a:solidFill>
                  <a:schemeClr val="tx1"/>
                </a:solidFill>
                <a:latin typeface="+mj-lt"/>
              </a:rPr>
              <a:t>Use Case: </a:t>
            </a:r>
            <a:r>
              <a:rPr lang="en-US" sz="2000" dirty="0">
                <a:solidFill>
                  <a:schemeClr val="tx1"/>
                </a:solidFill>
                <a:latin typeface="+mj-lt"/>
              </a:rPr>
              <a:t>Withdraw Money</a:t>
            </a:r>
          </a:p>
          <a:p>
            <a:pPr marL="342900" lvl="0" indent="-342900" defTabSz="914400">
              <a:spcAft>
                <a:spcPts val="0"/>
              </a:spcAft>
              <a:buClrTx/>
              <a:buSzTx/>
              <a:buFont typeface="Wingdings" pitchFamily="2" charset="2"/>
              <a:buChar char="q"/>
              <a:defRPr/>
            </a:pPr>
            <a:r>
              <a:rPr lang="en-US" sz="2000" b="1" dirty="0">
                <a:solidFill>
                  <a:schemeClr val="tx1"/>
                </a:solidFill>
                <a:latin typeface="+mj-lt"/>
              </a:rPr>
              <a:t>Author:</a:t>
            </a:r>
            <a:r>
              <a:rPr lang="en-US" sz="2000" dirty="0">
                <a:solidFill>
                  <a:schemeClr val="tx1"/>
                </a:solidFill>
                <a:latin typeface="+mj-lt"/>
              </a:rPr>
              <a:t> Jack </a:t>
            </a:r>
            <a:r>
              <a:rPr lang="en-US" sz="2000" dirty="0" err="1">
                <a:solidFill>
                  <a:schemeClr val="tx1"/>
                </a:solidFill>
                <a:latin typeface="+mj-lt"/>
              </a:rPr>
              <a:t>Lonagon</a:t>
            </a:r>
            <a:endParaRPr lang="en-US" sz="2000" dirty="0">
              <a:solidFill>
                <a:schemeClr val="tx1"/>
              </a:solidFill>
              <a:latin typeface="+mj-lt"/>
            </a:endParaRPr>
          </a:p>
          <a:p>
            <a:pPr marL="342900" lvl="0" indent="-342900" defTabSz="914400">
              <a:spcAft>
                <a:spcPts val="0"/>
              </a:spcAft>
              <a:buClrTx/>
              <a:buSzTx/>
              <a:buFont typeface="Wingdings" pitchFamily="2" charset="2"/>
              <a:buChar char="q"/>
              <a:defRPr/>
            </a:pPr>
            <a:r>
              <a:rPr lang="en-US" sz="2000" b="1" dirty="0">
                <a:solidFill>
                  <a:schemeClr val="tx1"/>
                </a:solidFill>
                <a:latin typeface="+mj-lt"/>
              </a:rPr>
              <a:t>Created Date: </a:t>
            </a:r>
            <a:r>
              <a:rPr lang="en-US" sz="2000" dirty="0">
                <a:solidFill>
                  <a:schemeClr val="tx1"/>
                </a:solidFill>
                <a:latin typeface="+mj-lt"/>
              </a:rPr>
              <a:t>1-OCT-2015</a:t>
            </a:r>
          </a:p>
          <a:p>
            <a:pPr marL="342900" indent="-342900" defTabSz="914400">
              <a:spcAft>
                <a:spcPts val="0"/>
              </a:spcAft>
              <a:buClrTx/>
              <a:buSzTx/>
              <a:buFont typeface="Wingdings" pitchFamily="2" charset="2"/>
              <a:buChar char="q"/>
              <a:defRPr/>
            </a:pPr>
            <a:r>
              <a:rPr lang="en-US" sz="2000" b="1" dirty="0">
                <a:solidFill>
                  <a:schemeClr val="tx1"/>
                </a:solidFill>
                <a:latin typeface="+mj-lt"/>
              </a:rPr>
              <a:t>Modification Date: </a:t>
            </a:r>
            <a:r>
              <a:rPr lang="en-US" sz="2000" dirty="0">
                <a:solidFill>
                  <a:schemeClr val="tx1"/>
                </a:solidFill>
                <a:latin typeface="+mj-lt"/>
              </a:rPr>
              <a:t>20-Apr-2017</a:t>
            </a:r>
          </a:p>
          <a:p>
            <a:pPr marL="342900" lvl="0" indent="-342900" defTabSz="914400">
              <a:spcAft>
                <a:spcPts val="0"/>
              </a:spcAft>
              <a:buClrTx/>
              <a:buSzTx/>
              <a:buFont typeface="Wingdings" pitchFamily="2" charset="2"/>
              <a:buChar char="q"/>
              <a:defRPr/>
            </a:pPr>
            <a:r>
              <a:rPr lang="en-US" sz="2000" b="1" dirty="0">
                <a:solidFill>
                  <a:schemeClr val="tx1"/>
                </a:solidFill>
                <a:latin typeface="+mj-lt"/>
              </a:rPr>
              <a:t>Purpose: </a:t>
            </a:r>
            <a:r>
              <a:rPr lang="en-US" sz="2000" dirty="0">
                <a:solidFill>
                  <a:schemeClr val="tx1"/>
                </a:solidFill>
                <a:latin typeface="+mj-lt"/>
              </a:rPr>
              <a:t>To withdraw some cash from user’s bank account</a:t>
            </a:r>
          </a:p>
          <a:p>
            <a:pPr marL="342900" lvl="0" indent="-342900" defTabSz="914400">
              <a:spcAft>
                <a:spcPts val="0"/>
              </a:spcAft>
              <a:buClrTx/>
              <a:buSzTx/>
              <a:buFont typeface="Wingdings" pitchFamily="2" charset="2"/>
              <a:buChar char="q"/>
              <a:defRPr/>
            </a:pPr>
            <a:r>
              <a:rPr lang="en-US" sz="2000" b="1" dirty="0">
                <a:solidFill>
                  <a:schemeClr val="tx1"/>
                </a:solidFill>
                <a:latin typeface="+mj-lt"/>
              </a:rPr>
              <a:t>Overview: </a:t>
            </a:r>
            <a:r>
              <a:rPr lang="en-US" sz="2000" dirty="0">
                <a:solidFill>
                  <a:schemeClr val="tx1"/>
                </a:solidFill>
                <a:latin typeface="+mj-lt"/>
              </a:rPr>
              <a:t>The use case starts when the customer inserts his credit card into the system.</a:t>
            </a:r>
            <a:br>
              <a:rPr lang="en-US" sz="2000" dirty="0">
                <a:solidFill>
                  <a:schemeClr val="tx1"/>
                </a:solidFill>
                <a:latin typeface="+mj-lt"/>
              </a:rPr>
            </a:br>
            <a:r>
              <a:rPr lang="en-US" sz="2000" dirty="0">
                <a:solidFill>
                  <a:schemeClr val="tx1"/>
                </a:solidFill>
                <a:latin typeface="+mj-lt"/>
              </a:rPr>
              <a:t> The system requests the user PIN. The system validates the PIN. If the validation succeeded,</a:t>
            </a:r>
            <a:br>
              <a:rPr lang="en-US" sz="2000" dirty="0">
                <a:solidFill>
                  <a:schemeClr val="tx1"/>
                </a:solidFill>
                <a:latin typeface="+mj-lt"/>
              </a:rPr>
            </a:br>
            <a:r>
              <a:rPr lang="en-US" sz="2000" dirty="0">
                <a:solidFill>
                  <a:schemeClr val="tx1"/>
                </a:solidFill>
                <a:latin typeface="+mj-lt"/>
              </a:rPr>
              <a:t> the customer can choose the withdraw operation else alternative </a:t>
            </a:r>
            <a:r>
              <a:rPr lang="en-US" sz="2000" dirty="0">
                <a:solidFill>
                  <a:srgbClr val="C00000"/>
                </a:solidFill>
                <a:latin typeface="+mj-lt"/>
              </a:rPr>
              <a:t>1 – validation failure is executed</a:t>
            </a:r>
            <a:r>
              <a:rPr lang="en-US" sz="2000" dirty="0">
                <a:solidFill>
                  <a:schemeClr val="tx1"/>
                </a:solidFill>
                <a:latin typeface="+mj-lt"/>
              </a:rPr>
              <a:t>. </a:t>
            </a:r>
            <a:br>
              <a:rPr lang="en-US" sz="2000" dirty="0">
                <a:solidFill>
                  <a:schemeClr val="tx1"/>
                </a:solidFill>
                <a:latin typeface="+mj-lt"/>
              </a:rPr>
            </a:br>
            <a:r>
              <a:rPr lang="en-US" sz="2000" dirty="0">
                <a:solidFill>
                  <a:schemeClr val="tx1"/>
                </a:solidFill>
                <a:latin typeface="+mj-lt"/>
              </a:rPr>
              <a:t>The customer enters the amount of cash to withdraw. The system checks the amount of cash</a:t>
            </a:r>
            <a:br>
              <a:rPr lang="en-US" sz="2000" dirty="0">
                <a:solidFill>
                  <a:schemeClr val="tx1"/>
                </a:solidFill>
                <a:latin typeface="+mj-lt"/>
              </a:rPr>
            </a:br>
            <a:r>
              <a:rPr lang="en-US" sz="2000" dirty="0">
                <a:solidFill>
                  <a:schemeClr val="tx1"/>
                </a:solidFill>
                <a:latin typeface="+mj-lt"/>
              </a:rPr>
              <a:t>in the user account, its credit limit. If the withdraw amount in the range between the current</a:t>
            </a:r>
            <a:br>
              <a:rPr lang="en-US" sz="2000" dirty="0">
                <a:solidFill>
                  <a:schemeClr val="tx1"/>
                </a:solidFill>
                <a:latin typeface="+mj-lt"/>
              </a:rPr>
            </a:br>
            <a:r>
              <a:rPr lang="en-US" sz="2000" dirty="0">
                <a:solidFill>
                  <a:schemeClr val="tx1"/>
                </a:solidFill>
                <a:latin typeface="+mj-lt"/>
              </a:rPr>
              <a:t>amount + credit limit, the system dispense the cash and prints a withdraw receipt, </a:t>
            </a:r>
            <a:br>
              <a:rPr lang="en-US" sz="2000" dirty="0">
                <a:solidFill>
                  <a:schemeClr val="tx1"/>
                </a:solidFill>
                <a:latin typeface="+mj-lt"/>
              </a:rPr>
            </a:br>
            <a:r>
              <a:rPr lang="en-US" sz="2000" dirty="0">
                <a:solidFill>
                  <a:srgbClr val="C00000"/>
                </a:solidFill>
                <a:latin typeface="+mj-lt"/>
              </a:rPr>
              <a:t>else alternative 2 – amount exceeded is executed</a:t>
            </a:r>
            <a:r>
              <a:rPr lang="en-US" sz="2000" dirty="0">
                <a:solidFill>
                  <a:schemeClr val="tx1"/>
                </a:solidFill>
                <a:latin typeface="+mj-lt"/>
              </a:rPr>
              <a:t>.</a:t>
            </a:r>
          </a:p>
          <a:p>
            <a:pPr marL="342900" lvl="0" indent="-342900" defTabSz="914400">
              <a:spcAft>
                <a:spcPts val="0"/>
              </a:spcAft>
              <a:buClrTx/>
              <a:buSzTx/>
              <a:buFont typeface="Wingdings" pitchFamily="2" charset="2"/>
              <a:buChar char="q"/>
              <a:defRPr/>
            </a:pPr>
            <a:r>
              <a:rPr lang="en-US" sz="2000" b="1" dirty="0">
                <a:solidFill>
                  <a:schemeClr val="tx1"/>
                </a:solidFill>
                <a:latin typeface="+mj-lt"/>
              </a:rPr>
              <a:t>Cross References: </a:t>
            </a:r>
            <a:r>
              <a:rPr lang="en-US" sz="2000" dirty="0">
                <a:solidFill>
                  <a:schemeClr val="tx1"/>
                </a:solidFill>
                <a:latin typeface="+mj-lt"/>
              </a:rPr>
              <a:t>UC-3</a:t>
            </a:r>
            <a:endParaRPr lang="en-US" sz="2000" dirty="0">
              <a:latin typeface="+mj-lt"/>
            </a:endParaRPr>
          </a:p>
        </p:txBody>
      </p:sp>
      <p:sp>
        <p:nvSpPr>
          <p:cNvPr id="5" name="Slide Number Placeholder 3">
            <a:extLst>
              <a:ext uri="{FF2B5EF4-FFF2-40B4-BE49-F238E27FC236}">
                <a16:creationId xmlns:a16="http://schemas.microsoft.com/office/drawing/2014/main" id="{EAE2D1A0-CE28-459B-8C21-71CC56CEF1F2}"/>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12</a:t>
            </a:fld>
            <a:r>
              <a:rPr lang="en-US" sz="1400" b="1" dirty="0"/>
              <a:t> </a:t>
            </a:r>
          </a:p>
        </p:txBody>
      </p:sp>
      <p:sp>
        <p:nvSpPr>
          <p:cNvPr id="7" name="Content Placeholder 2">
            <a:extLst>
              <a:ext uri="{FF2B5EF4-FFF2-40B4-BE49-F238E27FC236}">
                <a16:creationId xmlns:a16="http://schemas.microsoft.com/office/drawing/2014/main" id="{E3E109EE-77C0-4AC0-BB07-5D07C5086C3E}"/>
              </a:ext>
            </a:extLst>
          </p:cNvPr>
          <p:cNvSpPr>
            <a:spLocks noGrp="1"/>
          </p:cNvSpPr>
          <p:nvPr/>
        </p:nvSpPr>
        <p:spPr>
          <a:xfrm>
            <a:off x="-137653" y="376259"/>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3" name="Rectangle 2" descr="M. Mhahudul Hasan">
            <a:extLst>
              <a:ext uri="{FF2B5EF4-FFF2-40B4-BE49-F238E27FC236}">
                <a16:creationId xmlns:a16="http://schemas.microsoft.com/office/drawing/2014/main" id="{F70E40E8-7988-4473-AE58-7AB2DA4AAE32}"/>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9" name="Rectangle 8" descr="M. Mhahudul Hasan">
            <a:extLst>
              <a:ext uri="{FF2B5EF4-FFF2-40B4-BE49-F238E27FC236}">
                <a16:creationId xmlns:a16="http://schemas.microsoft.com/office/drawing/2014/main" id="{1C8A9A93-5568-477A-8E57-61231E913D3A}"/>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Use Case Diagram</a:t>
            </a:r>
          </a:p>
        </p:txBody>
      </p:sp>
      <p:sp>
        <p:nvSpPr>
          <p:cNvPr id="11" name="Rectangle 10" descr="M. Mhahudul Hasan">
            <a:extLst>
              <a:ext uri="{FF2B5EF4-FFF2-40B4-BE49-F238E27FC236}">
                <a16:creationId xmlns:a16="http://schemas.microsoft.com/office/drawing/2014/main" id="{46E451D6-D87C-4417-B09C-BB89E660144E}"/>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1545746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27703" y="613185"/>
            <a:ext cx="11029950" cy="507693"/>
          </a:xfrm>
        </p:spPr>
        <p:txBody>
          <a:bodyPr>
            <a:normAutofit fontScale="90000"/>
          </a:bodyPr>
          <a:lstStyle/>
          <a:p>
            <a:pPr algn="ctr"/>
            <a:r>
              <a:rPr lang="en-US" altLang="en-US" b="1" dirty="0">
                <a:solidFill>
                  <a:srgbClr val="0070C0"/>
                </a:solidFill>
                <a:latin typeface="Book Antiqua" pitchFamily="18" charset="0"/>
              </a:rPr>
              <a:t>Use cases  example –  </a:t>
            </a:r>
            <a:r>
              <a:rPr lang="en-US" altLang="en-US" b="1" dirty="0" err="1">
                <a:solidFill>
                  <a:srgbClr val="0070C0"/>
                </a:solidFill>
                <a:latin typeface="Book Antiqua" pitchFamily="18" charset="0"/>
              </a:rPr>
              <a:t>atm</a:t>
            </a:r>
            <a:r>
              <a:rPr lang="en-US" altLang="en-US" b="1" dirty="0">
                <a:solidFill>
                  <a:srgbClr val="0070C0"/>
                </a:solidFill>
                <a:latin typeface="Book Antiqua" pitchFamily="18" charset="0"/>
              </a:rPr>
              <a:t>  money   withdraw</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63665" y="1463625"/>
            <a:ext cx="10920412" cy="4114800"/>
          </a:xfrm>
        </p:spPr>
        <p:txBody>
          <a:bodyPr>
            <a:noAutofit/>
          </a:bodyPr>
          <a:lstStyle/>
          <a:p>
            <a:pPr marL="342900" lvl="0" indent="-342900" defTabSz="914400">
              <a:lnSpc>
                <a:spcPct val="90000"/>
              </a:lnSpc>
              <a:spcAft>
                <a:spcPts val="0"/>
              </a:spcAft>
              <a:buClrTx/>
              <a:buSzTx/>
              <a:buFont typeface="Wingdings" pitchFamily="2" charset="2"/>
              <a:buChar char="q"/>
              <a:defRPr/>
            </a:pPr>
            <a:r>
              <a:rPr lang="en-US" sz="2000" b="1" dirty="0">
                <a:solidFill>
                  <a:schemeClr val="tx1"/>
                </a:solidFill>
                <a:latin typeface="+mj-lt"/>
              </a:rPr>
              <a:t>Actors:</a:t>
            </a:r>
            <a:r>
              <a:rPr lang="en-US" sz="2000" dirty="0">
                <a:solidFill>
                  <a:schemeClr val="tx1"/>
                </a:solidFill>
                <a:latin typeface="+mj-lt"/>
              </a:rPr>
              <a:t> Customer</a:t>
            </a:r>
            <a:br>
              <a:rPr lang="en-US" sz="2000" dirty="0">
                <a:solidFill>
                  <a:schemeClr val="tx1"/>
                </a:solidFill>
                <a:latin typeface="+mj-lt"/>
              </a:rPr>
            </a:br>
            <a:endParaRPr lang="en-US" sz="2000" dirty="0">
              <a:solidFill>
                <a:schemeClr val="tx1"/>
              </a:solidFill>
              <a:latin typeface="+mj-lt"/>
            </a:endParaRPr>
          </a:p>
          <a:p>
            <a:pPr marL="342900" lvl="0" indent="-342900" defTabSz="914400">
              <a:lnSpc>
                <a:spcPct val="90000"/>
              </a:lnSpc>
              <a:spcAft>
                <a:spcPts val="0"/>
              </a:spcAft>
              <a:buClrTx/>
              <a:buSzTx/>
              <a:buFont typeface="Wingdings" pitchFamily="2" charset="2"/>
              <a:buChar char="q"/>
              <a:defRPr/>
            </a:pPr>
            <a:r>
              <a:rPr lang="en-US" sz="2000" b="1" dirty="0">
                <a:solidFill>
                  <a:schemeClr val="tx1"/>
                </a:solidFill>
                <a:latin typeface="+mj-lt"/>
              </a:rPr>
              <a:t>Pre-Condition:</a:t>
            </a:r>
          </a:p>
          <a:p>
            <a:pPr marL="742950" lvl="1" indent="-285750" defTabSz="914400">
              <a:lnSpc>
                <a:spcPct val="90000"/>
              </a:lnSpc>
              <a:spcAft>
                <a:spcPts val="0"/>
              </a:spcAft>
              <a:buClrTx/>
              <a:buSzTx/>
              <a:buFont typeface="Arial" pitchFamily="34" charset="0"/>
              <a:buChar char="–"/>
              <a:defRPr/>
            </a:pPr>
            <a:r>
              <a:rPr lang="en-US" sz="2000" dirty="0">
                <a:solidFill>
                  <a:schemeClr val="tx1"/>
                </a:solidFill>
                <a:latin typeface="+mj-lt"/>
              </a:rPr>
              <a:t>The ATM must be in a state ready to accept transactions</a:t>
            </a:r>
          </a:p>
          <a:p>
            <a:pPr marL="742950" lvl="1" indent="-285750" defTabSz="914400">
              <a:lnSpc>
                <a:spcPct val="90000"/>
              </a:lnSpc>
              <a:spcAft>
                <a:spcPts val="0"/>
              </a:spcAft>
              <a:buClrTx/>
              <a:buSzTx/>
              <a:buFont typeface="Arial" pitchFamily="34" charset="0"/>
              <a:buChar char="–"/>
              <a:defRPr/>
            </a:pPr>
            <a:r>
              <a:rPr lang="en-US" sz="2000" dirty="0">
                <a:solidFill>
                  <a:schemeClr val="tx1"/>
                </a:solidFill>
                <a:latin typeface="+mj-lt"/>
              </a:rPr>
              <a:t>The ATM must have at least some cash on hand that it can dispense</a:t>
            </a:r>
          </a:p>
          <a:p>
            <a:pPr marL="742950" lvl="1" indent="-285750" defTabSz="914400">
              <a:lnSpc>
                <a:spcPct val="90000"/>
              </a:lnSpc>
              <a:spcAft>
                <a:spcPts val="0"/>
              </a:spcAft>
              <a:buClrTx/>
              <a:buSzTx/>
              <a:buFont typeface="Arial" pitchFamily="34" charset="0"/>
              <a:buChar char="–"/>
              <a:defRPr/>
            </a:pPr>
            <a:r>
              <a:rPr lang="en-US" sz="2000" dirty="0">
                <a:solidFill>
                  <a:schemeClr val="tx1"/>
                </a:solidFill>
                <a:latin typeface="+mj-lt"/>
              </a:rPr>
              <a:t>The ATM must have enough paper to print a receipt for at least one transaction</a:t>
            </a:r>
            <a:br>
              <a:rPr lang="en-US" sz="2000" dirty="0">
                <a:solidFill>
                  <a:schemeClr val="tx1"/>
                </a:solidFill>
                <a:latin typeface="+mj-lt"/>
              </a:rPr>
            </a:br>
            <a:endParaRPr lang="en-US" sz="2000" dirty="0">
              <a:solidFill>
                <a:schemeClr val="tx1"/>
              </a:solidFill>
              <a:latin typeface="+mj-lt"/>
            </a:endParaRPr>
          </a:p>
          <a:p>
            <a:pPr marL="342900" lvl="0" indent="-342900" defTabSz="914400">
              <a:lnSpc>
                <a:spcPct val="90000"/>
              </a:lnSpc>
              <a:spcAft>
                <a:spcPts val="0"/>
              </a:spcAft>
              <a:buClrTx/>
              <a:buSzTx/>
              <a:buFont typeface="Wingdings" pitchFamily="2" charset="2"/>
              <a:buChar char="q"/>
              <a:defRPr/>
            </a:pPr>
            <a:r>
              <a:rPr lang="en-US" sz="2000" b="1" dirty="0">
                <a:solidFill>
                  <a:schemeClr val="tx1"/>
                </a:solidFill>
                <a:latin typeface="+mj-lt"/>
              </a:rPr>
              <a:t>Post Condition:</a:t>
            </a:r>
          </a:p>
          <a:p>
            <a:pPr marL="742950" lvl="1" indent="-285750" defTabSz="914400">
              <a:lnSpc>
                <a:spcPct val="90000"/>
              </a:lnSpc>
              <a:spcAft>
                <a:spcPts val="0"/>
              </a:spcAft>
              <a:buClrTx/>
              <a:buSzTx/>
              <a:buFont typeface="Arial" pitchFamily="34" charset="0"/>
              <a:buChar char="–"/>
              <a:defRPr/>
            </a:pPr>
            <a:r>
              <a:rPr lang="en-US" sz="2000" dirty="0">
                <a:solidFill>
                  <a:schemeClr val="tx1"/>
                </a:solidFill>
                <a:latin typeface="+mj-lt"/>
              </a:rPr>
              <a:t>The current amount of cash in the user account is the amount before the withdraw minus the withdraw amount</a:t>
            </a:r>
          </a:p>
          <a:p>
            <a:pPr marL="742950" lvl="1" indent="-285750" defTabSz="914400">
              <a:lnSpc>
                <a:spcPct val="90000"/>
              </a:lnSpc>
              <a:spcAft>
                <a:spcPts val="0"/>
              </a:spcAft>
              <a:buClrTx/>
              <a:buSzTx/>
              <a:buFont typeface="Arial" pitchFamily="34" charset="0"/>
              <a:buChar char="–"/>
              <a:defRPr/>
            </a:pPr>
            <a:r>
              <a:rPr lang="en-US" sz="2000" dirty="0">
                <a:solidFill>
                  <a:schemeClr val="tx1"/>
                </a:solidFill>
                <a:latin typeface="+mj-lt"/>
              </a:rPr>
              <a:t>A receipt was printed on the withdraw amount</a:t>
            </a:r>
          </a:p>
          <a:p>
            <a:pPr marL="742950" lvl="1" indent="-285750" defTabSz="914400">
              <a:lnSpc>
                <a:spcPct val="90000"/>
              </a:lnSpc>
              <a:spcAft>
                <a:spcPts val="0"/>
              </a:spcAft>
              <a:buClrTx/>
              <a:buSzTx/>
              <a:buFont typeface="Arial" pitchFamily="34" charset="0"/>
              <a:buChar char="–"/>
              <a:defRPr/>
            </a:pPr>
            <a:r>
              <a:rPr lang="en-US" sz="2000" dirty="0">
                <a:solidFill>
                  <a:schemeClr val="tx1"/>
                </a:solidFill>
                <a:latin typeface="+mj-lt"/>
              </a:rPr>
              <a:t>The withdraw transaction was audit in the System log file</a:t>
            </a:r>
          </a:p>
        </p:txBody>
      </p:sp>
      <p:sp>
        <p:nvSpPr>
          <p:cNvPr id="5" name="Slide Number Placeholder 3">
            <a:extLst>
              <a:ext uri="{FF2B5EF4-FFF2-40B4-BE49-F238E27FC236}">
                <a16:creationId xmlns:a16="http://schemas.microsoft.com/office/drawing/2014/main" id="{5E90CDEA-99D1-4F07-9266-ACDB79BB370C}"/>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13</a:t>
            </a:fld>
            <a:r>
              <a:rPr lang="en-US" sz="1400" b="1" dirty="0"/>
              <a:t> </a:t>
            </a:r>
          </a:p>
        </p:txBody>
      </p:sp>
      <p:sp>
        <p:nvSpPr>
          <p:cNvPr id="7" name="Content Placeholder 2">
            <a:extLst>
              <a:ext uri="{FF2B5EF4-FFF2-40B4-BE49-F238E27FC236}">
                <a16:creationId xmlns:a16="http://schemas.microsoft.com/office/drawing/2014/main" id="{A2E17333-5B6F-4634-B70D-4393047AB208}"/>
              </a:ext>
            </a:extLst>
          </p:cNvPr>
          <p:cNvSpPr>
            <a:spLocks noGrp="1"/>
          </p:cNvSpPr>
          <p:nvPr/>
        </p:nvSpPr>
        <p:spPr>
          <a:xfrm>
            <a:off x="-137653" y="376259"/>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3" name="Rectangle 2" descr="M. Mhahudul Hasan">
            <a:extLst>
              <a:ext uri="{FF2B5EF4-FFF2-40B4-BE49-F238E27FC236}">
                <a16:creationId xmlns:a16="http://schemas.microsoft.com/office/drawing/2014/main" id="{B405D476-85D0-45D8-8C27-E11175E81296}"/>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9" name="Rectangle 8" descr="M. Mhahudul Hasan">
            <a:extLst>
              <a:ext uri="{FF2B5EF4-FFF2-40B4-BE49-F238E27FC236}">
                <a16:creationId xmlns:a16="http://schemas.microsoft.com/office/drawing/2014/main" id="{A454C812-F5B4-4761-9778-C941B9FF9DE4}"/>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Use Case Diagram</a:t>
            </a:r>
          </a:p>
        </p:txBody>
      </p:sp>
      <p:sp>
        <p:nvSpPr>
          <p:cNvPr id="11" name="Rectangle 10" descr="M. Mhahudul Hasan">
            <a:extLst>
              <a:ext uri="{FF2B5EF4-FFF2-40B4-BE49-F238E27FC236}">
                <a16:creationId xmlns:a16="http://schemas.microsoft.com/office/drawing/2014/main" id="{9B3D68A6-1431-4AEC-B29B-B665A06A326C}"/>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3017070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98207" y="627933"/>
            <a:ext cx="11029950" cy="507693"/>
          </a:xfrm>
        </p:spPr>
        <p:txBody>
          <a:bodyPr>
            <a:normAutofit fontScale="90000"/>
          </a:bodyPr>
          <a:lstStyle/>
          <a:p>
            <a:pPr algn="ctr"/>
            <a:r>
              <a:rPr lang="en-US" altLang="en-US" b="1" dirty="0">
                <a:solidFill>
                  <a:srgbClr val="0070C0"/>
                </a:solidFill>
                <a:latin typeface="Book Antiqua" pitchFamily="18" charset="0"/>
              </a:rPr>
              <a:t>Use cases  example –  </a:t>
            </a:r>
            <a:r>
              <a:rPr lang="en-US" altLang="en-US" b="1" dirty="0" err="1">
                <a:solidFill>
                  <a:srgbClr val="0070C0"/>
                </a:solidFill>
                <a:latin typeface="Book Antiqua" pitchFamily="18" charset="0"/>
              </a:rPr>
              <a:t>atm</a:t>
            </a:r>
            <a:r>
              <a:rPr lang="en-US" altLang="en-US" b="1" dirty="0">
                <a:solidFill>
                  <a:srgbClr val="0070C0"/>
                </a:solidFill>
                <a:latin typeface="Book Antiqua" pitchFamily="18" charset="0"/>
              </a:rPr>
              <a:t>  money   withdraw</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784891" y="1474327"/>
            <a:ext cx="10920412" cy="509588"/>
          </a:xfrm>
        </p:spPr>
        <p:txBody>
          <a:bodyPr>
            <a:noAutofit/>
          </a:bodyPr>
          <a:lstStyle/>
          <a:p>
            <a:pPr marL="342900" indent="-342900" defTabSz="914400">
              <a:lnSpc>
                <a:spcPct val="90000"/>
              </a:lnSpc>
              <a:spcAft>
                <a:spcPts val="0"/>
              </a:spcAft>
              <a:buClrTx/>
              <a:buSzTx/>
              <a:buFont typeface="Wingdings" pitchFamily="2" charset="2"/>
              <a:buChar char="q"/>
              <a:defRPr/>
            </a:pPr>
            <a:r>
              <a:rPr lang="en-US" sz="2000" b="1" dirty="0">
                <a:latin typeface="Bell MT" pitchFamily="18" charset="0"/>
              </a:rPr>
              <a:t>Typical Course of events:</a:t>
            </a:r>
            <a:br>
              <a:rPr lang="en-US" sz="2000" dirty="0">
                <a:solidFill>
                  <a:schemeClr val="tx1"/>
                </a:solidFill>
                <a:latin typeface="+mj-lt"/>
              </a:rPr>
            </a:br>
            <a:endParaRPr lang="en-US" sz="2000" dirty="0">
              <a:solidFill>
                <a:schemeClr val="tx1"/>
              </a:solidFill>
              <a:latin typeface="+mj-lt"/>
            </a:endParaRPr>
          </a:p>
        </p:txBody>
      </p:sp>
      <p:graphicFrame>
        <p:nvGraphicFramePr>
          <p:cNvPr id="5" name="Group 58"/>
          <p:cNvGraphicFramePr>
            <a:graphicFrameLocks/>
          </p:cNvGraphicFramePr>
          <p:nvPr>
            <p:extLst>
              <p:ext uri="{D42A27DB-BD31-4B8C-83A1-F6EECF244321}">
                <p14:modId xmlns:p14="http://schemas.microsoft.com/office/powerpoint/2010/main" val="708250738"/>
              </p:ext>
            </p:extLst>
          </p:nvPr>
        </p:nvGraphicFramePr>
        <p:xfrm>
          <a:off x="903023" y="1990330"/>
          <a:ext cx="10763794" cy="4087122"/>
        </p:xfrm>
        <a:graphic>
          <a:graphicData uri="http://schemas.openxmlformats.org/drawingml/2006/table">
            <a:tbl>
              <a:tblPr/>
              <a:tblGrid>
                <a:gridCol w="4976948">
                  <a:extLst>
                    <a:ext uri="{9D8B030D-6E8A-4147-A177-3AD203B41FA5}">
                      <a16:colId xmlns:a16="http://schemas.microsoft.com/office/drawing/2014/main" val="20000"/>
                    </a:ext>
                  </a:extLst>
                </a:gridCol>
                <a:gridCol w="5786846">
                  <a:extLst>
                    <a:ext uri="{9D8B030D-6E8A-4147-A177-3AD203B41FA5}">
                      <a16:colId xmlns:a16="http://schemas.microsoft.com/office/drawing/2014/main" val="20001"/>
                    </a:ext>
                  </a:extLst>
                </a:gridCol>
              </a:tblGrid>
              <a:tr h="396213">
                <a:tc>
                  <a:txBody>
                    <a:bodyPr/>
                    <a:lstStyle/>
                    <a:p>
                      <a:pPr marL="0" marR="0" lvl="0" indent="0" algn="ctr"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r>
                        <a:rPr kumimoji="0" lang="en-US" sz="1800" b="0" i="0" u="none" strike="noStrike" cap="none" normalizeH="0" baseline="0" dirty="0">
                          <a:ln>
                            <a:noFill/>
                          </a:ln>
                          <a:solidFill>
                            <a:schemeClr val="tx1"/>
                          </a:solidFill>
                          <a:effectLst>
                            <a:outerShdw blurRad="38100" dist="38100" dir="2700000" algn="tl">
                              <a:srgbClr val="C0C0C0"/>
                            </a:outerShdw>
                          </a:effectLst>
                          <a:latin typeface="+mj-lt"/>
                        </a:rPr>
                        <a:t>Actor Actions</a:t>
                      </a: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r>
                        <a:rPr kumimoji="0" lang="en-US" sz="1800" b="0" i="0" u="none" strike="noStrike" cap="none" normalizeH="0" baseline="0">
                          <a:ln>
                            <a:noFill/>
                          </a:ln>
                          <a:solidFill>
                            <a:schemeClr val="tx1"/>
                          </a:solidFill>
                          <a:effectLst>
                            <a:outerShdw blurRad="38100" dist="38100" dir="2700000" algn="tl">
                              <a:srgbClr val="C0C0C0"/>
                            </a:outerShdw>
                          </a:effectLst>
                          <a:latin typeface="+mj-lt"/>
                        </a:rPr>
                        <a:t>System Actions</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1082">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r>
                        <a:rPr kumimoji="0" lang="en-US" sz="1800" b="0" i="0" u="none" strike="noStrike" cap="none" normalizeH="0" baseline="0" dirty="0">
                          <a:ln>
                            <a:noFill/>
                          </a:ln>
                          <a:solidFill>
                            <a:schemeClr val="tx1"/>
                          </a:solidFill>
                          <a:effectLst>
                            <a:outerShdw blurRad="38100" dist="38100" dir="2700000" algn="tl">
                              <a:srgbClr val="C0C0C0"/>
                            </a:outerShdw>
                          </a:effectLst>
                          <a:latin typeface="+mj-lt"/>
                        </a:rPr>
                        <a:t>1. Begins when a Customer arrives at ATM</a:t>
                      </a: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endParaRPr kumimoji="0" lang="en-US" sz="1800" b="0" i="0" u="none" strike="noStrike" cap="none" normalizeH="0" baseline="0" dirty="0">
                        <a:ln>
                          <a:noFill/>
                        </a:ln>
                        <a:solidFill>
                          <a:schemeClr val="tx1"/>
                        </a:solidFill>
                        <a:effectLst>
                          <a:outerShdw blurRad="38100" dist="38100" dir="2700000" algn="tl">
                            <a:srgbClr val="C0C0C0"/>
                          </a:outerShdw>
                        </a:effectLst>
                        <a:latin typeface="+mj-lt"/>
                      </a:endParaRP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2669">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r>
                        <a:rPr kumimoji="0" lang="en-US" sz="1800" b="0" i="0" u="none" strike="noStrike" cap="none" normalizeH="0" baseline="0" dirty="0">
                          <a:ln>
                            <a:noFill/>
                          </a:ln>
                          <a:solidFill>
                            <a:schemeClr val="tx1"/>
                          </a:solidFill>
                          <a:effectLst>
                            <a:outerShdw blurRad="38100" dist="38100" dir="2700000" algn="tl">
                              <a:srgbClr val="C0C0C0"/>
                            </a:outerShdw>
                          </a:effectLst>
                          <a:latin typeface="+mj-lt"/>
                        </a:rPr>
                        <a:t>2. Customer inserts a Credit card into ATM &amp; PIN</a:t>
                      </a: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r>
                        <a:rPr kumimoji="0" lang="en-US" sz="1800" b="0" i="0" u="none" strike="noStrike" cap="none" normalizeH="0" baseline="0" dirty="0">
                          <a:ln>
                            <a:noFill/>
                          </a:ln>
                          <a:solidFill>
                            <a:schemeClr val="tx1"/>
                          </a:solidFill>
                          <a:effectLst>
                            <a:outerShdw blurRad="38100" dist="38100" dir="2700000" algn="tl">
                              <a:srgbClr val="C0C0C0"/>
                            </a:outerShdw>
                          </a:effectLst>
                          <a:latin typeface="+mj-lt"/>
                        </a:rPr>
                        <a:t>3. System verifies the customer ID and PIN</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9181">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r>
                        <a:rPr kumimoji="0" lang="en-US" sz="1800" b="0" i="0" u="none" strike="noStrike" cap="none" normalizeH="0" baseline="0" dirty="0">
                          <a:ln>
                            <a:noFill/>
                          </a:ln>
                          <a:solidFill>
                            <a:schemeClr val="tx1"/>
                          </a:solidFill>
                          <a:effectLst>
                            <a:outerShdw blurRad="38100" dist="38100" dir="2700000" algn="tl">
                              <a:srgbClr val="C0C0C0"/>
                            </a:outerShdw>
                          </a:effectLst>
                          <a:latin typeface="+mj-lt"/>
                        </a:rPr>
                        <a:t>5. Customer chooses  “Withdraw” operation</a:t>
                      </a: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r>
                        <a:rPr kumimoji="0" lang="en-US" sz="1800" b="0" i="0" u="none" strike="noStrike" cap="none" normalizeH="0" baseline="0" dirty="0">
                          <a:ln>
                            <a:noFill/>
                          </a:ln>
                          <a:solidFill>
                            <a:schemeClr val="tx1"/>
                          </a:solidFill>
                          <a:effectLst>
                            <a:outerShdw blurRad="38100" dist="38100" dir="2700000" algn="tl">
                              <a:srgbClr val="C0C0C0"/>
                            </a:outerShdw>
                          </a:effectLst>
                          <a:latin typeface="+mj-lt"/>
                        </a:rPr>
                        <a:t>4. System asks for an operation type</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7596">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r>
                        <a:rPr kumimoji="0" lang="en-US" sz="1800" b="0" i="0" u="none" strike="noStrike" cap="none" normalizeH="0" baseline="0" dirty="0">
                          <a:ln>
                            <a:noFill/>
                          </a:ln>
                          <a:solidFill>
                            <a:schemeClr val="tx1"/>
                          </a:solidFill>
                          <a:effectLst>
                            <a:outerShdw blurRad="38100" dist="38100" dir="2700000" algn="tl">
                              <a:srgbClr val="C0C0C0"/>
                            </a:outerShdw>
                          </a:effectLst>
                          <a:latin typeface="+mj-lt"/>
                        </a:rPr>
                        <a:t>7. Customer enters the cash amount</a:t>
                      </a: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r>
                        <a:rPr kumimoji="0" lang="en-US" sz="1800" b="0" i="0" u="none" strike="noStrike" cap="none" normalizeH="0" baseline="0" dirty="0">
                          <a:ln>
                            <a:noFill/>
                          </a:ln>
                          <a:solidFill>
                            <a:schemeClr val="tx1"/>
                          </a:solidFill>
                          <a:effectLst>
                            <a:outerShdw blurRad="38100" dist="38100" dir="2700000" algn="tl">
                              <a:srgbClr val="C0C0C0"/>
                            </a:outerShdw>
                          </a:effectLst>
                          <a:latin typeface="+mj-lt"/>
                        </a:rPr>
                        <a:t>6. System asks for the withdraw amount</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8386">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endParaRPr kumimoji="0" lang="en-US" sz="1800" b="0" i="0" u="none" strike="noStrike" cap="none" normalizeH="0" baseline="0" dirty="0">
                        <a:ln>
                          <a:noFill/>
                        </a:ln>
                        <a:solidFill>
                          <a:schemeClr val="tx1"/>
                        </a:solidFill>
                        <a:effectLst>
                          <a:outerShdw blurRad="38100" dist="38100" dir="2700000" algn="tl">
                            <a:srgbClr val="C0C0C0"/>
                          </a:outerShdw>
                        </a:effectLst>
                        <a:latin typeface="+mj-lt"/>
                      </a:endParaRP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r>
                        <a:rPr kumimoji="0" lang="en-US" sz="1800" b="0" i="0" u="none" strike="noStrike" cap="none" normalizeH="0" baseline="0" dirty="0">
                          <a:ln>
                            <a:noFill/>
                          </a:ln>
                          <a:solidFill>
                            <a:schemeClr val="tx1"/>
                          </a:solidFill>
                          <a:effectLst>
                            <a:outerShdw blurRad="38100" dist="38100" dir="2700000" algn="tl">
                              <a:srgbClr val="C0C0C0"/>
                            </a:outerShdw>
                          </a:effectLst>
                          <a:latin typeface="+mj-lt"/>
                        </a:rPr>
                        <a:t>8. System checks if withdraw amount is legal (50k per day)</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46008">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endParaRPr kumimoji="0" lang="en-US" sz="1800" b="0" i="0" u="none" strike="noStrike" cap="none" normalizeH="0" baseline="0">
                        <a:ln>
                          <a:noFill/>
                        </a:ln>
                        <a:solidFill>
                          <a:schemeClr val="tx1"/>
                        </a:solidFill>
                        <a:effectLst>
                          <a:outerShdw blurRad="38100" dist="38100" dir="2700000" algn="tl">
                            <a:srgbClr val="C0C0C0"/>
                          </a:outerShdw>
                        </a:effectLst>
                        <a:latin typeface="+mj-lt"/>
                      </a:endParaRP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r>
                        <a:rPr kumimoji="0" lang="en-US" sz="1800" b="0" i="0" u="none" strike="noStrike" cap="none" normalizeH="0" baseline="0" dirty="0">
                          <a:ln>
                            <a:noFill/>
                          </a:ln>
                          <a:solidFill>
                            <a:schemeClr val="tx1"/>
                          </a:solidFill>
                          <a:effectLst>
                            <a:outerShdw blurRad="38100" dist="38100" dir="2700000" algn="tl">
                              <a:srgbClr val="C0C0C0"/>
                            </a:outerShdw>
                          </a:effectLst>
                          <a:latin typeface="+mj-lt"/>
                        </a:rPr>
                        <a:t>9. System dispenses the cash</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79087">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endParaRPr kumimoji="0" lang="en-US" sz="1800" b="0" i="0" u="none" strike="noStrike" cap="none" normalizeH="0" baseline="0">
                        <a:ln>
                          <a:noFill/>
                        </a:ln>
                        <a:solidFill>
                          <a:schemeClr val="tx1"/>
                        </a:solidFill>
                        <a:effectLst>
                          <a:outerShdw blurRad="38100" dist="38100" dir="2700000" algn="tl">
                            <a:srgbClr val="C0C0C0"/>
                          </a:outerShdw>
                        </a:effectLst>
                        <a:latin typeface="+mj-lt"/>
                      </a:endParaRP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r>
                        <a:rPr kumimoji="0" lang="en-US" sz="1800" b="0" i="0" u="none" strike="noStrike" cap="none" normalizeH="0" baseline="0" dirty="0">
                          <a:ln>
                            <a:noFill/>
                          </a:ln>
                          <a:solidFill>
                            <a:schemeClr val="tx1"/>
                          </a:solidFill>
                          <a:effectLst>
                            <a:outerShdw blurRad="38100" dist="38100" dir="2700000" algn="tl">
                              <a:srgbClr val="C0C0C0"/>
                            </a:outerShdw>
                          </a:effectLst>
                          <a:latin typeface="+mj-lt"/>
                        </a:rPr>
                        <a:t>10. System deduces the withdraw amount from account </a:t>
                      </a:r>
                      <a:br>
                        <a:rPr kumimoji="0" lang="en-US" sz="1800" b="0" i="0" u="none" strike="noStrike" cap="none" normalizeH="0" baseline="0" dirty="0">
                          <a:ln>
                            <a:noFill/>
                          </a:ln>
                          <a:solidFill>
                            <a:schemeClr val="tx1"/>
                          </a:solidFill>
                          <a:effectLst>
                            <a:outerShdw blurRad="38100" dist="38100" dir="2700000" algn="tl">
                              <a:srgbClr val="C0C0C0"/>
                            </a:outerShdw>
                          </a:effectLst>
                          <a:latin typeface="+mj-lt"/>
                        </a:rPr>
                      </a:br>
                      <a:r>
                        <a:rPr kumimoji="0" lang="en-US" sz="1800" b="0" i="0" u="none" strike="noStrike" cap="none" normalizeH="0" baseline="0" dirty="0">
                          <a:ln>
                            <a:noFill/>
                          </a:ln>
                          <a:solidFill>
                            <a:schemeClr val="tx1"/>
                          </a:solidFill>
                          <a:effectLst>
                            <a:outerShdw blurRad="38100" dist="38100" dir="2700000" algn="tl">
                              <a:srgbClr val="C0C0C0"/>
                            </a:outerShdw>
                          </a:effectLst>
                          <a:latin typeface="+mj-lt"/>
                        </a:rPr>
                        <a:t>      balance and set new balance</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47596">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endParaRPr kumimoji="0" lang="en-US" sz="1800" b="0" i="0" u="none" strike="noStrike" cap="none" normalizeH="0" baseline="0">
                        <a:ln>
                          <a:noFill/>
                        </a:ln>
                        <a:solidFill>
                          <a:schemeClr val="tx1"/>
                        </a:solidFill>
                        <a:effectLst>
                          <a:outerShdw blurRad="38100" dist="38100" dir="2700000" algn="tl">
                            <a:srgbClr val="C0C0C0"/>
                          </a:outerShdw>
                        </a:effectLst>
                        <a:latin typeface="+mj-lt"/>
                      </a:endParaRP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r>
                        <a:rPr kumimoji="0" lang="en-US" sz="1800" b="0" i="0" u="none" strike="noStrike" cap="none" normalizeH="0" baseline="0" dirty="0">
                          <a:ln>
                            <a:noFill/>
                          </a:ln>
                          <a:solidFill>
                            <a:schemeClr val="tx1"/>
                          </a:solidFill>
                          <a:effectLst>
                            <a:outerShdw blurRad="38100" dist="38100" dir="2700000" algn="tl">
                              <a:srgbClr val="C0C0C0"/>
                            </a:outerShdw>
                          </a:effectLst>
                          <a:latin typeface="+mj-lt"/>
                        </a:rPr>
                        <a:t>11. System prints a receipt</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47596">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r>
                        <a:rPr kumimoji="0" lang="en-US" sz="1800" b="0" i="0" u="none" strike="noStrike" cap="none" normalizeH="0" baseline="0" dirty="0">
                          <a:ln>
                            <a:noFill/>
                          </a:ln>
                          <a:solidFill>
                            <a:schemeClr val="tx1"/>
                          </a:solidFill>
                          <a:effectLst>
                            <a:outerShdw blurRad="38100" dist="38100" dir="2700000" algn="tl">
                              <a:srgbClr val="C0C0C0"/>
                            </a:outerShdw>
                          </a:effectLst>
                          <a:latin typeface="+mj-lt"/>
                        </a:rPr>
                        <a:t>13. Customer takes the cash and the receipt</a:t>
                      </a: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75000"/>
                        <a:buFont typeface="Monotype Sorts" pitchFamily="2" charset="2"/>
                        <a:buNone/>
                        <a:tabLst/>
                      </a:pPr>
                      <a:r>
                        <a:rPr kumimoji="0" lang="en-US" sz="1800" b="0" i="0" u="none" strike="noStrike" cap="none" normalizeH="0" baseline="0" dirty="0">
                          <a:ln>
                            <a:noFill/>
                          </a:ln>
                          <a:solidFill>
                            <a:schemeClr val="tx1"/>
                          </a:solidFill>
                          <a:effectLst>
                            <a:outerShdw blurRad="38100" dist="38100" dir="2700000" algn="tl">
                              <a:srgbClr val="C0C0C0"/>
                            </a:outerShdw>
                          </a:effectLst>
                          <a:latin typeface="+mj-lt"/>
                        </a:rPr>
                        <a:t>12. System ejects the cash card</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7" name="Slide Number Placeholder 3">
            <a:extLst>
              <a:ext uri="{FF2B5EF4-FFF2-40B4-BE49-F238E27FC236}">
                <a16:creationId xmlns:a16="http://schemas.microsoft.com/office/drawing/2014/main" id="{F2C64CDD-C2AC-43E8-B790-DE0060260981}"/>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14</a:t>
            </a:fld>
            <a:r>
              <a:rPr lang="en-US" sz="1400" b="1" dirty="0"/>
              <a:t> </a:t>
            </a:r>
          </a:p>
        </p:txBody>
      </p:sp>
      <p:sp>
        <p:nvSpPr>
          <p:cNvPr id="8" name="Content Placeholder 2">
            <a:extLst>
              <a:ext uri="{FF2B5EF4-FFF2-40B4-BE49-F238E27FC236}">
                <a16:creationId xmlns:a16="http://schemas.microsoft.com/office/drawing/2014/main" id="{D6B3AB9A-43C9-44D0-8046-FDB689E26A21}"/>
              </a:ext>
            </a:extLst>
          </p:cNvPr>
          <p:cNvSpPr>
            <a:spLocks noGrp="1"/>
          </p:cNvSpPr>
          <p:nvPr/>
        </p:nvSpPr>
        <p:spPr>
          <a:xfrm>
            <a:off x="-137653" y="376259"/>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3" name="Rectangle 2" descr="M. Mhahudul Hasan">
            <a:extLst>
              <a:ext uri="{FF2B5EF4-FFF2-40B4-BE49-F238E27FC236}">
                <a16:creationId xmlns:a16="http://schemas.microsoft.com/office/drawing/2014/main" id="{A1301CA7-2394-41D5-8135-8ADEC92F9DF5}"/>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6" name="Rectangle 5" descr="M. Mhahudul Hasan">
            <a:extLst>
              <a:ext uri="{FF2B5EF4-FFF2-40B4-BE49-F238E27FC236}">
                <a16:creationId xmlns:a16="http://schemas.microsoft.com/office/drawing/2014/main" id="{12BF6B06-6843-4C94-8A90-856A7C3B9918}"/>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Use Case Diagram</a:t>
            </a:r>
          </a:p>
        </p:txBody>
      </p:sp>
      <p:sp>
        <p:nvSpPr>
          <p:cNvPr id="12" name="Rectangle 11" descr="M. Mhahudul Hasan">
            <a:extLst>
              <a:ext uri="{FF2B5EF4-FFF2-40B4-BE49-F238E27FC236}">
                <a16:creationId xmlns:a16="http://schemas.microsoft.com/office/drawing/2014/main" id="{D245FC0D-45A2-4E4A-B7DF-9A3DDE4A223B}"/>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43638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86696" y="672179"/>
            <a:ext cx="11029950" cy="522441"/>
          </a:xfrm>
        </p:spPr>
        <p:txBody>
          <a:bodyPr/>
          <a:lstStyle/>
          <a:p>
            <a:pPr algn="ctr"/>
            <a:r>
              <a:rPr lang="en-US" altLang="en-US" b="1" dirty="0">
                <a:solidFill>
                  <a:srgbClr val="0070C0"/>
                </a:solidFill>
                <a:latin typeface="Book Antiqua" pitchFamily="18" charset="0"/>
              </a:rPr>
              <a:t>Use cases  example –  atm  money   withdraw</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445678" y="1507869"/>
            <a:ext cx="10920412" cy="4701202"/>
          </a:xfrm>
        </p:spPr>
        <p:txBody>
          <a:bodyPr>
            <a:noAutofit/>
          </a:bodyPr>
          <a:lstStyle/>
          <a:p>
            <a:pPr marL="342900" lvl="0" indent="-342900" defTabSz="914400">
              <a:lnSpc>
                <a:spcPct val="90000"/>
              </a:lnSpc>
              <a:spcAft>
                <a:spcPts val="0"/>
              </a:spcAft>
              <a:buClrTx/>
              <a:buSzTx/>
              <a:buFont typeface="Wingdings" pitchFamily="2" charset="2"/>
              <a:buChar char="q"/>
              <a:defRPr/>
            </a:pPr>
            <a:r>
              <a:rPr lang="en-US" sz="2200" b="1" dirty="0">
                <a:solidFill>
                  <a:schemeClr val="tx1"/>
                </a:solidFill>
                <a:latin typeface="+mj-lt"/>
              </a:rPr>
              <a:t>Alternative flow of events:</a:t>
            </a:r>
          </a:p>
          <a:p>
            <a:pPr marL="742950" lvl="1" indent="-285750" defTabSz="914400">
              <a:lnSpc>
                <a:spcPct val="90000"/>
              </a:lnSpc>
              <a:spcAft>
                <a:spcPts val="0"/>
              </a:spcAft>
              <a:buClrTx/>
              <a:buSzTx/>
              <a:buFont typeface="Arial" pitchFamily="34" charset="0"/>
              <a:buChar char="–"/>
              <a:defRPr/>
            </a:pPr>
            <a:r>
              <a:rPr lang="en-US" sz="2200" dirty="0">
                <a:solidFill>
                  <a:srgbClr val="C00000"/>
                </a:solidFill>
                <a:latin typeface="+mj-lt"/>
              </a:rPr>
              <a:t>Step 3: </a:t>
            </a:r>
            <a:r>
              <a:rPr lang="en-US" sz="2200" dirty="0">
                <a:solidFill>
                  <a:schemeClr val="tx1"/>
                </a:solidFill>
                <a:latin typeface="+mj-lt"/>
              </a:rPr>
              <a:t>Customer authorization failed. Display an error message, cancel the transaction and eject the card. Some other thing may happen for example go to </a:t>
            </a:r>
            <a:r>
              <a:rPr lang="en-US" sz="2200" dirty="0">
                <a:solidFill>
                  <a:srgbClr val="7030A0"/>
                </a:solidFill>
                <a:latin typeface="+mj-lt"/>
              </a:rPr>
              <a:t>step 2 </a:t>
            </a:r>
            <a:r>
              <a:rPr lang="en-US" sz="2200" dirty="0">
                <a:solidFill>
                  <a:schemeClr val="tx1"/>
                </a:solidFill>
                <a:latin typeface="+mj-lt"/>
              </a:rPr>
              <a:t>try login again for maximum 3 times and after that the failed login attempt will seize and inform related authority of any suspicious activity in the ATM machine.</a:t>
            </a:r>
          </a:p>
          <a:p>
            <a:pPr marL="742950" lvl="1" indent="-285750" defTabSz="914400">
              <a:lnSpc>
                <a:spcPct val="90000"/>
              </a:lnSpc>
              <a:spcAft>
                <a:spcPts val="0"/>
              </a:spcAft>
              <a:buClrTx/>
              <a:buSzTx/>
              <a:buFont typeface="Arial" pitchFamily="34" charset="0"/>
              <a:buChar char="–"/>
              <a:defRPr/>
            </a:pPr>
            <a:r>
              <a:rPr lang="en-US" sz="2200" dirty="0">
                <a:solidFill>
                  <a:srgbClr val="C00000"/>
                </a:solidFill>
                <a:latin typeface="+mj-lt"/>
              </a:rPr>
              <a:t>Step 8: </a:t>
            </a:r>
            <a:r>
              <a:rPr lang="en-US" sz="2200" dirty="0">
                <a:solidFill>
                  <a:schemeClr val="tx1"/>
                </a:solidFill>
                <a:latin typeface="+mj-lt"/>
              </a:rPr>
              <a:t>Customer has insufficient funds in its account. Display an error message and go to </a:t>
            </a:r>
            <a:r>
              <a:rPr lang="en-US" sz="2200" dirty="0">
                <a:solidFill>
                  <a:srgbClr val="7030A0"/>
                </a:solidFill>
                <a:latin typeface="+mj-lt"/>
              </a:rPr>
              <a:t>step 6</a:t>
            </a:r>
            <a:r>
              <a:rPr lang="en-US" sz="2200" dirty="0">
                <a:solidFill>
                  <a:schemeClr val="tx1"/>
                </a:solidFill>
                <a:latin typeface="+mj-lt"/>
              </a:rPr>
              <a:t>.</a:t>
            </a:r>
          </a:p>
          <a:p>
            <a:pPr marL="742950" lvl="1" indent="-285750" defTabSz="914400">
              <a:lnSpc>
                <a:spcPct val="90000"/>
              </a:lnSpc>
              <a:spcAft>
                <a:spcPts val="0"/>
              </a:spcAft>
              <a:buClrTx/>
              <a:buSzTx/>
              <a:buFont typeface="Arial" pitchFamily="34" charset="0"/>
              <a:buChar char="–"/>
              <a:defRPr/>
            </a:pPr>
            <a:r>
              <a:rPr lang="en-US" sz="2200" dirty="0">
                <a:solidFill>
                  <a:srgbClr val="C00000"/>
                </a:solidFill>
                <a:latin typeface="+mj-lt"/>
              </a:rPr>
              <a:t>Step 8: </a:t>
            </a:r>
            <a:r>
              <a:rPr lang="en-US" sz="2200" dirty="0">
                <a:solidFill>
                  <a:schemeClr val="tx1"/>
                </a:solidFill>
                <a:latin typeface="+mj-lt"/>
              </a:rPr>
              <a:t>Customer exceeds its legal amount. Display an error message and go to </a:t>
            </a:r>
            <a:r>
              <a:rPr lang="en-US" sz="2200" dirty="0">
                <a:solidFill>
                  <a:srgbClr val="7030A0"/>
                </a:solidFill>
                <a:latin typeface="+mj-lt"/>
              </a:rPr>
              <a:t>step 4</a:t>
            </a:r>
            <a:r>
              <a:rPr lang="en-US" sz="2200" dirty="0">
                <a:solidFill>
                  <a:schemeClr val="tx1"/>
                </a:solidFill>
                <a:latin typeface="+mj-lt"/>
              </a:rPr>
              <a:t>.</a:t>
            </a:r>
          </a:p>
          <a:p>
            <a:pPr marL="742950" lvl="1" indent="-285750" defTabSz="914400">
              <a:lnSpc>
                <a:spcPct val="90000"/>
              </a:lnSpc>
              <a:spcAft>
                <a:spcPts val="0"/>
              </a:spcAft>
              <a:buClrTx/>
              <a:buSzTx/>
              <a:defRPr/>
            </a:pPr>
            <a:endParaRPr lang="en-US" sz="2200" dirty="0">
              <a:solidFill>
                <a:schemeClr val="tx1"/>
              </a:solidFill>
              <a:latin typeface="+mj-lt"/>
            </a:endParaRPr>
          </a:p>
          <a:p>
            <a:pPr marL="342900" lvl="0" indent="-342900" defTabSz="914400">
              <a:lnSpc>
                <a:spcPct val="90000"/>
              </a:lnSpc>
              <a:spcAft>
                <a:spcPts val="0"/>
              </a:spcAft>
              <a:buClrTx/>
              <a:buSzTx/>
              <a:buFont typeface="Wingdings" pitchFamily="2" charset="2"/>
              <a:buChar char="q"/>
              <a:defRPr/>
            </a:pPr>
            <a:r>
              <a:rPr lang="en-US" sz="2200" b="1" dirty="0">
                <a:solidFill>
                  <a:schemeClr val="tx1"/>
                </a:solidFill>
                <a:latin typeface="+mj-lt"/>
              </a:rPr>
              <a:t>Exceptional flow of events:</a:t>
            </a:r>
          </a:p>
          <a:p>
            <a:pPr marL="742950" lvl="1" indent="-285750" defTabSz="914400">
              <a:lnSpc>
                <a:spcPct val="90000"/>
              </a:lnSpc>
              <a:spcAft>
                <a:spcPts val="0"/>
              </a:spcAft>
              <a:buClrTx/>
              <a:buSzTx/>
              <a:buFont typeface="Arial" pitchFamily="34" charset="0"/>
              <a:buChar char="–"/>
              <a:defRPr/>
            </a:pPr>
            <a:r>
              <a:rPr lang="en-US" sz="2200" dirty="0">
                <a:solidFill>
                  <a:schemeClr val="tx1"/>
                </a:solidFill>
                <a:latin typeface="+mj-lt"/>
              </a:rPr>
              <a:t>Power failure in the process of the transaction </a:t>
            </a:r>
            <a:r>
              <a:rPr lang="en-US" sz="2200" dirty="0">
                <a:solidFill>
                  <a:srgbClr val="7030A0"/>
                </a:solidFill>
                <a:latin typeface="+mj-lt"/>
              </a:rPr>
              <a:t>before step 9</a:t>
            </a:r>
            <a:r>
              <a:rPr lang="en-US" sz="2200" dirty="0">
                <a:solidFill>
                  <a:schemeClr val="tx1"/>
                </a:solidFill>
                <a:latin typeface="+mj-lt"/>
              </a:rPr>
              <a:t>, cancel the transaction and eject the card</a:t>
            </a:r>
          </a:p>
          <a:p>
            <a:pPr marL="342900" lvl="0" indent="-342900" defTabSz="914400">
              <a:lnSpc>
                <a:spcPct val="90000"/>
              </a:lnSpc>
              <a:spcAft>
                <a:spcPts val="0"/>
              </a:spcAft>
              <a:buClrTx/>
              <a:buSzTx/>
              <a:buNone/>
              <a:defRPr/>
            </a:pPr>
            <a:endParaRPr lang="en-US" sz="2200" dirty="0">
              <a:solidFill>
                <a:schemeClr val="tx1"/>
              </a:solidFill>
              <a:latin typeface="+mj-lt"/>
            </a:endParaRPr>
          </a:p>
        </p:txBody>
      </p:sp>
      <p:sp>
        <p:nvSpPr>
          <p:cNvPr id="5" name="Slide Number Placeholder 3">
            <a:extLst>
              <a:ext uri="{FF2B5EF4-FFF2-40B4-BE49-F238E27FC236}">
                <a16:creationId xmlns:a16="http://schemas.microsoft.com/office/drawing/2014/main" id="{17096AD7-E141-4168-9306-0092D5BABDEA}"/>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a:t> S.</a:t>
            </a:r>
            <a:fld id="{D57F1E4F-1CFF-5643-939E-217C01CDF565}" type="slidenum">
              <a:rPr lang="en-US" sz="1400" b="1" smtClean="0"/>
              <a:pPr/>
              <a:t>15</a:t>
            </a:fld>
            <a:r>
              <a:rPr lang="en-US" sz="1400" b="1"/>
              <a:t> </a:t>
            </a:r>
            <a:endParaRPr lang="en-US" sz="1400" b="1" dirty="0"/>
          </a:p>
        </p:txBody>
      </p:sp>
      <p:sp>
        <p:nvSpPr>
          <p:cNvPr id="7" name="Content Placeholder 2">
            <a:extLst>
              <a:ext uri="{FF2B5EF4-FFF2-40B4-BE49-F238E27FC236}">
                <a16:creationId xmlns:a16="http://schemas.microsoft.com/office/drawing/2014/main" id="{92C3B8E8-7EBD-431B-AA3F-9A6EB9C8BB5D}"/>
              </a:ext>
            </a:extLst>
          </p:cNvPr>
          <p:cNvSpPr>
            <a:spLocks noGrp="1"/>
          </p:cNvSpPr>
          <p:nvPr/>
        </p:nvSpPr>
        <p:spPr>
          <a:xfrm>
            <a:off x="-137653" y="376259"/>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a:solidFill>
                  <a:schemeClr val="bg1">
                    <a:lumMod val="50000"/>
                  </a:schemeClr>
                </a:solidFill>
              </a:rPr>
              <a:t>  MMH</a:t>
            </a:r>
            <a:endParaRPr lang="en-US" sz="3800" dirty="0">
              <a:solidFill>
                <a:schemeClr val="bg1">
                  <a:lumMod val="50000"/>
                </a:schemeClr>
              </a:solidFill>
            </a:endParaRPr>
          </a:p>
        </p:txBody>
      </p:sp>
      <p:sp>
        <p:nvSpPr>
          <p:cNvPr id="3" name="Rectangle 2" descr="M. Mhahudul Hasan">
            <a:extLst>
              <a:ext uri="{FF2B5EF4-FFF2-40B4-BE49-F238E27FC236}">
                <a16:creationId xmlns:a16="http://schemas.microsoft.com/office/drawing/2014/main" id="{4BE68796-2ED8-4D5A-8FF5-F8DFBBF447E8}"/>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9" name="Rectangle 8" descr="M. Mhahudul Hasan">
            <a:extLst>
              <a:ext uri="{FF2B5EF4-FFF2-40B4-BE49-F238E27FC236}">
                <a16:creationId xmlns:a16="http://schemas.microsoft.com/office/drawing/2014/main" id="{D0E328B3-9439-47C8-A7CC-00A65E4690D1}"/>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Use Case Diagram</a:t>
            </a:r>
          </a:p>
        </p:txBody>
      </p:sp>
      <p:sp>
        <p:nvSpPr>
          <p:cNvPr id="11" name="Rectangle 10" descr="M. Mhahudul Hasan">
            <a:extLst>
              <a:ext uri="{FF2B5EF4-FFF2-40B4-BE49-F238E27FC236}">
                <a16:creationId xmlns:a16="http://schemas.microsoft.com/office/drawing/2014/main" id="{A3653883-661A-498F-AEE3-E169986B3642}"/>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174346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0722" y="568941"/>
            <a:ext cx="11029950" cy="566686"/>
          </a:xfrm>
        </p:spPr>
        <p:txBody>
          <a:bodyPr/>
          <a:lstStyle/>
          <a:p>
            <a:pPr algn="ctr"/>
            <a:r>
              <a:rPr lang="en-US" altLang="en-US" b="1" dirty="0">
                <a:solidFill>
                  <a:srgbClr val="0070C0"/>
                </a:solidFill>
                <a:latin typeface="Book Antiqua" pitchFamily="18" charset="0"/>
              </a:rPr>
              <a:t>Identify  Use cases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740646" y="1387885"/>
            <a:ext cx="10920412" cy="4611688"/>
          </a:xfrm>
        </p:spPr>
        <p:txBody>
          <a:bodyPr>
            <a:noAutofit/>
          </a:bodyPr>
          <a:lstStyle/>
          <a:p>
            <a:pPr marL="342900" lvl="0" indent="-342900" defTabSz="914400">
              <a:lnSpc>
                <a:spcPct val="80000"/>
              </a:lnSpc>
              <a:spcAft>
                <a:spcPts val="0"/>
              </a:spcAft>
              <a:buClr>
                <a:schemeClr val="tx2"/>
              </a:buClr>
              <a:buSzTx/>
              <a:buFont typeface="Wingdings" pitchFamily="2" charset="2"/>
              <a:buChar char="q"/>
              <a:defRPr/>
            </a:pPr>
            <a:r>
              <a:rPr lang="en-US" sz="2000" b="1" dirty="0">
                <a:solidFill>
                  <a:schemeClr val="tx1"/>
                </a:solidFill>
                <a:latin typeface="+mj-lt"/>
              </a:rPr>
              <a:t>One method to identify use cases is actor-based:</a:t>
            </a:r>
          </a:p>
          <a:p>
            <a:pPr marL="742950" lvl="1" indent="-285750" defTabSz="914400">
              <a:lnSpc>
                <a:spcPct val="80000"/>
              </a:lnSpc>
              <a:spcAft>
                <a:spcPts val="0"/>
              </a:spcAft>
              <a:buClr>
                <a:schemeClr val="tx2"/>
              </a:buClr>
              <a:buSzTx/>
              <a:buNone/>
              <a:defRPr/>
            </a:pPr>
            <a:r>
              <a:rPr lang="en-US" sz="2000" dirty="0">
                <a:solidFill>
                  <a:schemeClr val="tx1"/>
                </a:solidFill>
                <a:latin typeface="+mj-lt"/>
              </a:rPr>
              <a:t>-   Identify the actors related to a system or organization.</a:t>
            </a:r>
          </a:p>
          <a:p>
            <a:pPr marL="742950" lvl="1" indent="-285750" defTabSz="914400">
              <a:lnSpc>
                <a:spcPct val="80000"/>
              </a:lnSpc>
              <a:spcAft>
                <a:spcPts val="0"/>
              </a:spcAft>
              <a:buClr>
                <a:schemeClr val="tx2"/>
              </a:buClr>
              <a:buSzTx/>
              <a:buFontTx/>
              <a:buChar char="-"/>
              <a:defRPr/>
            </a:pPr>
            <a:r>
              <a:rPr lang="en-US" sz="2000" dirty="0">
                <a:solidFill>
                  <a:schemeClr val="tx1"/>
                </a:solidFill>
                <a:latin typeface="+mj-lt"/>
              </a:rPr>
              <a:t>For each actor, identify the processes they initiate or participate in.</a:t>
            </a:r>
          </a:p>
          <a:p>
            <a:pPr marL="742950" lvl="1" indent="-285750" defTabSz="914400">
              <a:lnSpc>
                <a:spcPct val="80000"/>
              </a:lnSpc>
              <a:spcAft>
                <a:spcPts val="0"/>
              </a:spcAft>
              <a:buClr>
                <a:schemeClr val="tx2"/>
              </a:buClr>
              <a:buSzTx/>
              <a:buFontTx/>
              <a:buChar char="-"/>
              <a:defRPr/>
            </a:pPr>
            <a:endParaRPr lang="en-US" sz="2000" dirty="0">
              <a:solidFill>
                <a:schemeClr val="tx1"/>
              </a:solidFill>
              <a:latin typeface="+mj-lt"/>
            </a:endParaRPr>
          </a:p>
          <a:p>
            <a:pPr marL="342900" lvl="0" indent="-342900" defTabSz="914400">
              <a:lnSpc>
                <a:spcPct val="80000"/>
              </a:lnSpc>
              <a:spcAft>
                <a:spcPts val="0"/>
              </a:spcAft>
              <a:buClr>
                <a:schemeClr val="tx2"/>
              </a:buClr>
              <a:buSzTx/>
              <a:buFont typeface="Wingdings" pitchFamily="2" charset="2"/>
              <a:buChar char="q"/>
              <a:defRPr/>
            </a:pPr>
            <a:r>
              <a:rPr lang="en-US" sz="2000" b="1" dirty="0">
                <a:solidFill>
                  <a:schemeClr val="tx1"/>
                </a:solidFill>
                <a:latin typeface="+mj-lt"/>
              </a:rPr>
              <a:t>A second method to identify use cases is event-based:</a:t>
            </a:r>
          </a:p>
          <a:p>
            <a:pPr marL="342900" lvl="0" indent="-342900" defTabSz="914400">
              <a:lnSpc>
                <a:spcPct val="80000"/>
              </a:lnSpc>
              <a:spcAft>
                <a:spcPts val="0"/>
              </a:spcAft>
              <a:buClr>
                <a:schemeClr val="tx2"/>
              </a:buClr>
              <a:buSzTx/>
              <a:buNone/>
              <a:defRPr/>
            </a:pPr>
            <a:r>
              <a:rPr lang="en-US" sz="2000" dirty="0">
                <a:solidFill>
                  <a:schemeClr val="tx1"/>
                </a:solidFill>
                <a:latin typeface="+mj-lt"/>
              </a:rPr>
              <a:t>       - Identify the external events that a system must respond to.</a:t>
            </a:r>
          </a:p>
          <a:p>
            <a:pPr marL="342900" lvl="0" indent="-342900" defTabSz="914400">
              <a:lnSpc>
                <a:spcPct val="80000"/>
              </a:lnSpc>
              <a:spcAft>
                <a:spcPts val="0"/>
              </a:spcAft>
              <a:buClr>
                <a:schemeClr val="tx2"/>
              </a:buClr>
              <a:buSzTx/>
              <a:buNone/>
              <a:defRPr/>
            </a:pPr>
            <a:r>
              <a:rPr lang="en-US" sz="2000" dirty="0">
                <a:solidFill>
                  <a:schemeClr val="tx1"/>
                </a:solidFill>
                <a:latin typeface="+mj-lt"/>
              </a:rPr>
              <a:t>       - Relate the events (cash withdraw) to actors (customer) and use cases (ATM system).</a:t>
            </a:r>
          </a:p>
          <a:p>
            <a:pPr marL="342900" lvl="0" indent="-342900" defTabSz="914400">
              <a:lnSpc>
                <a:spcPct val="80000"/>
              </a:lnSpc>
              <a:spcAft>
                <a:spcPts val="0"/>
              </a:spcAft>
              <a:buClr>
                <a:schemeClr val="tx2"/>
              </a:buClr>
              <a:buSzTx/>
              <a:buNone/>
              <a:defRPr/>
            </a:pPr>
            <a:endParaRPr lang="en-US" sz="2000" dirty="0">
              <a:solidFill>
                <a:schemeClr val="tx1"/>
              </a:solidFill>
              <a:latin typeface="+mj-lt"/>
            </a:endParaRPr>
          </a:p>
          <a:p>
            <a:pPr marL="342900" lvl="0" indent="-342900" defTabSz="914400">
              <a:lnSpc>
                <a:spcPct val="80000"/>
              </a:lnSpc>
              <a:spcAft>
                <a:spcPts val="0"/>
              </a:spcAft>
              <a:buClr>
                <a:schemeClr val="tx2"/>
              </a:buClr>
              <a:buSzTx/>
              <a:buFont typeface="Wingdings" pitchFamily="2" charset="2"/>
              <a:buChar char="q"/>
              <a:defRPr/>
            </a:pPr>
            <a:r>
              <a:rPr lang="en-US" sz="2000" b="1" dirty="0">
                <a:solidFill>
                  <a:schemeClr val="tx1"/>
                </a:solidFill>
                <a:latin typeface="+mj-lt"/>
              </a:rPr>
              <a:t>The following questions may be used to help identify the use cases for a system:</a:t>
            </a:r>
          </a:p>
          <a:p>
            <a:pPr marL="742950" lvl="1" indent="-285750" defTabSz="914400">
              <a:lnSpc>
                <a:spcPct val="80000"/>
              </a:lnSpc>
              <a:spcAft>
                <a:spcPts val="0"/>
              </a:spcAft>
              <a:buClrTx/>
              <a:buSzTx/>
              <a:buFontTx/>
              <a:buChar char="-"/>
              <a:defRPr/>
            </a:pPr>
            <a:r>
              <a:rPr lang="en-US" sz="2000" dirty="0">
                <a:solidFill>
                  <a:schemeClr val="tx1"/>
                </a:solidFill>
                <a:latin typeface="+mj-lt"/>
              </a:rPr>
              <a:t>What are the tasks of each actor ?</a:t>
            </a:r>
          </a:p>
          <a:p>
            <a:pPr marL="742950" lvl="1" indent="-285750" defTabSz="914400">
              <a:lnSpc>
                <a:spcPct val="80000"/>
              </a:lnSpc>
              <a:spcAft>
                <a:spcPts val="0"/>
              </a:spcAft>
              <a:buClrTx/>
              <a:buSzTx/>
              <a:buFontTx/>
              <a:buChar char="-"/>
              <a:defRPr/>
            </a:pPr>
            <a:r>
              <a:rPr lang="en-US" sz="2000" dirty="0">
                <a:solidFill>
                  <a:schemeClr val="tx1"/>
                </a:solidFill>
                <a:latin typeface="+mj-lt"/>
              </a:rPr>
              <a:t>Will any actor create, store, change, remove, or read information in the system ?</a:t>
            </a:r>
          </a:p>
          <a:p>
            <a:pPr marL="742950" lvl="1" indent="-285750" defTabSz="914400">
              <a:lnSpc>
                <a:spcPct val="80000"/>
              </a:lnSpc>
              <a:spcAft>
                <a:spcPts val="0"/>
              </a:spcAft>
              <a:buClrTx/>
              <a:buSzTx/>
              <a:buFontTx/>
              <a:buChar char="-"/>
              <a:defRPr/>
            </a:pPr>
            <a:r>
              <a:rPr lang="en-US" sz="2000" dirty="0">
                <a:solidFill>
                  <a:schemeClr val="tx1"/>
                </a:solidFill>
                <a:latin typeface="+mj-lt"/>
              </a:rPr>
              <a:t>What use cases will create, store, change, remove, or read this information ?</a:t>
            </a:r>
          </a:p>
          <a:p>
            <a:pPr marL="742950" lvl="1" indent="-285750" defTabSz="914400">
              <a:lnSpc>
                <a:spcPct val="80000"/>
              </a:lnSpc>
              <a:spcAft>
                <a:spcPts val="0"/>
              </a:spcAft>
              <a:buClrTx/>
              <a:buSzTx/>
              <a:buFontTx/>
              <a:buChar char="-"/>
              <a:defRPr/>
            </a:pPr>
            <a:r>
              <a:rPr lang="en-US" sz="2000" dirty="0">
                <a:solidFill>
                  <a:schemeClr val="tx1"/>
                </a:solidFill>
                <a:latin typeface="+mj-lt"/>
              </a:rPr>
              <a:t>Will any actor need to inform the system about sudden, external changes ? </a:t>
            </a:r>
          </a:p>
          <a:p>
            <a:pPr marL="742950" lvl="1" indent="-285750" defTabSz="914400">
              <a:lnSpc>
                <a:spcPct val="80000"/>
              </a:lnSpc>
              <a:spcAft>
                <a:spcPts val="0"/>
              </a:spcAft>
              <a:buClrTx/>
              <a:buSzTx/>
              <a:buFontTx/>
              <a:buChar char="-"/>
              <a:defRPr/>
            </a:pPr>
            <a:r>
              <a:rPr lang="en-US" sz="2000" dirty="0">
                <a:solidFill>
                  <a:schemeClr val="tx1"/>
                </a:solidFill>
                <a:latin typeface="+mj-lt"/>
              </a:rPr>
              <a:t>Does any actor need to be informed about certain occurrences in the system ?</a:t>
            </a:r>
          </a:p>
        </p:txBody>
      </p:sp>
      <p:sp>
        <p:nvSpPr>
          <p:cNvPr id="5" name="Slide Number Placeholder 3">
            <a:extLst>
              <a:ext uri="{FF2B5EF4-FFF2-40B4-BE49-F238E27FC236}">
                <a16:creationId xmlns:a16="http://schemas.microsoft.com/office/drawing/2014/main" id="{7BA0A2B6-5C78-4BB7-B624-35A996EF4253}"/>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16</a:t>
            </a:fld>
            <a:r>
              <a:rPr lang="en-US" sz="1400" b="1" dirty="0"/>
              <a:t> </a:t>
            </a:r>
          </a:p>
        </p:txBody>
      </p:sp>
      <p:sp>
        <p:nvSpPr>
          <p:cNvPr id="7" name="Content Placeholder 2">
            <a:extLst>
              <a:ext uri="{FF2B5EF4-FFF2-40B4-BE49-F238E27FC236}">
                <a16:creationId xmlns:a16="http://schemas.microsoft.com/office/drawing/2014/main" id="{FD9C2256-9C81-467E-A423-01DCF83B6027}"/>
              </a:ext>
            </a:extLst>
          </p:cNvPr>
          <p:cNvSpPr>
            <a:spLocks noGrp="1"/>
          </p:cNvSpPr>
          <p:nvPr/>
        </p:nvSpPr>
        <p:spPr>
          <a:xfrm>
            <a:off x="-137653" y="376259"/>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3" name="Rectangle 2" descr="M. Mhahudul Hasan">
            <a:extLst>
              <a:ext uri="{FF2B5EF4-FFF2-40B4-BE49-F238E27FC236}">
                <a16:creationId xmlns:a16="http://schemas.microsoft.com/office/drawing/2014/main" id="{8079F5AA-3A8E-4EFF-8720-D91A1E258868}"/>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9" name="Rectangle 8" descr="M. Mhahudul Hasan">
            <a:extLst>
              <a:ext uri="{FF2B5EF4-FFF2-40B4-BE49-F238E27FC236}">
                <a16:creationId xmlns:a16="http://schemas.microsoft.com/office/drawing/2014/main" id="{FFA6C7B6-CCBB-4CC7-A438-C55D5F8AB91E}"/>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Use Case Diagram</a:t>
            </a:r>
          </a:p>
        </p:txBody>
      </p:sp>
      <p:sp>
        <p:nvSpPr>
          <p:cNvPr id="11" name="Rectangle 10" descr="M. Mhahudul Hasan">
            <a:extLst>
              <a:ext uri="{FF2B5EF4-FFF2-40B4-BE49-F238E27FC236}">
                <a16:creationId xmlns:a16="http://schemas.microsoft.com/office/drawing/2014/main" id="{76FCF0BE-B873-4D02-8C7A-511B96D5C374}"/>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1045691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ADB8B8-E7C4-F22B-6E37-2E67283402A5}"/>
              </a:ext>
            </a:extLst>
          </p:cNvPr>
          <p:cNvSpPr>
            <a:spLocks noGrp="1"/>
          </p:cNvSpPr>
          <p:nvPr>
            <p:ph type="sldNum" sz="quarter" idx="12"/>
          </p:nvPr>
        </p:nvSpPr>
        <p:spPr/>
        <p:txBody>
          <a:bodyPr/>
          <a:lstStyle/>
          <a:p>
            <a:fld id="{D57F1E4F-1CFF-5643-939E-217C01CDF565}" type="slidenum">
              <a:rPr lang="en-US" smtClean="0"/>
              <a:pPr/>
              <a:t>17</a:t>
            </a:fld>
            <a:endParaRPr lang="en-US" dirty="0"/>
          </a:p>
        </p:txBody>
      </p:sp>
      <p:sp>
        <p:nvSpPr>
          <p:cNvPr id="5" name="TextBox 4">
            <a:extLst>
              <a:ext uri="{FF2B5EF4-FFF2-40B4-BE49-F238E27FC236}">
                <a16:creationId xmlns:a16="http://schemas.microsoft.com/office/drawing/2014/main" id="{814A9FF7-900C-23A4-77EE-79EE6C94994B}"/>
              </a:ext>
            </a:extLst>
          </p:cNvPr>
          <p:cNvSpPr txBox="1"/>
          <p:nvPr/>
        </p:nvSpPr>
        <p:spPr>
          <a:xfrm>
            <a:off x="1480457" y="1320801"/>
            <a:ext cx="9550400" cy="2308324"/>
          </a:xfrm>
          <a:prstGeom prst="rect">
            <a:avLst/>
          </a:prstGeom>
          <a:noFill/>
        </p:spPr>
        <p:txBody>
          <a:bodyPr wrap="square">
            <a:spAutoFit/>
          </a:bodyPr>
          <a:lstStyle/>
          <a:p>
            <a:r>
              <a:rPr lang="en-US" sz="2400" b="1" i="0" dirty="0">
                <a:solidFill>
                  <a:srgbClr val="121212"/>
                </a:solidFill>
                <a:effectLst/>
                <a:latin typeface="Anthropic Sans"/>
              </a:rPr>
              <a:t>Case Study 1:</a:t>
            </a:r>
            <a:br>
              <a:rPr lang="en-US" sz="2000" b="0" i="0" dirty="0">
                <a:solidFill>
                  <a:srgbClr val="121212"/>
                </a:solidFill>
                <a:effectLst/>
                <a:latin typeface="Anthropic Sans"/>
              </a:rPr>
            </a:br>
            <a:r>
              <a:rPr lang="en-US" sz="2000" b="0" i="0" dirty="0">
                <a:solidFill>
                  <a:srgbClr val="121212"/>
                </a:solidFill>
                <a:effectLst/>
                <a:latin typeface="Anthropic Sans"/>
              </a:rPr>
              <a:t>The use case starts when the customer inserts his credit card into the system. The system requests the user PIN. The system validates the PIN. If the validation succeeded, the customer chooses the withdraw operation. The customer enters the amount of cash to withdraw. The system checks the amount of cash in the user account, its credit limit. If the withdraw amount is in the range between the current amount and credit limit, the system dispenses the cash and prints a withdraw receipt and ejects the card.</a:t>
            </a:r>
            <a:endParaRPr lang="en-US" sz="2000" dirty="0"/>
          </a:p>
        </p:txBody>
      </p:sp>
    </p:spTree>
    <p:extLst>
      <p:ext uri="{BB962C8B-B14F-4D97-AF65-F5344CB8AC3E}">
        <p14:creationId xmlns:p14="http://schemas.microsoft.com/office/powerpoint/2010/main" val="16428854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1FAC309-A94C-A880-36E1-78B545D6B47C}"/>
              </a:ext>
            </a:extLst>
          </p:cNvPr>
          <p:cNvSpPr>
            <a:spLocks noGrp="1"/>
          </p:cNvSpPr>
          <p:nvPr>
            <p:ph type="sldNum" sz="quarter" idx="12"/>
          </p:nvPr>
        </p:nvSpPr>
        <p:spPr/>
        <p:txBody>
          <a:bodyPr/>
          <a:lstStyle/>
          <a:p>
            <a:fld id="{D57F1E4F-1CFF-5643-939E-217C01CDF565}" type="slidenum">
              <a:rPr lang="en-US" smtClean="0"/>
              <a:pPr/>
              <a:t>18</a:t>
            </a:fld>
            <a:endParaRPr lang="en-US" dirty="0"/>
          </a:p>
        </p:txBody>
      </p:sp>
      <p:pic>
        <p:nvPicPr>
          <p:cNvPr id="4" name="Picture 3">
            <a:extLst>
              <a:ext uri="{FF2B5EF4-FFF2-40B4-BE49-F238E27FC236}">
                <a16:creationId xmlns:a16="http://schemas.microsoft.com/office/drawing/2014/main" id="{2F520A07-BB8A-B97F-69A6-7AE17047DAAF}"/>
              </a:ext>
            </a:extLst>
          </p:cNvPr>
          <p:cNvPicPr>
            <a:picLocks noChangeAspect="1"/>
          </p:cNvPicPr>
          <p:nvPr/>
        </p:nvPicPr>
        <p:blipFill>
          <a:blip r:embed="rId2"/>
          <a:stretch>
            <a:fillRect/>
          </a:stretch>
        </p:blipFill>
        <p:spPr>
          <a:xfrm>
            <a:off x="2005263" y="290286"/>
            <a:ext cx="7772400" cy="6224813"/>
          </a:xfrm>
          <a:prstGeom prst="rect">
            <a:avLst/>
          </a:prstGeom>
        </p:spPr>
      </p:pic>
    </p:spTree>
    <p:extLst>
      <p:ext uri="{BB962C8B-B14F-4D97-AF65-F5344CB8AC3E}">
        <p14:creationId xmlns:p14="http://schemas.microsoft.com/office/powerpoint/2010/main" val="35309166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9716" y="568940"/>
            <a:ext cx="11029950" cy="596183"/>
          </a:xfrm>
        </p:spPr>
        <p:txBody>
          <a:bodyPr/>
          <a:lstStyle/>
          <a:p>
            <a:pPr algn="ctr"/>
            <a:r>
              <a:rPr lang="en-US" altLang="en-US" b="1" dirty="0">
                <a:solidFill>
                  <a:srgbClr val="0070C0"/>
                </a:solidFill>
                <a:latin typeface="Book Antiqua" pitchFamily="18" charset="0"/>
              </a:rPr>
              <a:t>references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445678" y="1255149"/>
            <a:ext cx="10920412" cy="2024063"/>
          </a:xfrm>
        </p:spPr>
        <p:txBody>
          <a:bodyPr>
            <a:noAutofit/>
          </a:bodyPr>
          <a:lstStyle/>
          <a:p>
            <a:pPr marL="342900" indent="-342900" defTabSz="914400">
              <a:lnSpc>
                <a:spcPct val="80000"/>
              </a:lnSpc>
              <a:spcAft>
                <a:spcPts val="0"/>
              </a:spcAft>
              <a:buClr>
                <a:schemeClr val="tx2"/>
              </a:buClr>
              <a:buSzTx/>
              <a:buFont typeface="Wingdings" pitchFamily="2" charset="2"/>
              <a:buChar char="q"/>
              <a:defRPr/>
            </a:pPr>
            <a:r>
              <a:rPr lang="en-US" sz="2000" dirty="0" err="1"/>
              <a:t>Booch</a:t>
            </a:r>
            <a:r>
              <a:rPr lang="en-US" sz="2000" dirty="0"/>
              <a:t>, G., Rumbaugh, J. &amp; Jacobson, I. (2005). </a:t>
            </a:r>
            <a:r>
              <a:rPr lang="en-US" sz="2000" i="1" dirty="0"/>
              <a:t>The unified modeling language user guide</a:t>
            </a:r>
            <a:r>
              <a:rPr lang="en-US" sz="2000" dirty="0"/>
              <a:t>. Pearson Education India.</a:t>
            </a:r>
          </a:p>
          <a:p>
            <a:pPr marL="342900" lvl="0" indent="-342900" defTabSz="914400">
              <a:lnSpc>
                <a:spcPct val="80000"/>
              </a:lnSpc>
              <a:spcAft>
                <a:spcPts val="0"/>
              </a:spcAft>
              <a:buClr>
                <a:schemeClr val="tx2"/>
              </a:buClr>
              <a:buSzTx/>
              <a:buFont typeface="Wingdings" pitchFamily="2" charset="2"/>
              <a:buChar char="q"/>
              <a:defRPr/>
            </a:pPr>
            <a:endParaRPr lang="en-US" sz="2000" dirty="0">
              <a:solidFill>
                <a:schemeClr val="tx1"/>
              </a:solidFill>
              <a:latin typeface="+mj-lt"/>
            </a:endParaRPr>
          </a:p>
        </p:txBody>
      </p:sp>
      <p:sp>
        <p:nvSpPr>
          <p:cNvPr id="5" name="Slide Number Placeholder 3">
            <a:extLst>
              <a:ext uri="{FF2B5EF4-FFF2-40B4-BE49-F238E27FC236}">
                <a16:creationId xmlns:a16="http://schemas.microsoft.com/office/drawing/2014/main" id="{2B0835D3-F935-4C37-B394-BA08E152F4D1}"/>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19</a:t>
            </a:fld>
            <a:r>
              <a:rPr lang="en-US" sz="1400" b="1" dirty="0"/>
              <a:t> </a:t>
            </a:r>
          </a:p>
        </p:txBody>
      </p:sp>
      <p:sp>
        <p:nvSpPr>
          <p:cNvPr id="7" name="Content Placeholder 2">
            <a:extLst>
              <a:ext uri="{FF2B5EF4-FFF2-40B4-BE49-F238E27FC236}">
                <a16:creationId xmlns:a16="http://schemas.microsoft.com/office/drawing/2014/main" id="{0FFF6B16-0B77-45FC-B604-FBF30D4EB2D8}"/>
              </a:ext>
            </a:extLst>
          </p:cNvPr>
          <p:cNvSpPr>
            <a:spLocks noGrp="1"/>
          </p:cNvSpPr>
          <p:nvPr/>
        </p:nvSpPr>
        <p:spPr>
          <a:xfrm>
            <a:off x="-137653" y="376259"/>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3" name="Rectangle 2" descr="M. Mhahudul Hasan">
            <a:extLst>
              <a:ext uri="{FF2B5EF4-FFF2-40B4-BE49-F238E27FC236}">
                <a16:creationId xmlns:a16="http://schemas.microsoft.com/office/drawing/2014/main" id="{D8D550C5-EB22-4339-8C19-5B67051F1789}"/>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9" name="Rectangle 8" descr="M. Mhahudul Hasan">
            <a:extLst>
              <a:ext uri="{FF2B5EF4-FFF2-40B4-BE49-F238E27FC236}">
                <a16:creationId xmlns:a16="http://schemas.microsoft.com/office/drawing/2014/main" id="{59505159-2B8F-48FD-95A4-5EE9BABDF3FB}"/>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Use Case Diagram</a:t>
            </a:r>
          </a:p>
        </p:txBody>
      </p:sp>
      <p:sp>
        <p:nvSpPr>
          <p:cNvPr id="11" name="Rectangle 10" descr="M. Mhahudul Hasan">
            <a:extLst>
              <a:ext uri="{FF2B5EF4-FFF2-40B4-BE49-F238E27FC236}">
                <a16:creationId xmlns:a16="http://schemas.microsoft.com/office/drawing/2014/main" id="{DDE2FDC1-2C28-49A4-914D-C9DC8AFAFDED}"/>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Md.Al-Amin</a:t>
            </a:r>
          </a:p>
        </p:txBody>
      </p:sp>
    </p:spTree>
    <p:extLst>
      <p:ext uri="{BB962C8B-B14F-4D97-AF65-F5344CB8AC3E}">
        <p14:creationId xmlns:p14="http://schemas.microsoft.com/office/powerpoint/2010/main" val="2967982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ividend">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494</TotalTime>
  <Words>1851</Words>
  <Application>Microsoft Macintosh PowerPoint</Application>
  <PresentationFormat>Widescreen</PresentationFormat>
  <Paragraphs>218</Paragraphs>
  <Slides>19</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19</vt:i4>
      </vt:variant>
    </vt:vector>
  </HeadingPairs>
  <TitlesOfParts>
    <vt:vector size="30" baseType="lpstr">
      <vt:lpstr>Anthropic Sans</vt:lpstr>
      <vt:lpstr>Arial</vt:lpstr>
      <vt:lpstr>Bell MT</vt:lpstr>
      <vt:lpstr>Book Antiqua</vt:lpstr>
      <vt:lpstr>Calibri</vt:lpstr>
      <vt:lpstr>Gill Sans MT</vt:lpstr>
      <vt:lpstr>Monotype Sorts</vt:lpstr>
      <vt:lpstr>Times New Roman</vt:lpstr>
      <vt:lpstr>Wingdings</vt:lpstr>
      <vt:lpstr>Wingdings 2</vt:lpstr>
      <vt:lpstr>Dividend</vt:lpstr>
      <vt:lpstr>PowerPoint Presentation</vt:lpstr>
      <vt:lpstr>Usage  of  Use  case  diagram?</vt:lpstr>
      <vt:lpstr>   USE  Case</vt:lpstr>
      <vt:lpstr>actor</vt:lpstr>
      <vt:lpstr>Use cases  and  actor</vt:lpstr>
      <vt:lpstr>Example  of  Use cases  diagram</vt:lpstr>
      <vt:lpstr>Relationships  between  Use cases</vt:lpstr>
      <vt:lpstr>Relationships  between  Use cases</vt:lpstr>
      <vt:lpstr>Relationships  between  Use cases</vt:lpstr>
      <vt:lpstr>Relationships  between  Use cases</vt:lpstr>
      <vt:lpstr>    Use cases  description</vt:lpstr>
      <vt:lpstr> Use cases  example –  atm  money   withdraw</vt:lpstr>
      <vt:lpstr>Use cases  example –  atm  money   withdraw</vt:lpstr>
      <vt:lpstr>Use cases  example –  atm  money   withdraw</vt:lpstr>
      <vt:lpstr>Use cases  example –  atm  money   withdraw</vt:lpstr>
      <vt:lpstr>Identify  Use cases</vt:lpstr>
      <vt:lpstr>PowerPoint Presentation</vt:lpstr>
      <vt:lpstr>PowerPoint Presentation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OOAD - Ch.02 - Use Case Diagram</dc:title>
  <dc:subject>Object Oriented Analysis and Design (OOAD)</dc:subject>
  <dc:creator>M. Mahmudul Hasan</dc:creator>
  <cp:lastModifiedBy>Md Al Amin</cp:lastModifiedBy>
  <cp:revision>73</cp:revision>
  <cp:lastPrinted>2021-01-31T08:15:36Z</cp:lastPrinted>
  <dcterms:created xsi:type="dcterms:W3CDTF">2019-05-13T08:37:20Z</dcterms:created>
  <dcterms:modified xsi:type="dcterms:W3CDTF">2026-06-13T21:15:57Z</dcterms:modified>
</cp:coreProperties>
</file>